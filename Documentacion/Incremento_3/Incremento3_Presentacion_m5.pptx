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AA4Ky4XYpPkDoFSHxMMTMCVFC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E2C487-CE94-4A29-99E3-B4C49B5C0041}">
  <a:tblStyle styleId="{DBE2C487-CE94-4A29-99E3-B4C49B5C00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2A75EB1-DCE6-4159-8DD7-B32CED4F930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/>
        </p:nvSpPr>
        <p:spPr>
          <a:xfrm>
            <a:off x="822960" y="1371600"/>
            <a:ext cx="10091225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</a:t>
            </a:r>
            <a:endParaRPr i="0" sz="6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Adquisiciones e Inventario</a:t>
            </a:r>
            <a:endParaRPr i="0" sz="6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822960" y="2880360"/>
            <a:ext cx="10543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00C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Constructora M5 SpA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59" y="3520440"/>
            <a:ext cx="3198056" cy="457200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647113" y="3520440"/>
            <a:ext cx="346476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PRESENTACIÓN — INCREMENTO 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822959" y="4656173"/>
            <a:ext cx="1737600" cy="16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C8F4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 i="1" sz="1200">
              <a:solidFill>
                <a:srgbClr val="00C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C8F4"/>
                </a:solidFill>
                <a:latin typeface="Calibri"/>
                <a:ea typeface="Calibri"/>
                <a:cs typeface="Calibri"/>
                <a:sym typeface="Calibri"/>
              </a:rPr>
              <a:t>Josué Barrera </a:t>
            </a:r>
            <a:endParaRPr i="1" sz="1200">
              <a:solidFill>
                <a:srgbClr val="00C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C8F4"/>
                </a:solidFill>
                <a:latin typeface="Calibri"/>
                <a:ea typeface="Calibri"/>
                <a:cs typeface="Calibri"/>
                <a:sym typeface="Calibri"/>
              </a:rPr>
              <a:t>Alexander Hanke</a:t>
            </a:r>
            <a:endParaRPr i="1" sz="1200">
              <a:solidFill>
                <a:srgbClr val="00C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C8F4"/>
                </a:solidFill>
                <a:latin typeface="Calibri"/>
                <a:ea typeface="Calibri"/>
                <a:cs typeface="Calibri"/>
                <a:sym typeface="Calibri"/>
              </a:rPr>
              <a:t>Catalina Lino</a:t>
            </a:r>
            <a:endParaRPr i="1" sz="1200">
              <a:solidFill>
                <a:srgbClr val="00C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C8F4"/>
                </a:solidFill>
                <a:latin typeface="Calibri"/>
                <a:ea typeface="Calibri"/>
                <a:cs typeface="Calibri"/>
                <a:sym typeface="Calibri"/>
              </a:rPr>
              <a:t>Cristóbal López</a:t>
            </a:r>
            <a:endParaRPr i="1" sz="1200">
              <a:solidFill>
                <a:srgbClr val="00C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C8F4"/>
                </a:solidFill>
                <a:latin typeface="Calibri"/>
                <a:ea typeface="Calibri"/>
                <a:cs typeface="Calibri"/>
                <a:sym typeface="Calibri"/>
              </a:rPr>
              <a:t>Matías Medina</a:t>
            </a:r>
            <a:endParaRPr i="1" sz="1200">
              <a:solidFill>
                <a:srgbClr val="00C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C8F4"/>
                </a:solidFill>
                <a:latin typeface="Calibri"/>
                <a:ea typeface="Calibri"/>
                <a:cs typeface="Calibri"/>
                <a:sym typeface="Calibri"/>
              </a:rPr>
              <a:t>Rocío Olguín</a:t>
            </a:r>
            <a:endParaRPr i="1" sz="1200">
              <a:solidFill>
                <a:srgbClr val="00C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00C8F4"/>
                </a:solidFill>
                <a:latin typeface="Calibri"/>
                <a:ea typeface="Calibri"/>
                <a:cs typeface="Calibri"/>
                <a:sym typeface="Calibri"/>
              </a:rPr>
              <a:t>Roberto Seguel</a:t>
            </a:r>
            <a:endParaRPr i="1" sz="1200">
              <a:solidFill>
                <a:srgbClr val="00C8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8081" y="2985960"/>
            <a:ext cx="4877911" cy="302328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2518059" y="4720523"/>
            <a:ext cx="27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C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C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Paulo Luis Francisco Quinsacara Jofré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213768" y="4720523"/>
            <a:ext cx="2029329" cy="412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C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Fecha: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C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r>
              <a:rPr lang="en-US" sz="1200">
                <a:solidFill>
                  <a:srgbClr val="00C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-10-2026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Aharoni"/>
              <a:buNone/>
            </a:pPr>
            <a:r>
              <a:rPr b="1" lang="en-US" sz="1200">
                <a:solidFill>
                  <a:srgbClr val="FF4200"/>
                </a:solidFill>
                <a:latin typeface="Aharoni"/>
                <a:ea typeface="Aharoni"/>
                <a:cs typeface="Aharoni"/>
                <a:sym typeface="Aharoni"/>
              </a:rPr>
              <a:t>AGENDA</a:t>
            </a:r>
            <a:endParaRPr sz="12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haroni"/>
              <a:buNone/>
            </a:pPr>
            <a:r>
              <a:rPr b="1" lang="en-US" sz="44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Contenido de la presentación</a:t>
            </a:r>
            <a:endParaRPr sz="44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179222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548640" y="17922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143000" y="174650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haroni"/>
              <a:buNone/>
            </a:pPr>
            <a:r>
              <a:rPr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Recapitulación del Incremento 1 y 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217920" y="179222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6217920" y="17922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6812280" y="174650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haroni"/>
              <a:buNone/>
            </a:pPr>
            <a:r>
              <a:rPr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Definición y alcance del Incremento 3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284378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548640" y="28437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1143000" y="279806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haroni"/>
              <a:buNone/>
            </a:pPr>
            <a:r>
              <a:rPr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 y casos de uso del incremento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217920" y="284378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217920" y="28437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6812280" y="279806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haroni"/>
              <a:buNone/>
            </a:pPr>
            <a:r>
              <a:rPr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Vistas arquitectónicas: Desarrollo, Física, Lógica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143000" y="384962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haroni"/>
              <a:buNone/>
            </a:pPr>
            <a:r>
              <a:rPr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Diagramas de secuencia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17920" y="389534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6217920" y="38953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812280" y="384962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haroni"/>
              <a:buNone/>
            </a:pPr>
            <a:r>
              <a:rPr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Pruebas realizadas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494690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548640" y="49469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1143000" y="490118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haroni"/>
              <a:buNone/>
            </a:pPr>
            <a:r>
              <a:rPr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Retrospectiva y métricas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17920" y="494690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217920" y="49469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812280" y="490118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haroni"/>
              <a:buNone/>
            </a:pPr>
            <a:r>
              <a:rPr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Conclusiones y próximos pasos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548640" y="5769864"/>
            <a:ext cx="457200" cy="457200"/>
          </a:xfrm>
          <a:prstGeom prst="ellipse">
            <a:avLst/>
          </a:prstGeom>
          <a:solidFill>
            <a:srgbClr val="FF4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642560" y="5821100"/>
            <a:ext cx="2693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143000" y="5786366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Aharoni"/>
              <a:buNone/>
            </a:pPr>
            <a:r>
              <a:rPr b="1" lang="en-US" sz="12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548640" y="658368"/>
            <a:ext cx="1109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haroni"/>
              <a:buNone/>
            </a:pPr>
            <a:r>
              <a:rPr b="1" lang="en-US" sz="42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Recapitulación Incrementos </a:t>
            </a:r>
            <a:r>
              <a:rPr b="1" lang="en-US" sz="5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1 y 2</a:t>
            </a:r>
            <a:endParaRPr sz="58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1166925" y="3003601"/>
            <a:ext cx="10157100" cy="24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Módulos base construidos: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Proveedores (registro, RUT) — completo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Proyectos e Itemizado — completo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Solicitud de Materiales — completo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Adquisiciones y Cotizaciones — completo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Generación de OCs — completo</a:t>
            </a:r>
            <a:endParaRPr sz="13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Inventario y Bodega — completo</a:t>
            </a:r>
            <a:endParaRPr sz="13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Facturación y Contabilidad — completo</a:t>
            </a:r>
            <a:endParaRPr sz="13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1804578" y="1931746"/>
            <a:ext cx="7605871" cy="753033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44</a:t>
            </a:r>
            <a:r>
              <a:rPr b="1" lang="en-US" sz="24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 RF entregados  ·  </a:t>
            </a:r>
            <a:r>
              <a:rPr b="1" lang="en-US" sz="32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73</a:t>
            </a:r>
            <a:r>
              <a:rPr b="1" lang="en-US" sz="32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,</a:t>
            </a:r>
            <a:r>
              <a:rPr b="1" lang="en-US" sz="32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3</a:t>
            </a:r>
            <a:r>
              <a:rPr b="1" lang="en-US" sz="32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 %</a:t>
            </a:r>
            <a:r>
              <a:rPr b="1" lang="en-US" sz="24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 del proyecto</a:t>
            </a:r>
            <a:endParaRPr sz="2400">
              <a:solidFill>
                <a:srgbClr val="00CA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Aharoni"/>
              <a:buNone/>
            </a:pPr>
            <a:r>
              <a:rPr b="1" lang="en-US" sz="12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DEFINICIÓN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haroni"/>
              <a:buNone/>
            </a:pPr>
            <a:r>
              <a:rPr b="1" lang="en-US" sz="2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Incremento </a:t>
            </a:r>
            <a:r>
              <a:rPr b="1" lang="en-US" sz="40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3</a:t>
            </a:r>
            <a:r>
              <a:rPr b="1" lang="en-US" sz="2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: "Cierre del Circuito de Adquisiciones"</a:t>
            </a:r>
            <a:endParaRPr sz="28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5018655" y="3793242"/>
            <a:ext cx="5665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implementaron 2 nuevos módulos en su totalidad el 8 de Reportes, Métricas y Trazabilidad y el 9 de Seguridad, Auditoría y Gestión Documental</a:t>
            </a:r>
            <a:endParaRPr i="1" sz="13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t/>
            </a:r>
            <a:endParaRPr i="1" sz="13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029286" y="1579685"/>
            <a:ext cx="3657600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1029286" y="1742635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5600"/>
              <a:buFont typeface="Calibri"/>
              <a:buNone/>
            </a:pPr>
            <a:r>
              <a:rPr b="1" lang="en-US" sz="56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5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082040" y="2365835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 nuevos en este incremento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055663" y="2981179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</a:t>
            </a:r>
            <a:r>
              <a:rPr b="1" lang="en-US" sz="3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60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055663" y="3550803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 totales acumulados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1082040" y="4034966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95,0</a:t>
            </a:r>
            <a:r>
              <a:rPr b="1" lang="en-US" sz="3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%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1134794" y="4594509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avance acumulado del proyecto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" name="Google Shape;87;p4"/>
          <p:cNvGraphicFramePr/>
          <p:nvPr/>
        </p:nvGraphicFramePr>
        <p:xfrm>
          <a:off x="5820156" y="18640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{DBE2C487-CE94-4A29-99E3-B4C49B5C0041}</a:tableStyleId>
              </a:tblPr>
              <a:tblGrid>
                <a:gridCol w="796100"/>
                <a:gridCol w="549025"/>
                <a:gridCol w="919625"/>
                <a:gridCol w="919625"/>
                <a:gridCol w="878450"/>
              </a:tblGrid>
              <a:tr h="2913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N° 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21,7 %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21,7 %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Entregado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</a:tr>
              <a:tr h="3014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N° 2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51,7 %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73,3 %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Entregado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</a:tr>
              <a:tr h="482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N° 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00C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00C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21,7 %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00C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95,0 %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00C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 entrega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00CAF8"/>
                    </a:solidFill>
                  </a:tcPr>
                </a:tc>
              </a:tr>
              <a:tr h="482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N° 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5,0 %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100,0 %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Planificado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025" marL="73025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Aharoni"/>
              <a:buNone/>
            </a:pPr>
            <a:r>
              <a:rPr b="1" lang="en-US" sz="12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haroni"/>
              <a:buNone/>
            </a:pPr>
            <a:r>
              <a:rPr b="1" lang="en-US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Algunos RF destacados del incremento </a:t>
            </a: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5" name="Google Shape;95;p5"/>
          <p:cNvGraphicFramePr/>
          <p:nvPr/>
        </p:nvGraphicFramePr>
        <p:xfrm>
          <a:off x="1036767" y="19834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{82A75EB1-DCE6-4159-8DD7-B32CED4F9300}</a:tableStyleId>
              </a:tblPr>
              <a:tblGrid>
                <a:gridCol w="730925"/>
                <a:gridCol w="7529775"/>
                <a:gridCol w="1724200"/>
              </a:tblGrid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Módulo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RF-43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generar,para los roles Jefe de Proyecto, Adquisiciones y Administración, un reporte específico de "Mermas y Pérdidas", filtrable por proyecto y rango de fechas, mostrando la valorización económica del material perdido.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Módulo 8: Reportes, Métricas y Trazabilidad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RF-57</a:t>
                      </a:r>
                      <a:endParaRPr b="1"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al rol Administración configurar, desde el Módulo de Seguridad y Administración, los parámetros generales del sistema: el margen de tolerancia para la validación de facturas respecto a la OC asociada, el nivel de stock mínimo por defecto utilizado en las alertas de materiales críticos, el umbral de tamaño de archivo utilizado para advertir sobre cargas pesadas, y el catálogo de tipos de documento disponibles para el almacenamiento de archivos de proyecto,  pudiendo agregar, editar o deshabilitar tipos.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Módulo 9: Seguridad, Auditoría y Gestión Documental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5"/>
          <p:cNvSpPr txBox="1"/>
          <p:nvPr/>
        </p:nvSpPr>
        <p:spPr>
          <a:xfrm>
            <a:off x="1046579" y="461924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Catálogo completo: 60 RF documentados en el proyecto (ver Documento 0).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Aharoni"/>
              <a:buNone/>
            </a:pPr>
            <a:r>
              <a:rPr b="1" lang="en-US" sz="1200">
                <a:solidFill>
                  <a:srgbClr val="FF4200"/>
                </a:solidFill>
                <a:latin typeface="Aharoni"/>
                <a:ea typeface="Aharoni"/>
                <a:cs typeface="Aharoni"/>
                <a:sym typeface="Aharoni"/>
              </a:rPr>
              <a:t>CASOS DE USO</a:t>
            </a:r>
            <a:endParaRPr sz="12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haroni"/>
              <a:buNone/>
            </a:pPr>
            <a:r>
              <a:rPr b="1" lang="en-US" sz="2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CU asociados a los RF destacados</a:t>
            </a:r>
            <a:endParaRPr sz="28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6"/>
          <p:cNvGraphicFramePr/>
          <p:nvPr/>
        </p:nvGraphicFramePr>
        <p:xfrm>
          <a:off x="548640" y="16681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{DBE2C487-CE94-4A29-99E3-B4C49B5C0041}</a:tableStyleId>
              </a:tblPr>
              <a:tblGrid>
                <a:gridCol w="1302750"/>
                <a:gridCol w="4010450"/>
              </a:tblGrid>
              <a:tr h="246925">
                <a:tc gridSpan="2"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CU-44  — Consultando reporte de Mermas y Pérdidas  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A3838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Consultando reporte de Mermas y Pérdidas.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150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Actores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Jefe de Proyecto, Adquisiciones o Administración.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2088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RF-43.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349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Resumen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actor consulta un reporte específico de "Mermas y Pérdidas", filtrable por proyecto y rango de fechas, mostrando la valorización económica del material perdido.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150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Baja.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Precondiciones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debe estar autenticado con alguno de los roles indicados.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4729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Flujo Principal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actor accede al módulo de Reportes y selecciona "Mermas y Pérdidas". El actor define los filtros de proyecto y rango de fechas [Excepción 1]. El sistema genera y despliega el reporte con la valorización económica del material perdido en el periodo filtrado.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Excepciones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Excepción 1: No existen mermas o pérdidas registradas para los filtros seleccionados. El sistema muestra el reporte vacío con un mensaje indicativo.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2222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Poscondiciones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actor visualiza el reporte de mermas y pérdidas filtrado.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1897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Dependencias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CU-33. 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</a:tbl>
          </a:graphicData>
        </a:graphic>
      </p:graphicFrame>
      <p:graphicFrame>
        <p:nvGraphicFramePr>
          <p:cNvPr id="111" name="Google Shape;111;p6"/>
          <p:cNvGraphicFramePr/>
          <p:nvPr/>
        </p:nvGraphicFramePr>
        <p:xfrm>
          <a:off x="6094476" y="16681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{DBE2C487-CE94-4A29-99E3-B4C49B5C0041}</a:tableStyleId>
              </a:tblPr>
              <a:tblGrid>
                <a:gridCol w="1383100"/>
                <a:gridCol w="4257800"/>
              </a:tblGrid>
              <a:tr h="192750">
                <a:tc gridSpan="2"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CU-60  —  Configurando parámetros generales del sistema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 hMerge="1"/>
              </a:tr>
              <a:tr h="1927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Configurando parámetros generales del sistema.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1905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Actores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Administración.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1927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RF-57.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3313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Resumen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de Administración configura, desde el módulo de Seguridad y Administración, los parámetros generales del sistema: margen de tolerancia para validación de facturas, nivel de stock mínimo por defecto, umbral de tamaño de archivo, y el catálogo de tipos de documento disponibles para el almacenamiento de archivos de proyecto.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2000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Baja.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2405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Precondiciones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debe estar autenticado con rol Administración.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102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Flujo</a:t>
                      </a:r>
                      <a:r>
                        <a:rPr lang="en-US" sz="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Principal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actor accede al módulo de Seguridad y Administración y selecciona "Parámetros Generales". El sistema despliega los campos configurables: margen de tolerancia para la validación de facturas respecto a la OC asociada, nivel de stock mínimo por defecto para alertas de materiales críticos, umbral de tamaño de archivo para advertencias de carga, y el catálogo de tipos de documento disponible para la carga de archivos de proyecto [Excepción 1]. El actor modifica los valores necesarios, o agrega, edita o deshabilita un tipo de documento del catálogo [Excepción 2]. El actor confirma. El sistema almacena los nuevos parámetros y el catálogo actualizado, aplicándolos a las validaciones y formularios correspondientes.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5289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Excepciones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Excepción 1: El actor ingresa un valor no numérico o fuera de rango válido para algún parámetro. El sistema bloquea el guardado y marca el campo inválido.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Excepción 2: El actor intenta deshabilitar un tipo de documento que ya tiene archivos asociados. El sistema permite la deshabilitación sin afectar los archivos ya clasificados con ese tipo. 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3274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Poscondiciones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parámetros generales del sistema y el catálogo de tipos de documento quedan actualizados y disponibles para las validaciones y formularios que dependen de ellos. 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  <a:tr h="135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Dependencias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 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200" marB="23200" marR="34800" marL="348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/>
        </p:nvSpPr>
        <p:spPr>
          <a:xfrm>
            <a:off x="1390738" y="2793255"/>
            <a:ext cx="10725912" cy="10972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Vistas arquitectónicas: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603930" y="4068016"/>
            <a:ext cx="107259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CA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Desarrollo, Física, Lógica</a:t>
            </a:r>
            <a:endParaRPr sz="3200">
              <a:solidFill>
                <a:srgbClr val="00CAF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VISTA DE DESARROLLO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Componentes del sistema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48640" y="1554480"/>
            <a:ext cx="11091672" cy="3977774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548640" y="32461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4200"/>
                </a:solidFill>
                <a:latin typeface="Calibri"/>
                <a:ea typeface="Calibri"/>
                <a:cs typeface="Calibri"/>
                <a:sym typeface="Calibri"/>
              </a:rPr>
              <a:t>[ AQUÍ VA: Diagrama de Componentes 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548640" y="367588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Actualizado con los componentes nuevos del Incremento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525" y="1591055"/>
            <a:ext cx="11055901" cy="394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VISTA FÍSICA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Despliegue del sistema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899683" y="1438492"/>
            <a:ext cx="7811387" cy="4761139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548640" y="32461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4200"/>
                </a:solidFill>
                <a:latin typeface="Calibri"/>
                <a:ea typeface="Calibri"/>
                <a:cs typeface="Calibri"/>
                <a:sym typeface="Calibri"/>
              </a:rPr>
              <a:t>[ AQUÍ VA: Diagrama de Despliegue 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548640" y="367588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Infraestructura sobre la que corre el sistema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4165" y="1538531"/>
            <a:ext cx="7537667" cy="4515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/>
        </p:nvSpPr>
        <p:spPr>
          <a:xfrm>
            <a:off x="243990" y="152535"/>
            <a:ext cx="1109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VISTA LÓGICA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274353" y="270993"/>
            <a:ext cx="1109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haroni"/>
              <a:buNone/>
            </a:pPr>
            <a:r>
              <a:rPr b="1" lang="en-US" sz="2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Diagrama Modelo Físico</a:t>
            </a:r>
            <a:endParaRPr sz="28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2100975" y="1051200"/>
            <a:ext cx="7987500" cy="5587500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548640" y="32461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4200"/>
                </a:solidFill>
                <a:latin typeface="Calibri"/>
                <a:ea typeface="Calibri"/>
                <a:cs typeface="Calibri"/>
                <a:sym typeface="Calibri"/>
              </a:rPr>
              <a:t>[ AQUÍ VA: Diagrama de Clases 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243990" y="3740438"/>
            <a:ext cx="1109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Clases nuevas del incremento resaltadas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274340" y="6590745"/>
            <a:ext cx="1054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0310" y="131023"/>
            <a:ext cx="1484642" cy="92016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/>
          <p:nvPr/>
        </p:nvSpPr>
        <p:spPr>
          <a:xfrm flipH="1">
            <a:off x="9352353" y="2115821"/>
            <a:ext cx="644100" cy="420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RF-53</a:t>
            </a:r>
            <a:endParaRPr/>
          </a:p>
        </p:txBody>
      </p:sp>
      <p:pic>
        <p:nvPicPr>
          <p:cNvPr id="162" name="Google Shape;162;p10" title="WhatsApp Image 2026-10-04 at 02.10.23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5537" y="1171875"/>
            <a:ext cx="7780925" cy="5373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/>
          <p:nvPr/>
        </p:nvSpPr>
        <p:spPr>
          <a:xfrm flipH="1">
            <a:off x="2981137" y="4296763"/>
            <a:ext cx="644100" cy="420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RF-43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0"/>
          <p:cNvSpPr/>
          <p:nvPr/>
        </p:nvSpPr>
        <p:spPr>
          <a:xfrm flipH="1">
            <a:off x="7067925" y="3540975"/>
            <a:ext cx="7101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RF-57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/>
        </p:nvSpPr>
        <p:spPr>
          <a:xfrm>
            <a:off x="731520" y="2686929"/>
            <a:ext cx="107259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haroni"/>
              <a:buNone/>
            </a:pPr>
            <a:r>
              <a:rPr b="1" lang="en-US" sz="66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Diagramas de Secuencia</a:t>
            </a:r>
            <a:endParaRPr sz="66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731520" y="3749040"/>
            <a:ext cx="107259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4"/>
              </a:buClr>
              <a:buSzPts val="1600"/>
              <a:buFont typeface="Aharoni"/>
              <a:buNone/>
            </a:pPr>
            <a:r>
              <a:rPr lang="en-US" sz="1600">
                <a:solidFill>
                  <a:srgbClr val="00C8F4"/>
                </a:solidFill>
                <a:latin typeface="Aharoni"/>
                <a:ea typeface="Aharoni"/>
                <a:cs typeface="Aharoni"/>
                <a:sym typeface="Aharoni"/>
              </a:rPr>
              <a:t>Vista de Proceso — flujo principal de los casos de uso clave del incremento</a:t>
            </a:r>
            <a:endParaRPr sz="16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SECUENCIA — CU-44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Consultando reporte de Mermas y Pérdidas</a:t>
            </a: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48640" y="1554480"/>
            <a:ext cx="11091672" cy="4206240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1554475"/>
            <a:ext cx="11091650" cy="420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42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SECUENCIA — CU-60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haroni"/>
              <a:buNone/>
            </a:pPr>
            <a:r>
              <a:rPr b="1" lang="en-US" sz="2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Configurando parámetros generales del sistema</a:t>
            </a:r>
            <a:endParaRPr b="1" sz="2800">
              <a:solidFill>
                <a:srgbClr val="262626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50200" y="1285925"/>
            <a:ext cx="11181600" cy="5160600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268948"/>
            <a:ext cx="1484642" cy="92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100" y="1347189"/>
            <a:ext cx="11091649" cy="50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Aharoni"/>
              <a:buNone/>
            </a:pPr>
            <a:r>
              <a:rPr b="1" lang="en-US" sz="1200">
                <a:solidFill>
                  <a:srgbClr val="FF4200"/>
                </a:solidFill>
                <a:latin typeface="Aharoni"/>
                <a:ea typeface="Aharoni"/>
                <a:cs typeface="Aharoni"/>
                <a:sym typeface="Aharoni"/>
              </a:rPr>
              <a:t>CALIDAD</a:t>
            </a:r>
            <a:endParaRPr sz="12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haroni"/>
              <a:buNone/>
            </a:pPr>
            <a:r>
              <a:rPr b="1" lang="en-US" sz="2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Pruebas realizadas al sistema</a:t>
            </a:r>
            <a:endParaRPr sz="28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204" name="Google Shape;204;p14"/>
          <p:cNvGraphicFramePr/>
          <p:nvPr/>
        </p:nvGraphicFramePr>
        <p:xfrm>
          <a:off x="548640" y="171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{82A75EB1-DCE6-4159-8DD7-B32CED4F9300}</a:tableStyleId>
              </a:tblPr>
              <a:tblGrid>
                <a:gridCol w="2772925"/>
                <a:gridCol w="2772925"/>
                <a:gridCol w="2772925"/>
                <a:gridCol w="2772925"/>
              </a:tblGrid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haron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Iteración</a:t>
                      </a:r>
                      <a:endParaRPr sz="18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haron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CU probados</a:t>
                      </a:r>
                      <a:endParaRPr sz="18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haron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Correctos</a:t>
                      </a:r>
                      <a:endParaRPr sz="18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haron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Erróneos</a:t>
                      </a:r>
                      <a:endParaRPr sz="18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800"/>
                        <a:buFont typeface="Aharoni"/>
                        <a:buNone/>
                      </a:pPr>
                      <a:r>
                        <a:rPr lang="en-US" sz="1800" u="none" cap="none" strike="noStrike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Regresión Incremento 1 y 2</a:t>
                      </a:r>
                      <a:endParaRPr sz="18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44</a:t>
                      </a:r>
                      <a:endParaRPr sz="40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44</a:t>
                      </a:r>
                      <a:endParaRPr sz="40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 u="none" cap="none" strike="noStrike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800"/>
                        <a:buFont typeface="Aharoni"/>
                        <a:buNone/>
                      </a:pPr>
                      <a:r>
                        <a:rPr lang="en-US" sz="1800" u="none" cap="none" strike="noStrike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Iteración 1</a:t>
                      </a:r>
                      <a:endParaRPr sz="18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13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10</a:t>
                      </a:r>
                      <a:endParaRPr sz="40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800"/>
                        <a:buFont typeface="Aharoni"/>
                        <a:buNone/>
                      </a:pPr>
                      <a:r>
                        <a:rPr lang="en-US" sz="1800" u="none" cap="none" strike="noStrike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Iteración 2</a:t>
                      </a:r>
                      <a:endParaRPr sz="18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13</a:t>
                      </a:r>
                      <a:endParaRPr sz="40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12</a:t>
                      </a:r>
                      <a:endParaRPr sz="40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1</a:t>
                      </a:r>
                      <a:endParaRPr sz="40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800"/>
                        <a:buFont typeface="Aharoni"/>
                        <a:buNone/>
                      </a:pPr>
                      <a:r>
                        <a:rPr lang="en-US" sz="1800" u="none" cap="none" strike="noStrike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Iteración 3</a:t>
                      </a:r>
                      <a:endParaRPr sz="18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13</a:t>
                      </a:r>
                      <a:endParaRPr sz="40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13</a:t>
                      </a:r>
                      <a:endParaRPr sz="4000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2800"/>
                        <a:buFont typeface="Aharoni"/>
                        <a:buNone/>
                      </a:pPr>
                      <a:r>
                        <a:rPr lang="en-US" sz="2800" u="none" cap="none" strike="noStrike">
                          <a:solidFill>
                            <a:srgbClr val="1A1A1A"/>
                          </a:solidFill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14"/>
          <p:cNvSpPr txBox="1"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Cobertura respaldada por 335 pruebas unitarias automatizadas sobre PostgreSQL 16.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Aharoni"/>
              <a:buNone/>
            </a:pPr>
            <a:r>
              <a:rPr b="1" lang="en-US" sz="1200">
                <a:solidFill>
                  <a:srgbClr val="FF4200"/>
                </a:solidFill>
                <a:latin typeface="Aharoni"/>
                <a:ea typeface="Aharoni"/>
                <a:cs typeface="Aharoni"/>
                <a:sym typeface="Aharoni"/>
              </a:rPr>
              <a:t>RETROSPECTIVA</a:t>
            </a:r>
            <a:endParaRPr sz="12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haroni"/>
              <a:buNone/>
            </a:pPr>
            <a:r>
              <a:rPr b="1" lang="en-US" sz="2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Métricas del incremento</a:t>
            </a:r>
            <a:endParaRPr sz="28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548640" y="1554480"/>
            <a:ext cx="5394960" cy="1920240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6172200" y="1554480"/>
            <a:ext cx="5394960" cy="1920240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548640" y="3703320"/>
            <a:ext cx="5394960" cy="1920240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6172200" y="3703320"/>
            <a:ext cx="5394960" cy="1920240"/>
          </a:xfrm>
          <a:prstGeom prst="rect">
            <a:avLst/>
          </a:prstGeom>
          <a:solidFill>
            <a:srgbClr val="F5F5F5"/>
          </a:solidFill>
          <a:ln cap="flat" cmpd="sng" w="19050">
            <a:solidFill>
              <a:srgbClr val="FF42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1554475"/>
            <a:ext cx="5394950" cy="187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650" y="3758175"/>
            <a:ext cx="5394950" cy="18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2200" y="1564400"/>
            <a:ext cx="5394950" cy="192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2200" y="3709175"/>
            <a:ext cx="5394950" cy="19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200"/>
              </a:buClr>
              <a:buSzPts val="1200"/>
              <a:buFont typeface="Aharoni"/>
              <a:buNone/>
            </a:pPr>
            <a:r>
              <a:rPr b="1" lang="en-US" sz="1200">
                <a:solidFill>
                  <a:srgbClr val="FF4200"/>
                </a:solidFill>
                <a:latin typeface="Aharoni"/>
                <a:ea typeface="Aharoni"/>
                <a:cs typeface="Aharoni"/>
                <a:sym typeface="Aharoni"/>
              </a:rPr>
              <a:t>CIERRE</a:t>
            </a:r>
            <a:endParaRPr sz="12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haroni"/>
              <a:buNone/>
            </a:pPr>
            <a:r>
              <a:rPr b="1" lang="en-US" sz="2800">
                <a:solidFill>
                  <a:srgbClr val="262626"/>
                </a:solidFill>
                <a:latin typeface="Aharoni"/>
                <a:ea typeface="Aharoni"/>
                <a:cs typeface="Aharoni"/>
                <a:sym typeface="Aharoni"/>
              </a:rPr>
              <a:t>Conclusiones y próximos pasos</a:t>
            </a:r>
            <a:endParaRPr sz="28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548640" y="1795294"/>
            <a:ext cx="11183112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640080" y="1795294"/>
            <a:ext cx="1109167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CAF8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AF8"/>
              </a:buClr>
              <a:buSzPts val="2000"/>
              <a:buFont typeface="Aharoni"/>
              <a:buChar char="•"/>
            </a:pPr>
            <a:r>
              <a:rPr lang="en-US" sz="20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Incremento 3 completado: </a:t>
            </a:r>
            <a:r>
              <a:rPr lang="en-US" sz="2000">
                <a:solidFill>
                  <a:srgbClr val="1A1A1A"/>
                </a:solidFill>
                <a:latin typeface="Aharoni"/>
                <a:ea typeface="Aharoni"/>
                <a:cs typeface="Aharoni"/>
                <a:sym typeface="Aharoni"/>
              </a:rPr>
              <a:t>95,0</a:t>
            </a:r>
            <a:r>
              <a:rPr lang="en-US" sz="2000">
                <a:solidFill>
                  <a:srgbClr val="1A1A1A"/>
                </a:solidFill>
                <a:latin typeface="Aharoni"/>
                <a:ea typeface="Aharoni"/>
                <a:cs typeface="Aharoni"/>
                <a:sym typeface="Aharoni"/>
              </a:rPr>
              <a:t> % de avance acumulado del proyecto.</a:t>
            </a:r>
            <a:endParaRPr sz="20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CAF8"/>
              </a:buClr>
              <a:buSzPts val="2000"/>
              <a:buFont typeface="Aharoni"/>
              <a:buChar char="•"/>
            </a:pPr>
            <a:r>
              <a:rPr lang="en-US" sz="20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2</a:t>
            </a:r>
            <a:r>
              <a:rPr lang="en-US" sz="20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 módulos impactados</a:t>
            </a:r>
            <a:r>
              <a:rPr lang="en-US" sz="2000">
                <a:solidFill>
                  <a:srgbClr val="1A1A1A"/>
                </a:solidFill>
                <a:latin typeface="Aharoni"/>
                <a:ea typeface="Aharoni"/>
                <a:cs typeface="Aharoni"/>
                <a:sym typeface="Aharoni"/>
              </a:rPr>
              <a:t>, </a:t>
            </a:r>
            <a:r>
              <a:rPr lang="en-US" sz="2000">
                <a:solidFill>
                  <a:srgbClr val="1A1A1A"/>
                </a:solidFill>
                <a:latin typeface="Aharoni"/>
                <a:ea typeface="Aharoni"/>
                <a:cs typeface="Aharoni"/>
                <a:sym typeface="Aharoni"/>
              </a:rPr>
              <a:t>Módulo de Reportes y cierre del Módulo 9.</a:t>
            </a:r>
            <a:endParaRPr sz="20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CAF8"/>
              </a:buClr>
              <a:buSzPts val="2000"/>
              <a:buFont typeface="Aharoni"/>
              <a:buChar char="•"/>
            </a:pPr>
            <a:r>
              <a:rPr lang="en-US" sz="2000">
                <a:solidFill>
                  <a:srgbClr val="00CAF8"/>
                </a:solidFill>
                <a:latin typeface="Aharoni"/>
                <a:ea typeface="Aharoni"/>
                <a:cs typeface="Aharoni"/>
                <a:sym typeface="Aharoni"/>
              </a:rPr>
              <a:t>Próximo: Incremento 4 </a:t>
            </a:r>
            <a:r>
              <a:rPr lang="en-US" sz="2000">
                <a:solidFill>
                  <a:srgbClr val="1A1A1A"/>
                </a:solidFill>
                <a:latin typeface="Aharoni"/>
                <a:ea typeface="Aharoni"/>
                <a:cs typeface="Aharoni"/>
                <a:sym typeface="Aharoni"/>
              </a:rPr>
              <a:t>— </a:t>
            </a:r>
            <a:r>
              <a:rPr lang="en-US" sz="2000">
                <a:solidFill>
                  <a:srgbClr val="1A1A1A"/>
                </a:solidFill>
                <a:latin typeface="Aharoni"/>
                <a:ea typeface="Aharoni"/>
                <a:cs typeface="Aharoni"/>
                <a:sym typeface="Aharoni"/>
              </a:rPr>
              <a:t>Catálogo Maestro de Materiales (5 %, acumulado 100 %).</a:t>
            </a:r>
            <a:endParaRPr sz="2000">
              <a:solidFill>
                <a:srgbClr val="1A1A1A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Gestión de Adquisiciones e Inventario  |  Constructora M5 SpA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7110" y="518323"/>
            <a:ext cx="1484642" cy="92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4232" y="2944119"/>
            <a:ext cx="4196414" cy="260090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 txBox="1"/>
          <p:nvPr/>
        </p:nvSpPr>
        <p:spPr>
          <a:xfrm>
            <a:off x="3493478" y="1060932"/>
            <a:ext cx="609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haroni"/>
              <a:buNone/>
            </a:pPr>
            <a:r>
              <a:rPr i="1" lang="en-US" sz="96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¡</a:t>
            </a:r>
            <a:r>
              <a:rPr i="1" lang="en-US" sz="9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Gracias!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2026-09-12T23:09:00Z</dcterms:created>
  <dc:creator>PptxGenJS</dc:creator>
</cp:coreProperties>
</file>