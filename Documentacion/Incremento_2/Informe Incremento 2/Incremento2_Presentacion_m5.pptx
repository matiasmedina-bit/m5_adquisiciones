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76" r:id="rId8"/>
    <p:sldId id="262" r:id="rId9"/>
    <p:sldId id="263" r:id="rId10"/>
    <p:sldId id="264" r:id="rId11"/>
    <p:sldId id="266" r:id="rId12"/>
    <p:sldId id="267" r:id="rId13"/>
    <p:sldId id="269" r:id="rId14"/>
    <p:sldId id="272" r:id="rId15"/>
    <p:sldId id="273" r:id="rId16"/>
    <p:sldId id="274" r:id="rId17"/>
    <p:sldId id="275"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AF8"/>
    <a:srgbClr val="FF4200"/>
    <a:srgbClr val="FFFFFF"/>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96" y="4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7886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3B0F5-6159-89AB-F87D-507DDE4766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294420-F438-97D2-EEC0-CAAE050B3E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B0F991-EF59-871A-E043-AB133DA55AF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1279B2-8DF7-3EA2-7CBA-0C8F6D46B409}"/>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4876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626"/>
        </a:solidFill>
        <a:effectLst/>
      </p:bgPr>
    </p:bg>
    <p:spTree>
      <p:nvGrpSpPr>
        <p:cNvPr id="1" name=""/>
        <p:cNvGrpSpPr/>
        <p:nvPr/>
      </p:nvGrpSpPr>
      <p:grpSpPr>
        <a:xfrm>
          <a:off x="0" y="0"/>
          <a:ext cx="0" cy="0"/>
          <a:chOff x="0" y="0"/>
          <a:chExt cx="0" cy="0"/>
        </a:xfrm>
      </p:grpSpPr>
      <p:sp>
        <p:nvSpPr>
          <p:cNvPr id="2" name="Text 0"/>
          <p:cNvSpPr txBox="1"/>
          <p:nvPr/>
        </p:nvSpPr>
        <p:spPr>
          <a:xfrm>
            <a:off x="822960" y="1371600"/>
            <a:ext cx="10091225" cy="1645920"/>
          </a:xfrm>
          <a:prstGeom prst="rect">
            <a:avLst/>
          </a:prstGeom>
          <a:noFill/>
          <a:ln/>
        </p:spPr>
        <p:txBody>
          <a:bodyPr wrap="square" lIns="0" tIns="0" rIns="0" bIns="0" rtlCol="0" anchor="ctr"/>
          <a:lstStyle/>
          <a:p>
            <a:pPr marL="0" indent="0">
              <a:lnSpc>
                <a:spcPts val="4000"/>
              </a:lnSpc>
              <a:buNone/>
            </a:pPr>
            <a:r>
              <a:rPr lang="en-US" sz="6000" b="1">
                <a:solidFill>
                  <a:srgbClr val="FFFFFF"/>
                </a:solidFill>
                <a:latin typeface="Calibri" pitchFamily="34" charset="0"/>
                <a:ea typeface="Calibri" pitchFamily="34" charset="-122"/>
                <a:cs typeface="Calibri" pitchFamily="34" charset="-120"/>
              </a:rPr>
              <a:t>Sistema de Gestión de</a:t>
            </a:r>
            <a:endParaRPr lang="en-US" sz="6000"/>
          </a:p>
          <a:p>
            <a:pPr marL="0" indent="0">
              <a:lnSpc>
                <a:spcPts val="4000"/>
              </a:lnSpc>
              <a:buNone/>
            </a:pPr>
            <a:r>
              <a:rPr lang="en-US" sz="6000" b="1">
                <a:solidFill>
                  <a:srgbClr val="FFFFFF"/>
                </a:solidFill>
                <a:latin typeface="Calibri" pitchFamily="34" charset="0"/>
                <a:ea typeface="Calibri" pitchFamily="34" charset="-122"/>
                <a:cs typeface="Calibri" pitchFamily="34" charset="-120"/>
              </a:rPr>
              <a:t>Adquisiciones e Inventario</a:t>
            </a:r>
            <a:endParaRPr lang="en-US" sz="6000"/>
          </a:p>
        </p:txBody>
      </p:sp>
      <p:sp>
        <p:nvSpPr>
          <p:cNvPr id="3" name="Text 1"/>
          <p:cNvSpPr txBox="1"/>
          <p:nvPr/>
        </p:nvSpPr>
        <p:spPr>
          <a:xfrm>
            <a:off x="822960" y="2880360"/>
            <a:ext cx="10543032" cy="457200"/>
          </a:xfrm>
          <a:prstGeom prst="rect">
            <a:avLst/>
          </a:prstGeom>
          <a:noFill/>
          <a:ln/>
        </p:spPr>
        <p:txBody>
          <a:bodyPr wrap="square" lIns="0" tIns="0" rIns="0" bIns="0" rtlCol="0" anchor="ctr"/>
          <a:lstStyle/>
          <a:p>
            <a:pPr marL="0" indent="0">
              <a:buNone/>
            </a:pPr>
            <a:r>
              <a:rPr lang="en-US">
                <a:solidFill>
                  <a:srgbClr val="00C8F4"/>
                </a:solidFill>
                <a:latin typeface="Calibri" pitchFamily="34" charset="0"/>
                <a:ea typeface="Calibri" pitchFamily="34" charset="-122"/>
                <a:cs typeface="Calibri" pitchFamily="34" charset="-120"/>
              </a:rPr>
              <a:t>Constructora M5 SpA</a:t>
            </a:r>
            <a:endParaRPr lang="en-US"/>
          </a:p>
        </p:txBody>
      </p:sp>
      <p:sp>
        <p:nvSpPr>
          <p:cNvPr id="4" name="Shape 2"/>
          <p:cNvSpPr/>
          <p:nvPr/>
        </p:nvSpPr>
        <p:spPr>
          <a:xfrm>
            <a:off x="822959" y="3520440"/>
            <a:ext cx="3198056" cy="457200"/>
          </a:xfrm>
          <a:prstGeom prst="rect">
            <a:avLst/>
          </a:prstGeom>
          <a:solidFill>
            <a:srgbClr val="FF4200"/>
          </a:solidFill>
          <a:ln/>
        </p:spPr>
        <p:txBody>
          <a:bodyPr/>
          <a:lstStyle/>
          <a:p>
            <a:endParaRPr lang="es-CL"/>
          </a:p>
        </p:txBody>
      </p:sp>
      <p:sp>
        <p:nvSpPr>
          <p:cNvPr id="5" name="Text 3"/>
          <p:cNvSpPr txBox="1"/>
          <p:nvPr/>
        </p:nvSpPr>
        <p:spPr>
          <a:xfrm>
            <a:off x="647113" y="3520440"/>
            <a:ext cx="3464767" cy="4572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PRESENTACIÓN — INCREMENTO 2</a:t>
            </a:r>
            <a:endParaRPr lang="en-US" sz="1200"/>
          </a:p>
        </p:txBody>
      </p:sp>
      <p:sp>
        <p:nvSpPr>
          <p:cNvPr id="6" name="Text 4"/>
          <p:cNvSpPr txBox="1"/>
          <p:nvPr/>
        </p:nvSpPr>
        <p:spPr>
          <a:xfrm>
            <a:off x="822959" y="4720523"/>
            <a:ext cx="1737699" cy="1645167"/>
          </a:xfrm>
          <a:prstGeom prst="rect">
            <a:avLst/>
          </a:prstGeom>
          <a:noFill/>
          <a:ln/>
        </p:spPr>
        <p:txBody>
          <a:bodyPr wrap="square" lIns="0" tIns="0" rIns="0" bIns="0" rtlCol="0" anchor="ctr"/>
          <a:lstStyle/>
          <a:p>
            <a:r>
              <a:rPr lang="en-US" sz="1200" dirty="0" err="1">
                <a:solidFill>
                  <a:srgbClr val="00C8F4"/>
                </a:solidFill>
                <a:ea typeface="+mn-lt"/>
                <a:cs typeface="+mn-lt"/>
              </a:rPr>
              <a:t>Integrantes</a:t>
            </a:r>
            <a:r>
              <a:rPr lang="en-US" sz="1200" dirty="0">
                <a:solidFill>
                  <a:srgbClr val="00C8F4"/>
                </a:solidFill>
                <a:ea typeface="+mn-lt"/>
                <a:cs typeface="+mn-lt"/>
              </a:rPr>
              <a:t>:</a:t>
            </a:r>
            <a:endParaRPr lang="en-US" sz="1200" i="1" dirty="0">
              <a:solidFill>
                <a:srgbClr val="00C8F4"/>
              </a:solidFill>
              <a:ea typeface="+mn-lt"/>
              <a:cs typeface="+mn-lt"/>
            </a:endParaRPr>
          </a:p>
          <a:p>
            <a:pPr marL="171450" indent="-171450">
              <a:buFont typeface="Arial"/>
              <a:buChar char="•"/>
            </a:pPr>
            <a:r>
              <a:rPr lang="en-US" sz="1200" dirty="0">
                <a:solidFill>
                  <a:srgbClr val="00C8F4"/>
                </a:solidFill>
                <a:ea typeface="+mn-lt"/>
                <a:cs typeface="+mn-lt"/>
              </a:rPr>
              <a:t>Josué Barrera </a:t>
            </a:r>
            <a:endParaRPr lang="en-US" sz="1200" i="1" dirty="0">
              <a:solidFill>
                <a:srgbClr val="00C8F4"/>
              </a:solidFill>
              <a:ea typeface="+mn-lt"/>
              <a:cs typeface="+mn-lt"/>
            </a:endParaRPr>
          </a:p>
          <a:p>
            <a:pPr marL="171450" indent="-171450">
              <a:buFont typeface="Arial"/>
              <a:buChar char="•"/>
            </a:pPr>
            <a:r>
              <a:rPr lang="en-US" sz="1200" dirty="0">
                <a:solidFill>
                  <a:srgbClr val="00C8F4"/>
                </a:solidFill>
                <a:ea typeface="+mn-lt"/>
                <a:cs typeface="+mn-lt"/>
              </a:rPr>
              <a:t>Emiliano Fernández</a:t>
            </a:r>
            <a:endParaRPr lang="en-US" sz="1200" i="1" dirty="0">
              <a:solidFill>
                <a:srgbClr val="00C8F4"/>
              </a:solidFill>
              <a:ea typeface="+mn-lt"/>
              <a:cs typeface="+mn-lt"/>
            </a:endParaRPr>
          </a:p>
          <a:p>
            <a:pPr marL="171450" indent="-171450">
              <a:buFont typeface="Arial"/>
              <a:buChar char="•"/>
            </a:pPr>
            <a:r>
              <a:rPr lang="en-US" sz="1200" dirty="0">
                <a:solidFill>
                  <a:srgbClr val="00C8F4"/>
                </a:solidFill>
                <a:ea typeface="+mn-lt"/>
                <a:cs typeface="+mn-lt"/>
              </a:rPr>
              <a:t>Alexander Hanke</a:t>
            </a:r>
            <a:endParaRPr lang="en-US" sz="1200" i="1" dirty="0">
              <a:solidFill>
                <a:srgbClr val="00C8F4"/>
              </a:solidFill>
              <a:ea typeface="+mn-lt"/>
              <a:cs typeface="+mn-lt"/>
            </a:endParaRPr>
          </a:p>
          <a:p>
            <a:pPr marL="171450" indent="-171450">
              <a:buFont typeface="Arial"/>
              <a:buChar char="•"/>
            </a:pPr>
            <a:r>
              <a:rPr lang="en-US" sz="1200" dirty="0">
                <a:solidFill>
                  <a:srgbClr val="00C8F4"/>
                </a:solidFill>
                <a:ea typeface="+mn-lt"/>
                <a:cs typeface="+mn-lt"/>
              </a:rPr>
              <a:t>Catalina Lino</a:t>
            </a:r>
            <a:endParaRPr lang="en-US" sz="1200" i="1" dirty="0">
              <a:solidFill>
                <a:srgbClr val="00C8F4"/>
              </a:solidFill>
              <a:ea typeface="+mn-lt"/>
              <a:cs typeface="+mn-lt"/>
            </a:endParaRPr>
          </a:p>
          <a:p>
            <a:pPr marL="171450" indent="-171450">
              <a:buFont typeface="Arial"/>
              <a:buChar char="•"/>
            </a:pPr>
            <a:r>
              <a:rPr lang="en-US" sz="1200" dirty="0">
                <a:solidFill>
                  <a:srgbClr val="00C8F4"/>
                </a:solidFill>
                <a:ea typeface="+mn-lt"/>
                <a:cs typeface="+mn-lt"/>
              </a:rPr>
              <a:t>Cristóbal López</a:t>
            </a:r>
            <a:endParaRPr lang="en-US" sz="1200" i="1" dirty="0">
              <a:solidFill>
                <a:srgbClr val="00C8F4"/>
              </a:solidFill>
              <a:ea typeface="+mn-lt"/>
              <a:cs typeface="+mn-lt"/>
            </a:endParaRPr>
          </a:p>
          <a:p>
            <a:pPr marL="171450" indent="-171450">
              <a:buFont typeface="Arial"/>
              <a:buChar char="•"/>
            </a:pPr>
            <a:r>
              <a:rPr lang="en-US" sz="1200" dirty="0">
                <a:solidFill>
                  <a:srgbClr val="00C8F4"/>
                </a:solidFill>
                <a:ea typeface="+mn-lt"/>
                <a:cs typeface="+mn-lt"/>
              </a:rPr>
              <a:t>Matías Medina</a:t>
            </a:r>
            <a:endParaRPr lang="en-US" sz="1200" i="1" dirty="0">
              <a:solidFill>
                <a:srgbClr val="00C8F4"/>
              </a:solidFill>
              <a:ea typeface="+mn-lt"/>
              <a:cs typeface="+mn-lt"/>
            </a:endParaRPr>
          </a:p>
          <a:p>
            <a:pPr marL="171450" indent="-171450">
              <a:buFont typeface="Arial"/>
              <a:buChar char="•"/>
            </a:pPr>
            <a:r>
              <a:rPr lang="en-US" sz="1200" dirty="0">
                <a:solidFill>
                  <a:srgbClr val="00C8F4"/>
                </a:solidFill>
                <a:ea typeface="+mn-lt"/>
                <a:cs typeface="+mn-lt"/>
              </a:rPr>
              <a:t>Rocío Olguín</a:t>
            </a:r>
            <a:endParaRPr lang="en-US" sz="1200" i="1" dirty="0">
              <a:solidFill>
                <a:srgbClr val="00C8F4"/>
              </a:solidFill>
              <a:ea typeface="+mn-lt"/>
              <a:cs typeface="+mn-lt"/>
            </a:endParaRPr>
          </a:p>
          <a:p>
            <a:pPr marL="171450" indent="-171450">
              <a:buFont typeface="Arial"/>
              <a:buChar char="•"/>
            </a:pPr>
            <a:r>
              <a:rPr lang="en-US" sz="1200" dirty="0">
                <a:solidFill>
                  <a:srgbClr val="00C8F4"/>
                </a:solidFill>
                <a:ea typeface="+mn-lt"/>
                <a:cs typeface="+mn-lt"/>
              </a:rPr>
              <a:t>Roberto </a:t>
            </a:r>
            <a:r>
              <a:rPr lang="en-US" sz="1200" dirty="0" err="1">
                <a:solidFill>
                  <a:srgbClr val="00C8F4"/>
                </a:solidFill>
                <a:ea typeface="+mn-lt"/>
                <a:cs typeface="+mn-lt"/>
              </a:rPr>
              <a:t>Seguel</a:t>
            </a:r>
            <a:endParaRPr lang="en-US" sz="1200" i="1" dirty="0">
              <a:solidFill>
                <a:srgbClr val="00C8F4"/>
              </a:solidFill>
              <a:latin typeface="Calibri"/>
              <a:ea typeface="Calibri"/>
              <a:cs typeface="Calibri"/>
            </a:endParaRPr>
          </a:p>
        </p:txBody>
      </p:sp>
      <p:pic>
        <p:nvPicPr>
          <p:cNvPr id="8" name="Picture 7">
            <a:extLst>
              <a:ext uri="{FF2B5EF4-FFF2-40B4-BE49-F238E27FC236}">
                <a16:creationId xmlns:a16="http://schemas.microsoft.com/office/drawing/2014/main" id="{1D84C607-BF94-8CD2-7B18-C130B911A853}"/>
              </a:ext>
            </a:extLst>
          </p:cNvPr>
          <p:cNvPicPr>
            <a:picLocks noChangeAspect="1"/>
          </p:cNvPicPr>
          <p:nvPr/>
        </p:nvPicPr>
        <p:blipFill>
          <a:blip r:embed="rId3"/>
          <a:stretch>
            <a:fillRect/>
          </a:stretch>
        </p:blipFill>
        <p:spPr>
          <a:xfrm>
            <a:off x="6488081" y="2985960"/>
            <a:ext cx="4877911" cy="3023289"/>
          </a:xfrm>
          <a:prstGeom prst="rect">
            <a:avLst/>
          </a:prstGeom>
        </p:spPr>
      </p:pic>
      <p:sp>
        <p:nvSpPr>
          <p:cNvPr id="7" name="Text 4">
            <a:extLst>
              <a:ext uri="{FF2B5EF4-FFF2-40B4-BE49-F238E27FC236}">
                <a16:creationId xmlns:a16="http://schemas.microsoft.com/office/drawing/2014/main" id="{147CF677-81C5-7201-B349-DF073F194E07}"/>
              </a:ext>
            </a:extLst>
          </p:cNvPr>
          <p:cNvSpPr txBox="1"/>
          <p:nvPr/>
        </p:nvSpPr>
        <p:spPr>
          <a:xfrm>
            <a:off x="2518059" y="4720523"/>
            <a:ext cx="2781921" cy="365760"/>
          </a:xfrm>
          <a:prstGeom prst="rect">
            <a:avLst/>
          </a:prstGeom>
          <a:noFill/>
          <a:ln/>
        </p:spPr>
        <p:txBody>
          <a:bodyPr wrap="square" lIns="0" tIns="0" rIns="0" bIns="0" rtlCol="0" anchor="ctr"/>
          <a:lstStyle/>
          <a:p>
            <a:r>
              <a:rPr lang="en-US" sz="1200" dirty="0" err="1">
                <a:solidFill>
                  <a:srgbClr val="00C8F4"/>
                </a:solidFill>
                <a:ea typeface="+mn-lt"/>
                <a:cs typeface="+mn-lt"/>
              </a:rPr>
              <a:t>Profesor</a:t>
            </a:r>
            <a:r>
              <a:rPr lang="en-US" sz="1200" dirty="0">
                <a:solidFill>
                  <a:srgbClr val="00C8F4"/>
                </a:solidFill>
                <a:ea typeface="+mn-lt"/>
                <a:cs typeface="+mn-lt"/>
              </a:rPr>
              <a:t>:</a:t>
            </a:r>
          </a:p>
          <a:p>
            <a:r>
              <a:rPr lang="en-US" sz="1200" dirty="0">
                <a:solidFill>
                  <a:srgbClr val="00C8F4"/>
                </a:solidFill>
                <a:ea typeface="+mn-lt"/>
                <a:cs typeface="+mn-lt"/>
              </a:rPr>
              <a:t>Paulo Luis Francisco </a:t>
            </a:r>
            <a:r>
              <a:rPr lang="en-US" sz="1200" dirty="0" err="1">
                <a:solidFill>
                  <a:srgbClr val="00C8F4"/>
                </a:solidFill>
                <a:ea typeface="+mn-lt"/>
                <a:cs typeface="+mn-lt"/>
              </a:rPr>
              <a:t>Quinsacara</a:t>
            </a:r>
            <a:r>
              <a:rPr lang="en-US" sz="1200" dirty="0">
                <a:solidFill>
                  <a:srgbClr val="00C8F4"/>
                </a:solidFill>
                <a:ea typeface="+mn-lt"/>
                <a:cs typeface="+mn-lt"/>
              </a:rPr>
              <a:t> </a:t>
            </a:r>
            <a:r>
              <a:rPr lang="en-US" sz="1200" dirty="0" err="1">
                <a:solidFill>
                  <a:srgbClr val="00C8F4"/>
                </a:solidFill>
                <a:ea typeface="+mn-lt"/>
                <a:cs typeface="+mn-lt"/>
              </a:rPr>
              <a:t>Jofré</a:t>
            </a:r>
            <a:endParaRPr lang="en-US" dirty="0">
              <a:ea typeface="Calibri"/>
              <a:cs typeface="Calibri"/>
            </a:endParaRPr>
          </a:p>
        </p:txBody>
      </p:sp>
      <p:sp>
        <p:nvSpPr>
          <p:cNvPr id="9" name="Text 4">
            <a:extLst>
              <a:ext uri="{FF2B5EF4-FFF2-40B4-BE49-F238E27FC236}">
                <a16:creationId xmlns:a16="http://schemas.microsoft.com/office/drawing/2014/main" id="{F5C34323-49E0-C943-EC3B-DD44E25CFA78}"/>
              </a:ext>
            </a:extLst>
          </p:cNvPr>
          <p:cNvSpPr txBox="1"/>
          <p:nvPr/>
        </p:nvSpPr>
        <p:spPr>
          <a:xfrm>
            <a:off x="5213768" y="4720523"/>
            <a:ext cx="2029329" cy="412797"/>
          </a:xfrm>
          <a:prstGeom prst="rect">
            <a:avLst/>
          </a:prstGeom>
          <a:noFill/>
          <a:ln/>
        </p:spPr>
        <p:txBody>
          <a:bodyPr wrap="square" lIns="0" tIns="0" rIns="0" bIns="0" rtlCol="0" anchor="ctr"/>
          <a:lstStyle/>
          <a:p>
            <a:r>
              <a:rPr lang="en-US" sz="1200" err="1">
                <a:solidFill>
                  <a:srgbClr val="00C8F4"/>
                </a:solidFill>
                <a:ea typeface="+mn-lt"/>
                <a:cs typeface="+mn-lt"/>
              </a:rPr>
              <a:t>Fecha</a:t>
            </a:r>
            <a:r>
              <a:rPr lang="en-US" sz="1200">
                <a:solidFill>
                  <a:srgbClr val="00C8F4"/>
                </a:solidFill>
                <a:ea typeface="+mn-lt"/>
                <a:cs typeface="+mn-lt"/>
              </a:rPr>
              <a:t>:</a:t>
            </a:r>
          </a:p>
          <a:p>
            <a:r>
              <a:rPr lang="en-US" sz="1200">
                <a:solidFill>
                  <a:srgbClr val="00C8F4"/>
                </a:solidFill>
                <a:ea typeface="+mn-lt"/>
                <a:cs typeface="+mn-lt"/>
              </a:rPr>
              <a:t>13-09-2026</a:t>
            </a:r>
            <a:endParaRPr lang="en-US">
              <a:ea typeface="Calibri"/>
              <a:cs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advTm="329"/>
    </mc:Choice>
    <mc:Fallback xmlns="">
      <p:transition spd="slow" advTm="32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320040"/>
          </a:xfrm>
          <a:prstGeom prst="rect">
            <a:avLst/>
          </a:prstGeom>
          <a:noFill/>
          <a:ln/>
        </p:spPr>
        <p:txBody>
          <a:bodyPr wrap="square" lIns="0" tIns="0" rIns="0" bIns="0" rtlCol="0" anchor="ctr"/>
          <a:lstStyle/>
          <a:p>
            <a:pPr marL="0" indent="0">
              <a:buNone/>
            </a:pPr>
            <a:r>
              <a:rPr lang="en-US" sz="1200" b="1" kern="0" spc="200">
                <a:solidFill>
                  <a:srgbClr val="FF4200"/>
                </a:solidFill>
                <a:latin typeface="Aharoni" panose="02010803020104030203" pitchFamily="2" charset="-79"/>
                <a:ea typeface="Calibri" pitchFamily="34" charset="-122"/>
                <a:cs typeface="Aharoni" panose="02010803020104030203" pitchFamily="2" charset="-79"/>
              </a:rPr>
              <a:t>AGENDA</a:t>
            </a:r>
            <a:endParaRPr lang="en-US" sz="1200">
              <a:latin typeface="Aharoni" panose="02010803020104030203" pitchFamily="2" charset="-79"/>
              <a:cs typeface="Aharoni" panose="02010803020104030203" pitchFamily="2" charset="-79"/>
            </a:endParaRPr>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marL="0" indent="0">
              <a:buNone/>
            </a:pPr>
            <a:r>
              <a:rPr lang="en-US" sz="4400" b="1">
                <a:solidFill>
                  <a:srgbClr val="262626"/>
                </a:solidFill>
                <a:latin typeface="Aharoni" panose="02010803020104030203" pitchFamily="2" charset="-79"/>
                <a:ea typeface="Calibri" pitchFamily="34" charset="-122"/>
                <a:cs typeface="Aharoni" panose="02010803020104030203" pitchFamily="2" charset="-79"/>
              </a:rPr>
              <a:t>Contenido de la presentación</a:t>
            </a:r>
            <a:endParaRPr lang="en-US" sz="4400">
              <a:latin typeface="Aharoni" panose="02010803020104030203" pitchFamily="2" charset="-79"/>
              <a:cs typeface="Aharoni" panose="02010803020104030203" pitchFamily="2" charset="-79"/>
            </a:endParaRPr>
          </a:p>
        </p:txBody>
      </p:sp>
      <p:sp>
        <p:nvSpPr>
          <p:cNvPr id="4" name="Shape 2"/>
          <p:cNvSpPr/>
          <p:nvPr/>
        </p:nvSpPr>
        <p:spPr>
          <a:xfrm>
            <a:off x="548640" y="1792224"/>
            <a:ext cx="457200" cy="457200"/>
          </a:xfrm>
          <a:prstGeom prst="ellipse">
            <a:avLst/>
          </a:prstGeom>
          <a:solidFill>
            <a:srgbClr val="FF4200"/>
          </a:solidFill>
          <a:ln/>
        </p:spPr>
        <p:txBody>
          <a:bodyPr/>
          <a:lstStyle/>
          <a:p>
            <a:endParaRPr lang="es-CL"/>
          </a:p>
        </p:txBody>
      </p:sp>
      <p:sp>
        <p:nvSpPr>
          <p:cNvPr id="5" name="Text 3"/>
          <p:cNvSpPr txBox="1"/>
          <p:nvPr/>
        </p:nvSpPr>
        <p:spPr>
          <a:xfrm>
            <a:off x="548640" y="1792224"/>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1</a:t>
            </a:r>
            <a:endParaRPr lang="en-US" sz="1600"/>
          </a:p>
        </p:txBody>
      </p:sp>
      <p:sp>
        <p:nvSpPr>
          <p:cNvPr id="6" name="Text 4"/>
          <p:cNvSpPr txBox="1"/>
          <p:nvPr/>
        </p:nvSpPr>
        <p:spPr>
          <a:xfrm>
            <a:off x="1143000" y="1746504"/>
            <a:ext cx="4846320" cy="548640"/>
          </a:xfrm>
          <a:prstGeom prst="rect">
            <a:avLst/>
          </a:prstGeom>
          <a:noFill/>
          <a:ln/>
        </p:spPr>
        <p:txBody>
          <a:bodyPr wrap="square" lIns="0" tIns="0" rIns="0" bIns="0" rtlCol="0" anchor="ctr"/>
          <a:lstStyle/>
          <a:p>
            <a:pPr marL="0" indent="0">
              <a:buNone/>
            </a:pPr>
            <a:r>
              <a:rPr lang="en-US" sz="2000" dirty="0" err="1">
                <a:solidFill>
                  <a:srgbClr val="1A1A1A"/>
                </a:solidFill>
                <a:latin typeface="Aharoni" panose="02010803020104030203" pitchFamily="2" charset="-79"/>
                <a:ea typeface="Calibri" pitchFamily="34" charset="-122"/>
                <a:cs typeface="Aharoni" panose="02010803020104030203" pitchFamily="2" charset="-79"/>
              </a:rPr>
              <a:t>Recapitulación</a:t>
            </a:r>
            <a:r>
              <a:rPr lang="en-US" sz="2000" dirty="0">
                <a:solidFill>
                  <a:srgbClr val="1A1A1A"/>
                </a:solidFill>
                <a:latin typeface="Aharoni" panose="02010803020104030203" pitchFamily="2" charset="-79"/>
                <a:ea typeface="Calibri" pitchFamily="34" charset="-122"/>
                <a:cs typeface="Aharoni" panose="02010803020104030203" pitchFamily="2" charset="-79"/>
              </a:rPr>
              <a:t> del </a:t>
            </a:r>
            <a:r>
              <a:rPr lang="en-US" sz="2000" dirty="0" err="1">
                <a:solidFill>
                  <a:srgbClr val="1A1A1A"/>
                </a:solidFill>
                <a:latin typeface="Aharoni" panose="02010803020104030203" pitchFamily="2" charset="-79"/>
                <a:ea typeface="Calibri" pitchFamily="34" charset="-122"/>
                <a:cs typeface="Aharoni" panose="02010803020104030203" pitchFamily="2" charset="-79"/>
              </a:rPr>
              <a:t>Incremento</a:t>
            </a:r>
            <a:r>
              <a:rPr lang="en-US" sz="2000" dirty="0">
                <a:solidFill>
                  <a:srgbClr val="1A1A1A"/>
                </a:solidFill>
                <a:latin typeface="Aharoni" panose="02010803020104030203" pitchFamily="2" charset="-79"/>
                <a:ea typeface="Calibri" pitchFamily="34" charset="-122"/>
                <a:cs typeface="Aharoni" panose="02010803020104030203" pitchFamily="2" charset="-79"/>
              </a:rPr>
              <a:t> 1</a:t>
            </a:r>
            <a:endParaRPr lang="en-US" sz="2000" dirty="0">
              <a:latin typeface="Aharoni" panose="02010803020104030203" pitchFamily="2" charset="-79"/>
              <a:cs typeface="Aharoni" panose="02010803020104030203" pitchFamily="2" charset="-79"/>
            </a:endParaRPr>
          </a:p>
        </p:txBody>
      </p:sp>
      <p:sp>
        <p:nvSpPr>
          <p:cNvPr id="7" name="Shape 5"/>
          <p:cNvSpPr/>
          <p:nvPr/>
        </p:nvSpPr>
        <p:spPr>
          <a:xfrm>
            <a:off x="6217920" y="1792224"/>
            <a:ext cx="457200" cy="457200"/>
          </a:xfrm>
          <a:prstGeom prst="ellipse">
            <a:avLst/>
          </a:prstGeom>
          <a:solidFill>
            <a:srgbClr val="FF4200"/>
          </a:solidFill>
          <a:ln/>
        </p:spPr>
        <p:txBody>
          <a:bodyPr/>
          <a:lstStyle/>
          <a:p>
            <a:endParaRPr lang="es-CL"/>
          </a:p>
        </p:txBody>
      </p:sp>
      <p:sp>
        <p:nvSpPr>
          <p:cNvPr id="8" name="Text 6"/>
          <p:cNvSpPr txBox="1"/>
          <p:nvPr/>
        </p:nvSpPr>
        <p:spPr>
          <a:xfrm>
            <a:off x="6217920" y="1792224"/>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2</a:t>
            </a:r>
            <a:endParaRPr lang="en-US" sz="1600"/>
          </a:p>
        </p:txBody>
      </p:sp>
      <p:sp>
        <p:nvSpPr>
          <p:cNvPr id="9" name="Text 7"/>
          <p:cNvSpPr txBox="1"/>
          <p:nvPr/>
        </p:nvSpPr>
        <p:spPr>
          <a:xfrm>
            <a:off x="6812280" y="1746504"/>
            <a:ext cx="4846320" cy="548640"/>
          </a:xfrm>
          <a:prstGeom prst="rect">
            <a:avLst/>
          </a:prstGeom>
          <a:noFill/>
          <a:ln/>
        </p:spPr>
        <p:txBody>
          <a:bodyPr wrap="square" lIns="0" tIns="0" rIns="0" bIns="0" rtlCol="0" anchor="ctr"/>
          <a:lstStyle/>
          <a:p>
            <a:pPr marL="0" indent="0">
              <a:buNone/>
            </a:pPr>
            <a:r>
              <a:rPr lang="en-US" sz="2000" dirty="0" err="1">
                <a:solidFill>
                  <a:srgbClr val="1A1A1A"/>
                </a:solidFill>
                <a:latin typeface="Aharoni" panose="02010803020104030203" pitchFamily="2" charset="-79"/>
                <a:ea typeface="Calibri" pitchFamily="34" charset="-122"/>
                <a:cs typeface="Aharoni" panose="02010803020104030203" pitchFamily="2" charset="-79"/>
              </a:rPr>
              <a:t>Definición</a:t>
            </a:r>
            <a:r>
              <a:rPr lang="en-US" sz="2000" dirty="0">
                <a:solidFill>
                  <a:srgbClr val="1A1A1A"/>
                </a:solidFill>
                <a:latin typeface="Aharoni" panose="02010803020104030203" pitchFamily="2" charset="-79"/>
                <a:ea typeface="Calibri" pitchFamily="34" charset="-122"/>
                <a:cs typeface="Aharoni" panose="02010803020104030203" pitchFamily="2" charset="-79"/>
              </a:rPr>
              <a:t> y </a:t>
            </a:r>
            <a:r>
              <a:rPr lang="en-US" sz="2000" dirty="0" err="1">
                <a:solidFill>
                  <a:srgbClr val="1A1A1A"/>
                </a:solidFill>
                <a:latin typeface="Aharoni" panose="02010803020104030203" pitchFamily="2" charset="-79"/>
                <a:ea typeface="Calibri" pitchFamily="34" charset="-122"/>
                <a:cs typeface="Aharoni" panose="02010803020104030203" pitchFamily="2" charset="-79"/>
              </a:rPr>
              <a:t>alcance</a:t>
            </a:r>
            <a:r>
              <a:rPr lang="en-US" sz="2000" dirty="0">
                <a:solidFill>
                  <a:srgbClr val="1A1A1A"/>
                </a:solidFill>
                <a:latin typeface="Aharoni" panose="02010803020104030203" pitchFamily="2" charset="-79"/>
                <a:ea typeface="Calibri" pitchFamily="34" charset="-122"/>
                <a:cs typeface="Aharoni" panose="02010803020104030203" pitchFamily="2" charset="-79"/>
              </a:rPr>
              <a:t> del </a:t>
            </a:r>
            <a:r>
              <a:rPr lang="en-US" sz="2000" dirty="0" err="1">
                <a:solidFill>
                  <a:srgbClr val="1A1A1A"/>
                </a:solidFill>
                <a:latin typeface="Aharoni" panose="02010803020104030203" pitchFamily="2" charset="-79"/>
                <a:ea typeface="Calibri" pitchFamily="34" charset="-122"/>
                <a:cs typeface="Aharoni" panose="02010803020104030203" pitchFamily="2" charset="-79"/>
              </a:rPr>
              <a:t>Incremento</a:t>
            </a:r>
            <a:r>
              <a:rPr lang="en-US" sz="2000" dirty="0">
                <a:solidFill>
                  <a:srgbClr val="1A1A1A"/>
                </a:solidFill>
                <a:latin typeface="Aharoni" panose="02010803020104030203" pitchFamily="2" charset="-79"/>
                <a:ea typeface="Calibri" pitchFamily="34" charset="-122"/>
                <a:cs typeface="Aharoni" panose="02010803020104030203" pitchFamily="2" charset="-79"/>
              </a:rPr>
              <a:t> 2</a:t>
            </a:r>
            <a:endParaRPr lang="en-US" sz="2000" dirty="0">
              <a:latin typeface="Aharoni" panose="02010803020104030203" pitchFamily="2" charset="-79"/>
              <a:cs typeface="Aharoni" panose="02010803020104030203" pitchFamily="2" charset="-79"/>
            </a:endParaRPr>
          </a:p>
        </p:txBody>
      </p:sp>
      <p:sp>
        <p:nvSpPr>
          <p:cNvPr id="10" name="Shape 8"/>
          <p:cNvSpPr/>
          <p:nvPr/>
        </p:nvSpPr>
        <p:spPr>
          <a:xfrm>
            <a:off x="548640" y="2843784"/>
            <a:ext cx="457200" cy="457200"/>
          </a:xfrm>
          <a:prstGeom prst="ellipse">
            <a:avLst/>
          </a:prstGeom>
          <a:solidFill>
            <a:srgbClr val="FF4200"/>
          </a:solidFill>
          <a:ln/>
        </p:spPr>
        <p:txBody>
          <a:bodyPr/>
          <a:lstStyle/>
          <a:p>
            <a:endParaRPr lang="es-CL"/>
          </a:p>
        </p:txBody>
      </p:sp>
      <p:sp>
        <p:nvSpPr>
          <p:cNvPr id="11" name="Text 9"/>
          <p:cNvSpPr txBox="1"/>
          <p:nvPr/>
        </p:nvSpPr>
        <p:spPr>
          <a:xfrm>
            <a:off x="548640" y="2843784"/>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3</a:t>
            </a:r>
            <a:endParaRPr lang="en-US" sz="1600"/>
          </a:p>
        </p:txBody>
      </p:sp>
      <p:sp>
        <p:nvSpPr>
          <p:cNvPr id="12" name="Text 10"/>
          <p:cNvSpPr txBox="1"/>
          <p:nvPr/>
        </p:nvSpPr>
        <p:spPr>
          <a:xfrm>
            <a:off x="1143000" y="2798064"/>
            <a:ext cx="4846320" cy="548640"/>
          </a:xfrm>
          <a:prstGeom prst="rect">
            <a:avLst/>
          </a:prstGeom>
          <a:noFill/>
          <a:ln/>
        </p:spPr>
        <p:txBody>
          <a:bodyPr wrap="square" lIns="0" tIns="0" rIns="0" bIns="0" rtlCol="0" anchor="ctr"/>
          <a:lstStyle/>
          <a:p>
            <a:pPr marL="0" indent="0">
              <a:buNone/>
            </a:pPr>
            <a:r>
              <a:rPr lang="en-US" sz="2000" dirty="0" err="1">
                <a:solidFill>
                  <a:srgbClr val="1A1A1A"/>
                </a:solidFill>
                <a:latin typeface="Aharoni" panose="02010803020104030203" pitchFamily="2" charset="-79"/>
                <a:ea typeface="Calibri" pitchFamily="34" charset="-122"/>
                <a:cs typeface="Aharoni" panose="02010803020104030203" pitchFamily="2" charset="-79"/>
              </a:rPr>
              <a:t>Requerimientos</a:t>
            </a:r>
            <a:r>
              <a:rPr lang="en-US" sz="2000" dirty="0">
                <a:solidFill>
                  <a:srgbClr val="1A1A1A"/>
                </a:solidFill>
                <a:latin typeface="Aharoni" panose="02010803020104030203" pitchFamily="2" charset="-79"/>
                <a:ea typeface="Calibri" pitchFamily="34" charset="-122"/>
                <a:cs typeface="Aharoni" panose="02010803020104030203" pitchFamily="2" charset="-79"/>
              </a:rPr>
              <a:t> y </a:t>
            </a:r>
            <a:r>
              <a:rPr lang="en-US" sz="2000" dirty="0" err="1">
                <a:solidFill>
                  <a:srgbClr val="1A1A1A"/>
                </a:solidFill>
                <a:latin typeface="Aharoni" panose="02010803020104030203" pitchFamily="2" charset="-79"/>
                <a:ea typeface="Calibri" pitchFamily="34" charset="-122"/>
                <a:cs typeface="Aharoni" panose="02010803020104030203" pitchFamily="2" charset="-79"/>
              </a:rPr>
              <a:t>casos</a:t>
            </a:r>
            <a:r>
              <a:rPr lang="en-US" sz="2000" dirty="0">
                <a:solidFill>
                  <a:srgbClr val="1A1A1A"/>
                </a:solidFill>
                <a:latin typeface="Aharoni" panose="02010803020104030203" pitchFamily="2" charset="-79"/>
                <a:ea typeface="Calibri" pitchFamily="34" charset="-122"/>
                <a:cs typeface="Aharoni" panose="02010803020104030203" pitchFamily="2" charset="-79"/>
              </a:rPr>
              <a:t> de </a:t>
            </a:r>
            <a:r>
              <a:rPr lang="en-US" sz="2000" dirty="0" err="1">
                <a:solidFill>
                  <a:srgbClr val="1A1A1A"/>
                </a:solidFill>
                <a:latin typeface="Aharoni" panose="02010803020104030203" pitchFamily="2" charset="-79"/>
                <a:ea typeface="Calibri" pitchFamily="34" charset="-122"/>
                <a:cs typeface="Aharoni" panose="02010803020104030203" pitchFamily="2" charset="-79"/>
              </a:rPr>
              <a:t>uso</a:t>
            </a:r>
            <a:r>
              <a:rPr lang="en-US" sz="2000" dirty="0">
                <a:solidFill>
                  <a:srgbClr val="1A1A1A"/>
                </a:solidFill>
                <a:latin typeface="Aharoni" panose="02010803020104030203" pitchFamily="2" charset="-79"/>
                <a:ea typeface="Calibri" pitchFamily="34" charset="-122"/>
                <a:cs typeface="Aharoni" panose="02010803020104030203" pitchFamily="2" charset="-79"/>
              </a:rPr>
              <a:t> del </a:t>
            </a:r>
            <a:r>
              <a:rPr lang="en-US" sz="2000" dirty="0" err="1">
                <a:solidFill>
                  <a:srgbClr val="1A1A1A"/>
                </a:solidFill>
                <a:latin typeface="Aharoni" panose="02010803020104030203" pitchFamily="2" charset="-79"/>
                <a:ea typeface="Calibri" pitchFamily="34" charset="-122"/>
                <a:cs typeface="Aharoni" panose="02010803020104030203" pitchFamily="2" charset="-79"/>
              </a:rPr>
              <a:t>incremento</a:t>
            </a:r>
            <a:endParaRPr lang="en-US" sz="2000" dirty="0">
              <a:latin typeface="Aharoni" panose="02010803020104030203" pitchFamily="2" charset="-79"/>
              <a:cs typeface="Aharoni" panose="02010803020104030203" pitchFamily="2" charset="-79"/>
            </a:endParaRPr>
          </a:p>
        </p:txBody>
      </p:sp>
      <p:sp>
        <p:nvSpPr>
          <p:cNvPr id="13" name="Shape 11"/>
          <p:cNvSpPr/>
          <p:nvPr/>
        </p:nvSpPr>
        <p:spPr>
          <a:xfrm>
            <a:off x="6217920" y="2843784"/>
            <a:ext cx="457200" cy="457200"/>
          </a:xfrm>
          <a:prstGeom prst="ellipse">
            <a:avLst/>
          </a:prstGeom>
          <a:solidFill>
            <a:srgbClr val="FF4200"/>
          </a:solidFill>
          <a:ln/>
        </p:spPr>
        <p:txBody>
          <a:bodyPr/>
          <a:lstStyle/>
          <a:p>
            <a:endParaRPr lang="es-CL"/>
          </a:p>
        </p:txBody>
      </p:sp>
      <p:sp>
        <p:nvSpPr>
          <p:cNvPr id="14" name="Text 12"/>
          <p:cNvSpPr txBox="1"/>
          <p:nvPr/>
        </p:nvSpPr>
        <p:spPr>
          <a:xfrm>
            <a:off x="6217920" y="2843784"/>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4</a:t>
            </a:r>
            <a:endParaRPr lang="en-US" sz="1600"/>
          </a:p>
        </p:txBody>
      </p:sp>
      <p:sp>
        <p:nvSpPr>
          <p:cNvPr id="15" name="Text 13"/>
          <p:cNvSpPr txBox="1"/>
          <p:nvPr/>
        </p:nvSpPr>
        <p:spPr>
          <a:xfrm>
            <a:off x="6812280" y="2798064"/>
            <a:ext cx="4846320" cy="548640"/>
          </a:xfrm>
          <a:prstGeom prst="rect">
            <a:avLst/>
          </a:prstGeom>
          <a:noFill/>
          <a:ln/>
        </p:spPr>
        <p:txBody>
          <a:bodyPr wrap="square" lIns="0" tIns="0" rIns="0" bIns="0" rtlCol="0" anchor="ctr"/>
          <a:lstStyle/>
          <a:p>
            <a:pPr marL="0" indent="0">
              <a:buNone/>
            </a:pPr>
            <a:r>
              <a:rPr lang="en-US" sz="2000" dirty="0">
                <a:solidFill>
                  <a:srgbClr val="1A1A1A"/>
                </a:solidFill>
                <a:latin typeface="Aharoni" panose="02010803020104030203" pitchFamily="2" charset="-79"/>
                <a:ea typeface="Calibri" pitchFamily="34" charset="-122"/>
                <a:cs typeface="Aharoni" panose="02010803020104030203" pitchFamily="2" charset="-79"/>
              </a:rPr>
              <a:t>Vistas </a:t>
            </a:r>
            <a:r>
              <a:rPr lang="en-US" sz="2000" dirty="0" err="1">
                <a:solidFill>
                  <a:srgbClr val="1A1A1A"/>
                </a:solidFill>
                <a:latin typeface="Aharoni" panose="02010803020104030203" pitchFamily="2" charset="-79"/>
                <a:ea typeface="Calibri" pitchFamily="34" charset="-122"/>
                <a:cs typeface="Aharoni" panose="02010803020104030203" pitchFamily="2" charset="-79"/>
              </a:rPr>
              <a:t>arquitectónicas</a:t>
            </a:r>
            <a:r>
              <a:rPr lang="en-US" sz="2000" dirty="0">
                <a:solidFill>
                  <a:srgbClr val="1A1A1A"/>
                </a:solidFill>
                <a:latin typeface="Aharoni" panose="02010803020104030203" pitchFamily="2" charset="-79"/>
                <a:ea typeface="Calibri" pitchFamily="34" charset="-122"/>
                <a:cs typeface="Aharoni" panose="02010803020104030203" pitchFamily="2" charset="-79"/>
              </a:rPr>
              <a:t>: Desarrollo, </a:t>
            </a:r>
            <a:r>
              <a:rPr lang="en-US" sz="2000" dirty="0" err="1">
                <a:solidFill>
                  <a:srgbClr val="1A1A1A"/>
                </a:solidFill>
                <a:latin typeface="Aharoni" panose="02010803020104030203" pitchFamily="2" charset="-79"/>
                <a:ea typeface="Calibri" pitchFamily="34" charset="-122"/>
                <a:cs typeface="Aharoni" panose="02010803020104030203" pitchFamily="2" charset="-79"/>
              </a:rPr>
              <a:t>Física</a:t>
            </a:r>
            <a:r>
              <a:rPr lang="en-US" sz="2000" dirty="0">
                <a:solidFill>
                  <a:srgbClr val="1A1A1A"/>
                </a:solidFill>
                <a:latin typeface="Aharoni" panose="02010803020104030203" pitchFamily="2" charset="-79"/>
                <a:ea typeface="Calibri" pitchFamily="34" charset="-122"/>
                <a:cs typeface="Aharoni" panose="02010803020104030203" pitchFamily="2" charset="-79"/>
              </a:rPr>
              <a:t>, </a:t>
            </a:r>
            <a:r>
              <a:rPr lang="en-US" sz="2000" dirty="0" err="1">
                <a:solidFill>
                  <a:srgbClr val="1A1A1A"/>
                </a:solidFill>
                <a:latin typeface="Aharoni" panose="02010803020104030203" pitchFamily="2" charset="-79"/>
                <a:ea typeface="Calibri" pitchFamily="34" charset="-122"/>
                <a:cs typeface="Aharoni" panose="02010803020104030203" pitchFamily="2" charset="-79"/>
              </a:rPr>
              <a:t>Lógica</a:t>
            </a:r>
            <a:endParaRPr lang="en-US" sz="2000" dirty="0">
              <a:latin typeface="Aharoni" panose="02010803020104030203" pitchFamily="2" charset="-79"/>
              <a:cs typeface="Aharoni" panose="02010803020104030203" pitchFamily="2" charset="-79"/>
            </a:endParaRPr>
          </a:p>
        </p:txBody>
      </p:sp>
      <p:sp>
        <p:nvSpPr>
          <p:cNvPr id="16" name="Shape 14"/>
          <p:cNvSpPr/>
          <p:nvPr/>
        </p:nvSpPr>
        <p:spPr>
          <a:xfrm>
            <a:off x="548640" y="3895344"/>
            <a:ext cx="457200" cy="457200"/>
          </a:xfrm>
          <a:prstGeom prst="ellipse">
            <a:avLst/>
          </a:prstGeom>
          <a:solidFill>
            <a:srgbClr val="FF4200"/>
          </a:solidFill>
          <a:ln/>
        </p:spPr>
        <p:txBody>
          <a:bodyPr/>
          <a:lstStyle/>
          <a:p>
            <a:endParaRPr lang="es-CL"/>
          </a:p>
        </p:txBody>
      </p:sp>
      <p:sp>
        <p:nvSpPr>
          <p:cNvPr id="17" name="Text 15"/>
          <p:cNvSpPr txBox="1"/>
          <p:nvPr/>
        </p:nvSpPr>
        <p:spPr>
          <a:xfrm>
            <a:off x="548640" y="3895344"/>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5</a:t>
            </a:r>
            <a:endParaRPr lang="en-US" sz="1600"/>
          </a:p>
        </p:txBody>
      </p:sp>
      <p:sp>
        <p:nvSpPr>
          <p:cNvPr id="18" name="Text 16"/>
          <p:cNvSpPr txBox="1"/>
          <p:nvPr/>
        </p:nvSpPr>
        <p:spPr>
          <a:xfrm>
            <a:off x="1143000" y="3849624"/>
            <a:ext cx="4846320" cy="548640"/>
          </a:xfrm>
          <a:prstGeom prst="rect">
            <a:avLst/>
          </a:prstGeom>
          <a:noFill/>
          <a:ln/>
        </p:spPr>
        <p:txBody>
          <a:bodyPr wrap="square" lIns="0" tIns="0" rIns="0" bIns="0" rtlCol="0" anchor="ctr"/>
          <a:lstStyle/>
          <a:p>
            <a:pPr marL="0" indent="0">
              <a:buNone/>
            </a:pPr>
            <a:r>
              <a:rPr lang="en-US" sz="2000" dirty="0" err="1">
                <a:solidFill>
                  <a:srgbClr val="1A1A1A"/>
                </a:solidFill>
                <a:latin typeface="Aharoni" panose="02010803020104030203" pitchFamily="2" charset="-79"/>
                <a:ea typeface="Calibri" pitchFamily="34" charset="-122"/>
                <a:cs typeface="Aharoni" panose="02010803020104030203" pitchFamily="2" charset="-79"/>
              </a:rPr>
              <a:t>Diagramas</a:t>
            </a:r>
            <a:r>
              <a:rPr lang="en-US" sz="2000" dirty="0">
                <a:solidFill>
                  <a:srgbClr val="1A1A1A"/>
                </a:solidFill>
                <a:latin typeface="Aharoni" panose="02010803020104030203" pitchFamily="2" charset="-79"/>
                <a:ea typeface="Calibri" pitchFamily="34" charset="-122"/>
                <a:cs typeface="Aharoni" panose="02010803020104030203" pitchFamily="2" charset="-79"/>
              </a:rPr>
              <a:t> de </a:t>
            </a:r>
            <a:r>
              <a:rPr lang="en-US" sz="2000" dirty="0" err="1">
                <a:solidFill>
                  <a:srgbClr val="1A1A1A"/>
                </a:solidFill>
                <a:latin typeface="Aharoni" panose="02010803020104030203" pitchFamily="2" charset="-79"/>
                <a:ea typeface="Calibri" pitchFamily="34" charset="-122"/>
                <a:cs typeface="Aharoni" panose="02010803020104030203" pitchFamily="2" charset="-79"/>
              </a:rPr>
              <a:t>secuencia</a:t>
            </a:r>
            <a:r>
              <a:rPr lang="en-US" sz="2000" dirty="0">
                <a:solidFill>
                  <a:srgbClr val="1A1A1A"/>
                </a:solidFill>
                <a:latin typeface="Aharoni" panose="02010803020104030203" pitchFamily="2" charset="-79"/>
                <a:ea typeface="Calibri" pitchFamily="34" charset="-122"/>
                <a:cs typeface="Aharoni" panose="02010803020104030203" pitchFamily="2" charset="-79"/>
              </a:rPr>
              <a:t> </a:t>
            </a:r>
            <a:endParaRPr lang="en-US" sz="2000" dirty="0">
              <a:latin typeface="Aharoni" panose="02010803020104030203" pitchFamily="2" charset="-79"/>
              <a:cs typeface="Aharoni" panose="02010803020104030203" pitchFamily="2" charset="-79"/>
            </a:endParaRPr>
          </a:p>
        </p:txBody>
      </p:sp>
      <p:sp>
        <p:nvSpPr>
          <p:cNvPr id="19" name="Shape 17"/>
          <p:cNvSpPr/>
          <p:nvPr/>
        </p:nvSpPr>
        <p:spPr>
          <a:xfrm>
            <a:off x="6217920" y="3895344"/>
            <a:ext cx="457200" cy="457200"/>
          </a:xfrm>
          <a:prstGeom prst="ellipse">
            <a:avLst/>
          </a:prstGeom>
          <a:solidFill>
            <a:srgbClr val="FF4200"/>
          </a:solidFill>
          <a:ln/>
        </p:spPr>
        <p:txBody>
          <a:bodyPr/>
          <a:lstStyle/>
          <a:p>
            <a:endParaRPr lang="es-CL"/>
          </a:p>
        </p:txBody>
      </p:sp>
      <p:sp>
        <p:nvSpPr>
          <p:cNvPr id="20" name="Text 18"/>
          <p:cNvSpPr txBox="1"/>
          <p:nvPr/>
        </p:nvSpPr>
        <p:spPr>
          <a:xfrm>
            <a:off x="6217920" y="3895344"/>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6</a:t>
            </a:r>
            <a:endParaRPr lang="en-US" sz="1600"/>
          </a:p>
        </p:txBody>
      </p:sp>
      <p:sp>
        <p:nvSpPr>
          <p:cNvPr id="21" name="Text 19"/>
          <p:cNvSpPr txBox="1"/>
          <p:nvPr/>
        </p:nvSpPr>
        <p:spPr>
          <a:xfrm>
            <a:off x="6812280" y="3849624"/>
            <a:ext cx="4846320" cy="548640"/>
          </a:xfrm>
          <a:prstGeom prst="rect">
            <a:avLst/>
          </a:prstGeom>
          <a:noFill/>
          <a:ln/>
        </p:spPr>
        <p:txBody>
          <a:bodyPr wrap="square" lIns="0" tIns="0" rIns="0" bIns="0" rtlCol="0" anchor="ctr"/>
          <a:lstStyle/>
          <a:p>
            <a:pPr marL="0" indent="0">
              <a:buNone/>
            </a:pPr>
            <a:r>
              <a:rPr lang="en-US" sz="2000" dirty="0" err="1">
                <a:solidFill>
                  <a:srgbClr val="1A1A1A"/>
                </a:solidFill>
                <a:latin typeface="Aharoni" panose="02010803020104030203" pitchFamily="2" charset="-79"/>
                <a:ea typeface="Calibri" pitchFamily="34" charset="-122"/>
                <a:cs typeface="Aharoni" panose="02010803020104030203" pitchFamily="2" charset="-79"/>
              </a:rPr>
              <a:t>Pruebas</a:t>
            </a:r>
            <a:r>
              <a:rPr lang="en-US" sz="2000" dirty="0">
                <a:solidFill>
                  <a:srgbClr val="1A1A1A"/>
                </a:solidFill>
                <a:latin typeface="Aharoni" panose="02010803020104030203" pitchFamily="2" charset="-79"/>
                <a:ea typeface="Calibri" pitchFamily="34" charset="-122"/>
                <a:cs typeface="Aharoni" panose="02010803020104030203" pitchFamily="2" charset="-79"/>
              </a:rPr>
              <a:t> </a:t>
            </a:r>
            <a:r>
              <a:rPr lang="en-US" sz="2000" dirty="0" err="1">
                <a:solidFill>
                  <a:srgbClr val="1A1A1A"/>
                </a:solidFill>
                <a:latin typeface="Aharoni" panose="02010803020104030203" pitchFamily="2" charset="-79"/>
                <a:ea typeface="Calibri" pitchFamily="34" charset="-122"/>
                <a:cs typeface="Aharoni" panose="02010803020104030203" pitchFamily="2" charset="-79"/>
              </a:rPr>
              <a:t>realizadas</a:t>
            </a:r>
            <a:endParaRPr lang="en-US" sz="2000" dirty="0">
              <a:latin typeface="Aharoni" panose="02010803020104030203" pitchFamily="2" charset="-79"/>
              <a:cs typeface="Aharoni" panose="02010803020104030203" pitchFamily="2" charset="-79"/>
            </a:endParaRPr>
          </a:p>
        </p:txBody>
      </p:sp>
      <p:sp>
        <p:nvSpPr>
          <p:cNvPr id="22" name="Shape 20"/>
          <p:cNvSpPr/>
          <p:nvPr/>
        </p:nvSpPr>
        <p:spPr>
          <a:xfrm>
            <a:off x="548640" y="4946904"/>
            <a:ext cx="457200" cy="457200"/>
          </a:xfrm>
          <a:prstGeom prst="ellipse">
            <a:avLst/>
          </a:prstGeom>
          <a:solidFill>
            <a:srgbClr val="FF4200"/>
          </a:solidFill>
          <a:ln/>
        </p:spPr>
        <p:txBody>
          <a:bodyPr/>
          <a:lstStyle/>
          <a:p>
            <a:endParaRPr lang="es-CL"/>
          </a:p>
        </p:txBody>
      </p:sp>
      <p:sp>
        <p:nvSpPr>
          <p:cNvPr id="23" name="Text 21"/>
          <p:cNvSpPr txBox="1"/>
          <p:nvPr/>
        </p:nvSpPr>
        <p:spPr>
          <a:xfrm>
            <a:off x="548640" y="4946904"/>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7</a:t>
            </a:r>
            <a:endParaRPr lang="en-US" sz="1600"/>
          </a:p>
        </p:txBody>
      </p:sp>
      <p:sp>
        <p:nvSpPr>
          <p:cNvPr id="24" name="Text 22"/>
          <p:cNvSpPr txBox="1"/>
          <p:nvPr/>
        </p:nvSpPr>
        <p:spPr>
          <a:xfrm>
            <a:off x="1143000" y="4901184"/>
            <a:ext cx="4846320" cy="548640"/>
          </a:xfrm>
          <a:prstGeom prst="rect">
            <a:avLst/>
          </a:prstGeom>
          <a:noFill/>
          <a:ln/>
        </p:spPr>
        <p:txBody>
          <a:bodyPr wrap="square" lIns="0" tIns="0" rIns="0" bIns="0" rtlCol="0" anchor="ctr"/>
          <a:lstStyle/>
          <a:p>
            <a:pPr marL="0" indent="0">
              <a:buNone/>
            </a:pPr>
            <a:r>
              <a:rPr lang="en-US" sz="2000" dirty="0" err="1">
                <a:solidFill>
                  <a:srgbClr val="1A1A1A"/>
                </a:solidFill>
                <a:latin typeface="Aharoni" panose="02010803020104030203" pitchFamily="2" charset="-79"/>
                <a:ea typeface="Calibri" pitchFamily="34" charset="-122"/>
                <a:cs typeface="Aharoni" panose="02010803020104030203" pitchFamily="2" charset="-79"/>
              </a:rPr>
              <a:t>Retrospectiva</a:t>
            </a:r>
            <a:r>
              <a:rPr lang="en-US" sz="2000" dirty="0">
                <a:solidFill>
                  <a:srgbClr val="1A1A1A"/>
                </a:solidFill>
                <a:latin typeface="Aharoni" panose="02010803020104030203" pitchFamily="2" charset="-79"/>
                <a:ea typeface="Calibri" pitchFamily="34" charset="-122"/>
                <a:cs typeface="Aharoni" panose="02010803020104030203" pitchFamily="2" charset="-79"/>
              </a:rPr>
              <a:t> y </a:t>
            </a:r>
            <a:r>
              <a:rPr lang="en-US" sz="2000" dirty="0" err="1">
                <a:solidFill>
                  <a:srgbClr val="1A1A1A"/>
                </a:solidFill>
                <a:latin typeface="Aharoni" panose="02010803020104030203" pitchFamily="2" charset="-79"/>
                <a:ea typeface="Calibri" pitchFamily="34" charset="-122"/>
                <a:cs typeface="Aharoni" panose="02010803020104030203" pitchFamily="2" charset="-79"/>
              </a:rPr>
              <a:t>métricas</a:t>
            </a:r>
            <a:endParaRPr lang="en-US" sz="2000" dirty="0">
              <a:latin typeface="Aharoni" panose="02010803020104030203" pitchFamily="2" charset="-79"/>
              <a:cs typeface="Aharoni" panose="02010803020104030203" pitchFamily="2" charset="-79"/>
            </a:endParaRPr>
          </a:p>
        </p:txBody>
      </p:sp>
      <p:sp>
        <p:nvSpPr>
          <p:cNvPr id="25" name="Shape 23"/>
          <p:cNvSpPr/>
          <p:nvPr/>
        </p:nvSpPr>
        <p:spPr>
          <a:xfrm>
            <a:off x="6217920" y="4946904"/>
            <a:ext cx="457200" cy="457200"/>
          </a:xfrm>
          <a:prstGeom prst="ellipse">
            <a:avLst/>
          </a:prstGeom>
          <a:solidFill>
            <a:srgbClr val="FF4200"/>
          </a:solidFill>
          <a:ln/>
        </p:spPr>
        <p:txBody>
          <a:bodyPr/>
          <a:lstStyle/>
          <a:p>
            <a:endParaRPr lang="es-CL"/>
          </a:p>
        </p:txBody>
      </p:sp>
      <p:sp>
        <p:nvSpPr>
          <p:cNvPr id="26" name="Text 24"/>
          <p:cNvSpPr txBox="1"/>
          <p:nvPr/>
        </p:nvSpPr>
        <p:spPr>
          <a:xfrm>
            <a:off x="6217920" y="494690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27" name="Text 25"/>
          <p:cNvSpPr txBox="1"/>
          <p:nvPr/>
        </p:nvSpPr>
        <p:spPr>
          <a:xfrm>
            <a:off x="6812280" y="4901184"/>
            <a:ext cx="4846320" cy="548640"/>
          </a:xfrm>
          <a:prstGeom prst="rect">
            <a:avLst/>
          </a:prstGeom>
          <a:noFill/>
          <a:ln/>
        </p:spPr>
        <p:txBody>
          <a:bodyPr wrap="square" lIns="0" tIns="0" rIns="0" bIns="0" rtlCol="0" anchor="ctr"/>
          <a:lstStyle/>
          <a:p>
            <a:pPr marL="0" indent="0">
              <a:buNone/>
            </a:pPr>
            <a:r>
              <a:rPr lang="en-US" sz="2000" dirty="0" err="1">
                <a:solidFill>
                  <a:srgbClr val="1A1A1A"/>
                </a:solidFill>
                <a:latin typeface="Aharoni" panose="02010803020104030203" pitchFamily="2" charset="-79"/>
                <a:ea typeface="Calibri" pitchFamily="34" charset="-122"/>
                <a:cs typeface="Aharoni" panose="02010803020104030203" pitchFamily="2" charset="-79"/>
              </a:rPr>
              <a:t>Conclusiones</a:t>
            </a:r>
            <a:r>
              <a:rPr lang="en-US" sz="2000" dirty="0">
                <a:solidFill>
                  <a:srgbClr val="1A1A1A"/>
                </a:solidFill>
                <a:latin typeface="Aharoni" panose="02010803020104030203" pitchFamily="2" charset="-79"/>
                <a:ea typeface="Calibri" pitchFamily="34" charset="-122"/>
                <a:cs typeface="Aharoni" panose="02010803020104030203" pitchFamily="2" charset="-79"/>
              </a:rPr>
              <a:t> y </a:t>
            </a:r>
            <a:r>
              <a:rPr lang="en-US" sz="2000" dirty="0" err="1">
                <a:solidFill>
                  <a:srgbClr val="1A1A1A"/>
                </a:solidFill>
                <a:latin typeface="Aharoni" panose="02010803020104030203" pitchFamily="2" charset="-79"/>
                <a:ea typeface="Calibri" pitchFamily="34" charset="-122"/>
                <a:cs typeface="Aharoni" panose="02010803020104030203" pitchFamily="2" charset="-79"/>
              </a:rPr>
              <a:t>próximos</a:t>
            </a:r>
            <a:r>
              <a:rPr lang="en-US" sz="2000" dirty="0">
                <a:solidFill>
                  <a:srgbClr val="1A1A1A"/>
                </a:solidFill>
                <a:latin typeface="Aharoni" panose="02010803020104030203" pitchFamily="2" charset="-79"/>
                <a:ea typeface="Calibri" pitchFamily="34" charset="-122"/>
                <a:cs typeface="Aharoni" panose="02010803020104030203" pitchFamily="2" charset="-79"/>
              </a:rPr>
              <a:t> pasos</a:t>
            </a:r>
            <a:endParaRPr lang="en-US" sz="2000" dirty="0">
              <a:latin typeface="Aharoni" panose="02010803020104030203" pitchFamily="2" charset="-79"/>
              <a:cs typeface="Aharoni" panose="02010803020104030203" pitchFamily="2" charset="-79"/>
            </a:endParaRPr>
          </a:p>
        </p:txBody>
      </p:sp>
      <p:sp>
        <p:nvSpPr>
          <p:cNvPr id="28" name="Text 26"/>
          <p:cNvSpPr txBox="1"/>
          <p:nvPr/>
        </p:nvSpPr>
        <p:spPr>
          <a:xfrm>
            <a:off x="548640" y="6446520"/>
            <a:ext cx="10543032" cy="27432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Sistema de Gestión de Adquisiciones e Inventario  |  Constructora M5 SpA</a:t>
            </a:r>
            <a:endParaRPr lang="en-US" sz="900"/>
          </a:p>
        </p:txBody>
      </p:sp>
      <p:sp>
        <p:nvSpPr>
          <p:cNvPr id="29" name="Text 27"/>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900">
                <a:solidFill>
                  <a:srgbClr val="6B7280"/>
                </a:solidFill>
                <a:latin typeface="Calibri" pitchFamily="34" charset="0"/>
                <a:ea typeface="Calibri" pitchFamily="34" charset="-122"/>
                <a:cs typeface="Calibri" pitchFamily="34" charset="-120"/>
              </a:rPr>
              <a:t>2</a:t>
            </a:r>
            <a:endParaRPr lang="en-US" sz="900"/>
          </a:p>
        </p:txBody>
      </p:sp>
      <p:pic>
        <p:nvPicPr>
          <p:cNvPr id="31" name="Picture 30">
            <a:extLst>
              <a:ext uri="{FF2B5EF4-FFF2-40B4-BE49-F238E27FC236}">
                <a16:creationId xmlns:a16="http://schemas.microsoft.com/office/drawing/2014/main" id="{43D8FBAB-00ED-CAF1-F398-3F8FA5780E6F}"/>
              </a:ext>
            </a:extLst>
          </p:cNvPr>
          <p:cNvPicPr>
            <a:picLocks noChangeAspect="1"/>
          </p:cNvPicPr>
          <p:nvPr/>
        </p:nvPicPr>
        <p:blipFill>
          <a:blip r:embed="rId3"/>
          <a:stretch>
            <a:fillRect/>
          </a:stretch>
        </p:blipFill>
        <p:spPr>
          <a:xfrm>
            <a:off x="10247110" y="518323"/>
            <a:ext cx="1484642" cy="920169"/>
          </a:xfrm>
          <a:prstGeom prst="rect">
            <a:avLst/>
          </a:prstGeom>
        </p:spPr>
      </p:pic>
      <p:sp>
        <p:nvSpPr>
          <p:cNvPr id="34" name="Shape 23">
            <a:extLst>
              <a:ext uri="{FF2B5EF4-FFF2-40B4-BE49-F238E27FC236}">
                <a16:creationId xmlns:a16="http://schemas.microsoft.com/office/drawing/2014/main" id="{CB84AED4-B7F1-DD69-0443-0D005591DCC8}"/>
              </a:ext>
            </a:extLst>
          </p:cNvPr>
          <p:cNvSpPr/>
          <p:nvPr/>
        </p:nvSpPr>
        <p:spPr>
          <a:xfrm>
            <a:off x="548640" y="5769864"/>
            <a:ext cx="457200" cy="457200"/>
          </a:xfrm>
          <a:prstGeom prst="ellipse">
            <a:avLst/>
          </a:prstGeom>
          <a:solidFill>
            <a:srgbClr val="FF4200"/>
          </a:solidFill>
          <a:ln/>
        </p:spPr>
        <p:txBody>
          <a:bodyPr/>
          <a:lstStyle/>
          <a:p>
            <a:endParaRPr lang="es-CL" dirty="0"/>
          </a:p>
        </p:txBody>
      </p:sp>
      <p:sp>
        <p:nvSpPr>
          <p:cNvPr id="36" name="TextBox 35">
            <a:extLst>
              <a:ext uri="{FF2B5EF4-FFF2-40B4-BE49-F238E27FC236}">
                <a16:creationId xmlns:a16="http://schemas.microsoft.com/office/drawing/2014/main" id="{1A17CC5F-0303-0ABE-ACFC-B259B60B8ABF}"/>
              </a:ext>
            </a:extLst>
          </p:cNvPr>
          <p:cNvSpPr txBox="1"/>
          <p:nvPr/>
        </p:nvSpPr>
        <p:spPr>
          <a:xfrm>
            <a:off x="642560" y="5821100"/>
            <a:ext cx="269359" cy="338554"/>
          </a:xfrm>
          <a:prstGeom prst="rect">
            <a:avLst/>
          </a:prstGeom>
          <a:noFill/>
        </p:spPr>
        <p:txBody>
          <a:bodyPr wrap="square">
            <a:spAutoFit/>
          </a:bodyPr>
          <a:lstStyle/>
          <a:p>
            <a:r>
              <a:rPr lang="en-US" sz="1600" b="1" dirty="0">
                <a:solidFill>
                  <a:srgbClr val="FFFFFF"/>
                </a:solidFill>
                <a:latin typeface="Calibri" pitchFamily="34" charset="0"/>
                <a:cs typeface="Calibri" pitchFamily="34" charset="-120"/>
              </a:rPr>
              <a:t>9</a:t>
            </a:r>
            <a:endParaRPr lang="es-CL" dirty="0"/>
          </a:p>
        </p:txBody>
      </p:sp>
      <p:sp>
        <p:nvSpPr>
          <p:cNvPr id="40" name="TextBox 39">
            <a:extLst>
              <a:ext uri="{FF2B5EF4-FFF2-40B4-BE49-F238E27FC236}">
                <a16:creationId xmlns:a16="http://schemas.microsoft.com/office/drawing/2014/main" id="{ADF19244-2B30-2DA6-2241-341FADD46267}"/>
              </a:ext>
            </a:extLst>
          </p:cNvPr>
          <p:cNvSpPr txBox="1"/>
          <p:nvPr/>
        </p:nvSpPr>
        <p:spPr>
          <a:xfrm>
            <a:off x="1143000" y="5786366"/>
            <a:ext cx="6096000" cy="369332"/>
          </a:xfrm>
          <a:prstGeom prst="rect">
            <a:avLst/>
          </a:prstGeom>
          <a:noFill/>
        </p:spPr>
        <p:txBody>
          <a:bodyPr wrap="square">
            <a:spAutoFit/>
          </a:bodyPr>
          <a:lstStyle/>
          <a:p>
            <a:r>
              <a:rPr lang="es-MX" dirty="0">
                <a:latin typeface="Aharoni" panose="02010803020104030203" pitchFamily="2" charset="-79"/>
                <a:cs typeface="Aharoni" panose="02010803020104030203" pitchFamily="2" charset="-79"/>
              </a:rPr>
              <a:t>DEMO</a:t>
            </a:r>
            <a:endParaRPr lang="es-CL" dirty="0">
              <a:latin typeface="Aharoni" panose="02010803020104030203" pitchFamily="2" charset="-79"/>
              <a:cs typeface="Aharoni" panose="02010803020104030203" pitchFamily="2" charset="-79"/>
            </a:endParaRPr>
          </a:p>
        </p:txBody>
      </p:sp>
    </p:spTree>
  </p:cSld>
  <p:clrMapOvr>
    <a:masterClrMapping/>
  </p:clrMapOvr>
  <mc:AlternateContent xmlns:mc="http://schemas.openxmlformats.org/markup-compatibility/2006" xmlns:p14="http://schemas.microsoft.com/office/powerpoint/2010/main">
    <mc:Choice Requires="p14">
      <p:transition spd="slow" p14:dur="2000" advTm="2842"/>
    </mc:Choice>
    <mc:Fallback xmlns="">
      <p:transition spd="slow" advTm="284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320040"/>
          </a:xfrm>
          <a:prstGeom prst="rect">
            <a:avLst/>
          </a:prstGeom>
          <a:noFill/>
          <a:ln/>
        </p:spPr>
        <p:txBody>
          <a:bodyPr wrap="square" lIns="0" tIns="0" rIns="0" bIns="0" rtlCol="0" anchor="ctr"/>
          <a:lstStyle/>
          <a:p>
            <a:pPr marL="0" indent="0">
              <a:buNone/>
            </a:pPr>
            <a:r>
              <a:rPr lang="en-US" sz="1200" b="1" kern="0" spc="200">
                <a:solidFill>
                  <a:srgbClr val="FF4200"/>
                </a:solidFill>
                <a:latin typeface="Aharoni" panose="02010803020104030203" pitchFamily="2" charset="-79"/>
                <a:ea typeface="Calibri" pitchFamily="34" charset="-122"/>
                <a:cs typeface="Aharoni" panose="02010803020104030203" pitchFamily="2" charset="-79"/>
              </a:rPr>
              <a:t>CONTEXTO</a:t>
            </a:r>
            <a:endParaRPr lang="en-US" sz="1200">
              <a:latin typeface="Aharoni" panose="02010803020104030203" pitchFamily="2" charset="-79"/>
              <a:cs typeface="Aharoni" panose="02010803020104030203" pitchFamily="2" charset="-79"/>
            </a:endParaRPr>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marL="0" indent="0">
              <a:buNone/>
            </a:pPr>
            <a:r>
              <a:rPr lang="en-US" sz="4400" b="1" dirty="0" err="1">
                <a:solidFill>
                  <a:srgbClr val="262626"/>
                </a:solidFill>
                <a:latin typeface="Aharoni" panose="02010803020104030203" pitchFamily="2" charset="-79"/>
                <a:ea typeface="Calibri" pitchFamily="34" charset="-122"/>
                <a:cs typeface="Aharoni" panose="02010803020104030203" pitchFamily="2" charset="-79"/>
              </a:rPr>
              <a:t>Recapitulación</a:t>
            </a:r>
            <a:r>
              <a:rPr lang="en-US" sz="4400" b="1" dirty="0">
                <a:solidFill>
                  <a:srgbClr val="262626"/>
                </a:solidFill>
                <a:latin typeface="Aharoni" panose="02010803020104030203" pitchFamily="2" charset="-79"/>
                <a:ea typeface="Calibri" pitchFamily="34" charset="-122"/>
                <a:cs typeface="Aharoni" panose="02010803020104030203" pitchFamily="2" charset="-79"/>
              </a:rPr>
              <a:t> — </a:t>
            </a:r>
            <a:r>
              <a:rPr lang="en-US" sz="4400" b="1" dirty="0" err="1">
                <a:solidFill>
                  <a:srgbClr val="262626"/>
                </a:solidFill>
                <a:latin typeface="Aharoni" panose="02010803020104030203" pitchFamily="2" charset="-79"/>
                <a:ea typeface="Calibri" pitchFamily="34" charset="-122"/>
                <a:cs typeface="Aharoni" panose="02010803020104030203" pitchFamily="2" charset="-79"/>
              </a:rPr>
              <a:t>Incremento</a:t>
            </a:r>
            <a:r>
              <a:rPr lang="en-US" sz="4400" b="1" dirty="0">
                <a:solidFill>
                  <a:srgbClr val="262626"/>
                </a:solidFill>
                <a:latin typeface="Aharoni" panose="02010803020104030203" pitchFamily="2" charset="-79"/>
                <a:ea typeface="Calibri" pitchFamily="34" charset="-122"/>
                <a:cs typeface="Aharoni" panose="02010803020104030203" pitchFamily="2" charset="-79"/>
              </a:rPr>
              <a:t> </a:t>
            </a:r>
            <a:r>
              <a:rPr lang="en-US" sz="6000" b="1" dirty="0">
                <a:solidFill>
                  <a:srgbClr val="262626"/>
                </a:solidFill>
                <a:latin typeface="Aharoni" panose="02010803020104030203" pitchFamily="2" charset="-79"/>
                <a:ea typeface="Calibri" pitchFamily="34" charset="-122"/>
                <a:cs typeface="Aharoni" panose="02010803020104030203" pitchFamily="2" charset="-79"/>
              </a:rPr>
              <a:t>1</a:t>
            </a:r>
            <a:endParaRPr lang="en-US" sz="6000" dirty="0">
              <a:latin typeface="Aharoni" panose="02010803020104030203" pitchFamily="2" charset="-79"/>
              <a:cs typeface="Aharoni" panose="02010803020104030203" pitchFamily="2" charset="-79"/>
            </a:endParaRPr>
          </a:p>
        </p:txBody>
      </p:sp>
      <p:sp>
        <p:nvSpPr>
          <p:cNvPr id="4" name="Text 2"/>
          <p:cNvSpPr txBox="1"/>
          <p:nvPr/>
        </p:nvSpPr>
        <p:spPr>
          <a:xfrm>
            <a:off x="1166920" y="3003592"/>
            <a:ext cx="10157106" cy="1713176"/>
          </a:xfrm>
          <a:prstGeom prst="rect">
            <a:avLst/>
          </a:prstGeom>
          <a:noFill/>
          <a:ln/>
        </p:spPr>
        <p:txBody>
          <a:bodyPr wrap="square" lIns="0" tIns="0" rIns="0" bIns="0" rtlCol="0" anchor="ctr"/>
          <a:lstStyle/>
          <a:p>
            <a:pPr marL="0" indent="0">
              <a:buNone/>
            </a:pPr>
            <a:r>
              <a:rPr lang="en-US" sz="1800" b="1" dirty="0">
                <a:solidFill>
                  <a:srgbClr val="262626"/>
                </a:solidFill>
              </a:rPr>
              <a:t>
</a:t>
            </a:r>
            <a:endParaRPr lang="en-US" sz="1800" dirty="0"/>
          </a:p>
          <a:p>
            <a:pPr marL="0" indent="0">
              <a:spcAft>
                <a:spcPts val="600"/>
              </a:spcAft>
              <a:buNone/>
            </a:pPr>
            <a:r>
              <a:rPr lang="en-US" sz="1400" b="1" dirty="0" err="1">
                <a:solidFill>
                  <a:srgbClr val="1A1A1A"/>
                </a:solidFill>
              </a:rPr>
              <a:t>Módulos</a:t>
            </a:r>
            <a:r>
              <a:rPr lang="en-US" sz="1400" b="1" dirty="0">
                <a:solidFill>
                  <a:srgbClr val="1A1A1A"/>
                </a:solidFill>
              </a:rPr>
              <a:t> base </a:t>
            </a:r>
            <a:r>
              <a:rPr lang="en-US" sz="1400" b="1" dirty="0" err="1">
                <a:solidFill>
                  <a:srgbClr val="1A1A1A"/>
                </a:solidFill>
              </a:rPr>
              <a:t>construidos</a:t>
            </a:r>
            <a:r>
              <a:rPr lang="en-US" sz="1400" b="1" dirty="0">
                <a:solidFill>
                  <a:srgbClr val="1A1A1A"/>
                </a:solidFill>
              </a:rPr>
              <a:t>:</a:t>
            </a:r>
            <a:endParaRPr lang="en-US" dirty="0"/>
          </a:p>
          <a:p>
            <a:pPr marL="342900" indent="-342900">
              <a:spcAft>
                <a:spcPts val="400"/>
              </a:spcAft>
              <a:buSzPct val="100000"/>
              <a:buChar char="•"/>
            </a:pPr>
            <a:r>
              <a:rPr lang="en-US" sz="1300" dirty="0" err="1">
                <a:solidFill>
                  <a:srgbClr val="1A1A1A"/>
                </a:solidFill>
              </a:rPr>
              <a:t>Gestión</a:t>
            </a:r>
            <a:r>
              <a:rPr lang="en-US" sz="1300" dirty="0">
                <a:solidFill>
                  <a:srgbClr val="1A1A1A"/>
                </a:solidFill>
              </a:rPr>
              <a:t> de </a:t>
            </a:r>
            <a:r>
              <a:rPr lang="en-US" sz="1300" dirty="0" err="1">
                <a:solidFill>
                  <a:srgbClr val="1A1A1A"/>
                </a:solidFill>
              </a:rPr>
              <a:t>Proveedores</a:t>
            </a:r>
            <a:r>
              <a:rPr lang="en-US" sz="1300" dirty="0">
                <a:solidFill>
                  <a:srgbClr val="1A1A1A"/>
                </a:solidFill>
              </a:rPr>
              <a:t> (</a:t>
            </a:r>
            <a:r>
              <a:rPr lang="en-US" sz="1300" dirty="0" err="1">
                <a:solidFill>
                  <a:srgbClr val="1A1A1A"/>
                </a:solidFill>
              </a:rPr>
              <a:t>registro</a:t>
            </a:r>
            <a:r>
              <a:rPr lang="en-US" sz="1300" dirty="0">
                <a:solidFill>
                  <a:srgbClr val="1A1A1A"/>
                </a:solidFill>
              </a:rPr>
              <a:t>, RUT) — </a:t>
            </a:r>
            <a:r>
              <a:rPr lang="en-US" sz="1300" dirty="0" err="1">
                <a:solidFill>
                  <a:srgbClr val="1A1A1A"/>
                </a:solidFill>
              </a:rPr>
              <a:t>parcial</a:t>
            </a:r>
            <a:endParaRPr lang="en-US" sz="1800" dirty="0"/>
          </a:p>
          <a:p>
            <a:pPr marL="342900" indent="-342900">
              <a:spcAft>
                <a:spcPts val="400"/>
              </a:spcAft>
              <a:buSzPct val="100000"/>
              <a:buChar char="•"/>
            </a:pPr>
            <a:r>
              <a:rPr lang="en-US" sz="1300" dirty="0" err="1">
                <a:solidFill>
                  <a:srgbClr val="1A1A1A"/>
                </a:solidFill>
              </a:rPr>
              <a:t>Gestión</a:t>
            </a:r>
            <a:r>
              <a:rPr lang="en-US" sz="1300" dirty="0">
                <a:solidFill>
                  <a:srgbClr val="1A1A1A"/>
                </a:solidFill>
              </a:rPr>
              <a:t> de </a:t>
            </a:r>
            <a:r>
              <a:rPr lang="en-US" sz="1300" dirty="0" err="1">
                <a:solidFill>
                  <a:srgbClr val="1A1A1A"/>
                </a:solidFill>
              </a:rPr>
              <a:t>Proyectos</a:t>
            </a:r>
            <a:r>
              <a:rPr lang="en-US" sz="1300" dirty="0">
                <a:solidFill>
                  <a:srgbClr val="1A1A1A"/>
                </a:solidFill>
              </a:rPr>
              <a:t> e </a:t>
            </a:r>
            <a:r>
              <a:rPr lang="en-US" sz="1300" dirty="0" err="1">
                <a:solidFill>
                  <a:srgbClr val="1A1A1A"/>
                </a:solidFill>
              </a:rPr>
              <a:t>Itemizado</a:t>
            </a:r>
            <a:r>
              <a:rPr lang="en-US" sz="1300" dirty="0">
                <a:solidFill>
                  <a:srgbClr val="1A1A1A"/>
                </a:solidFill>
              </a:rPr>
              <a:t> — </a:t>
            </a:r>
            <a:r>
              <a:rPr lang="en-US" sz="1300" dirty="0" err="1">
                <a:solidFill>
                  <a:srgbClr val="1A1A1A"/>
                </a:solidFill>
              </a:rPr>
              <a:t>parcial</a:t>
            </a:r>
            <a:endParaRPr lang="en-US" sz="1800" dirty="0"/>
          </a:p>
          <a:p>
            <a:pPr marL="342900" indent="-342900">
              <a:spcAft>
                <a:spcPts val="400"/>
              </a:spcAft>
              <a:buSzPct val="100000"/>
              <a:buChar char="•"/>
            </a:pPr>
            <a:r>
              <a:rPr lang="en-US" sz="1300" dirty="0" err="1">
                <a:solidFill>
                  <a:srgbClr val="1A1A1A"/>
                </a:solidFill>
              </a:rPr>
              <a:t>Solicitud</a:t>
            </a:r>
            <a:r>
              <a:rPr lang="en-US" sz="1300" dirty="0">
                <a:solidFill>
                  <a:srgbClr val="1A1A1A"/>
                </a:solidFill>
              </a:rPr>
              <a:t> de </a:t>
            </a:r>
            <a:r>
              <a:rPr lang="en-US" sz="1300" dirty="0" err="1">
                <a:solidFill>
                  <a:srgbClr val="1A1A1A"/>
                </a:solidFill>
              </a:rPr>
              <a:t>Materiales</a:t>
            </a:r>
            <a:r>
              <a:rPr lang="en-US" sz="1300" dirty="0">
                <a:solidFill>
                  <a:srgbClr val="1A1A1A"/>
                </a:solidFill>
              </a:rPr>
              <a:t> — </a:t>
            </a:r>
            <a:r>
              <a:rPr lang="en-US" sz="1300" dirty="0" err="1">
                <a:solidFill>
                  <a:srgbClr val="1A1A1A"/>
                </a:solidFill>
              </a:rPr>
              <a:t>parcial</a:t>
            </a:r>
            <a:endParaRPr lang="en-US" sz="1800" dirty="0"/>
          </a:p>
          <a:p>
            <a:pPr marL="342900" indent="-342900">
              <a:spcAft>
                <a:spcPts val="400"/>
              </a:spcAft>
              <a:buSzPct val="100000"/>
              <a:buChar char="•"/>
            </a:pPr>
            <a:r>
              <a:rPr lang="en-US" sz="1300" dirty="0" err="1">
                <a:solidFill>
                  <a:srgbClr val="1A1A1A"/>
                </a:solidFill>
              </a:rPr>
              <a:t>Adquisiciones</a:t>
            </a:r>
            <a:r>
              <a:rPr lang="en-US" sz="1300" dirty="0">
                <a:solidFill>
                  <a:srgbClr val="1A1A1A"/>
                </a:solidFill>
              </a:rPr>
              <a:t> y </a:t>
            </a:r>
            <a:r>
              <a:rPr lang="en-US" sz="1300" dirty="0" err="1">
                <a:solidFill>
                  <a:srgbClr val="1A1A1A"/>
                </a:solidFill>
              </a:rPr>
              <a:t>Cotizaciones</a:t>
            </a:r>
            <a:r>
              <a:rPr lang="en-US" sz="1300" dirty="0">
                <a:solidFill>
                  <a:srgbClr val="1A1A1A"/>
                </a:solidFill>
              </a:rPr>
              <a:t> — </a:t>
            </a:r>
            <a:r>
              <a:rPr lang="en-US" sz="1300" dirty="0" err="1">
                <a:solidFill>
                  <a:srgbClr val="1A1A1A"/>
                </a:solidFill>
              </a:rPr>
              <a:t>parcial</a:t>
            </a:r>
            <a:r>
              <a:rPr lang="en-US" sz="1300" dirty="0">
                <a:solidFill>
                  <a:srgbClr val="1A1A1A"/>
                </a:solidFill>
              </a:rPr>
              <a:t> (</a:t>
            </a:r>
            <a:r>
              <a:rPr lang="en-US" sz="1300" dirty="0" err="1">
                <a:solidFill>
                  <a:srgbClr val="1A1A1A"/>
                </a:solidFill>
              </a:rPr>
              <a:t>bandeja</a:t>
            </a:r>
            <a:r>
              <a:rPr lang="en-US" sz="1300" dirty="0">
                <a:solidFill>
                  <a:srgbClr val="1A1A1A"/>
                </a:solidFill>
              </a:rPr>
              <a:t> de entrada de SM)</a:t>
            </a:r>
            <a:endParaRPr lang="en-US" sz="1800" dirty="0"/>
          </a:p>
          <a:p>
            <a:pPr marL="342900" indent="-342900">
              <a:buSzPct val="100000"/>
              <a:buChar char="•"/>
            </a:pPr>
            <a:r>
              <a:rPr lang="en-US" sz="1300" dirty="0" err="1">
                <a:solidFill>
                  <a:srgbClr val="1A1A1A"/>
                </a:solidFill>
              </a:rPr>
              <a:t>Autenticación</a:t>
            </a:r>
            <a:r>
              <a:rPr lang="en-US" sz="1300" dirty="0">
                <a:solidFill>
                  <a:srgbClr val="1A1A1A"/>
                </a:solidFill>
              </a:rPr>
              <a:t>, </a:t>
            </a:r>
            <a:r>
              <a:rPr lang="en-US" sz="1300" dirty="0" err="1">
                <a:solidFill>
                  <a:srgbClr val="1A1A1A"/>
                </a:solidFill>
              </a:rPr>
              <a:t>gestión</a:t>
            </a:r>
            <a:r>
              <a:rPr lang="en-US" sz="1300" dirty="0">
                <a:solidFill>
                  <a:srgbClr val="1A1A1A"/>
                </a:solidFill>
              </a:rPr>
              <a:t> de </a:t>
            </a:r>
            <a:r>
              <a:rPr lang="en-US" sz="1300" dirty="0" err="1">
                <a:solidFill>
                  <a:srgbClr val="1A1A1A"/>
                </a:solidFill>
              </a:rPr>
              <a:t>cuentas</a:t>
            </a:r>
            <a:r>
              <a:rPr lang="en-US" sz="1300" dirty="0">
                <a:solidFill>
                  <a:srgbClr val="1A1A1A"/>
                </a:solidFill>
              </a:rPr>
              <a:t> de </a:t>
            </a:r>
            <a:r>
              <a:rPr lang="en-US" sz="1300" dirty="0" err="1">
                <a:solidFill>
                  <a:srgbClr val="1A1A1A"/>
                </a:solidFill>
              </a:rPr>
              <a:t>usuario</a:t>
            </a:r>
            <a:r>
              <a:rPr lang="en-US" sz="1300" dirty="0">
                <a:solidFill>
                  <a:srgbClr val="1A1A1A"/>
                </a:solidFill>
              </a:rPr>
              <a:t> y </a:t>
            </a:r>
            <a:r>
              <a:rPr lang="en-US" sz="1300" dirty="0" err="1">
                <a:solidFill>
                  <a:srgbClr val="1A1A1A"/>
                </a:solidFill>
              </a:rPr>
              <a:t>auditoría</a:t>
            </a:r>
            <a:endParaRPr lang="en-US" sz="1800" dirty="0"/>
          </a:p>
        </p:txBody>
      </p:sp>
      <p:sp>
        <p:nvSpPr>
          <p:cNvPr id="5" name="Text 3"/>
          <p:cNvSpPr txBox="1"/>
          <p:nvPr/>
        </p:nvSpPr>
        <p:spPr>
          <a:xfrm>
            <a:off x="548640" y="6446520"/>
            <a:ext cx="10543032" cy="27432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Sistema de Gestión de Adquisiciones e Inventario  |  Constructora M5 SpA</a:t>
            </a:r>
            <a:endParaRPr lang="en-US" sz="900"/>
          </a:p>
        </p:txBody>
      </p:sp>
      <p:sp>
        <p:nvSpPr>
          <p:cNvPr id="6" name="Text 4"/>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900">
                <a:solidFill>
                  <a:srgbClr val="6B7280"/>
                </a:solidFill>
                <a:latin typeface="Calibri" pitchFamily="34" charset="0"/>
                <a:ea typeface="Calibri" pitchFamily="34" charset="-122"/>
                <a:cs typeface="Calibri" pitchFamily="34" charset="-120"/>
              </a:rPr>
              <a:t>3</a:t>
            </a:r>
            <a:endParaRPr lang="en-US" sz="900"/>
          </a:p>
        </p:txBody>
      </p:sp>
      <p:pic>
        <p:nvPicPr>
          <p:cNvPr id="8" name="Picture 7">
            <a:extLst>
              <a:ext uri="{FF2B5EF4-FFF2-40B4-BE49-F238E27FC236}">
                <a16:creationId xmlns:a16="http://schemas.microsoft.com/office/drawing/2014/main" id="{B233B3C6-00FF-DB73-0E17-8EA76FBCB035}"/>
              </a:ext>
            </a:extLst>
          </p:cNvPr>
          <p:cNvPicPr>
            <a:picLocks noChangeAspect="1"/>
          </p:cNvPicPr>
          <p:nvPr/>
        </p:nvPicPr>
        <p:blipFill>
          <a:blip r:embed="rId3"/>
          <a:stretch>
            <a:fillRect/>
          </a:stretch>
        </p:blipFill>
        <p:spPr>
          <a:xfrm>
            <a:off x="10247110" y="518323"/>
            <a:ext cx="1484642" cy="920169"/>
          </a:xfrm>
          <a:prstGeom prst="rect">
            <a:avLst/>
          </a:prstGeom>
        </p:spPr>
      </p:pic>
      <p:sp>
        <p:nvSpPr>
          <p:cNvPr id="7" name="Rectangle: Rounded Corners 6">
            <a:extLst>
              <a:ext uri="{FF2B5EF4-FFF2-40B4-BE49-F238E27FC236}">
                <a16:creationId xmlns:a16="http://schemas.microsoft.com/office/drawing/2014/main" id="{6A2B97F4-362B-BEEE-5F07-511B2FB34A9C}"/>
              </a:ext>
            </a:extLst>
          </p:cNvPr>
          <p:cNvSpPr/>
          <p:nvPr/>
        </p:nvSpPr>
        <p:spPr>
          <a:xfrm>
            <a:off x="1804578" y="1931746"/>
            <a:ext cx="7605871" cy="753033"/>
          </a:xfrm>
          <a:prstGeom prst="roundRect">
            <a:avLst/>
          </a:prstGeom>
          <a:solidFill>
            <a:srgbClr val="26262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CAF8"/>
                </a:solidFill>
                <a:latin typeface="Aharoni" panose="02010803020104030203" pitchFamily="2" charset="-79"/>
                <a:cs typeface="Aharoni" panose="02010803020104030203" pitchFamily="2" charset="-79"/>
              </a:rPr>
              <a:t>13</a:t>
            </a:r>
            <a:r>
              <a:rPr lang="en-US" sz="2400" b="1" dirty="0">
                <a:solidFill>
                  <a:srgbClr val="00CAF8"/>
                </a:solidFill>
                <a:latin typeface="Aharoni" panose="02010803020104030203" pitchFamily="2" charset="-79"/>
                <a:cs typeface="Aharoni" panose="02010803020104030203" pitchFamily="2" charset="-79"/>
              </a:rPr>
              <a:t> RF </a:t>
            </a:r>
            <a:r>
              <a:rPr lang="en-US" sz="2400" b="1" dirty="0" err="1">
                <a:solidFill>
                  <a:srgbClr val="00CAF8"/>
                </a:solidFill>
                <a:latin typeface="Aharoni" panose="02010803020104030203" pitchFamily="2" charset="-79"/>
                <a:cs typeface="Aharoni" panose="02010803020104030203" pitchFamily="2" charset="-79"/>
              </a:rPr>
              <a:t>entregados</a:t>
            </a:r>
            <a:r>
              <a:rPr lang="en-US" sz="2400" b="1" dirty="0">
                <a:solidFill>
                  <a:srgbClr val="00CAF8"/>
                </a:solidFill>
                <a:latin typeface="Aharoni" panose="02010803020104030203" pitchFamily="2" charset="-79"/>
                <a:cs typeface="Aharoni" panose="02010803020104030203" pitchFamily="2" charset="-79"/>
              </a:rPr>
              <a:t>  ·  </a:t>
            </a:r>
            <a:r>
              <a:rPr lang="en-US" sz="3200" b="1" dirty="0">
                <a:solidFill>
                  <a:srgbClr val="00CAF8"/>
                </a:solidFill>
                <a:latin typeface="Aharoni" panose="02010803020104030203" pitchFamily="2" charset="-79"/>
                <a:cs typeface="Aharoni" panose="02010803020104030203" pitchFamily="2" charset="-79"/>
              </a:rPr>
              <a:t>21,7 %</a:t>
            </a:r>
            <a:r>
              <a:rPr lang="en-US" sz="2400" b="1" dirty="0">
                <a:solidFill>
                  <a:srgbClr val="00CAF8"/>
                </a:solidFill>
                <a:latin typeface="Aharoni" panose="02010803020104030203" pitchFamily="2" charset="-79"/>
                <a:cs typeface="Aharoni" panose="02010803020104030203" pitchFamily="2" charset="-79"/>
              </a:rPr>
              <a:t> del </a:t>
            </a:r>
            <a:r>
              <a:rPr lang="en-US" sz="2400" b="1" dirty="0" err="1">
                <a:solidFill>
                  <a:srgbClr val="00CAF8"/>
                </a:solidFill>
                <a:latin typeface="Aharoni" panose="02010803020104030203" pitchFamily="2" charset="-79"/>
                <a:cs typeface="Aharoni" panose="02010803020104030203" pitchFamily="2" charset="-79"/>
              </a:rPr>
              <a:t>proyecto</a:t>
            </a:r>
            <a:endParaRPr lang="es-CL" sz="2400" dirty="0">
              <a:solidFill>
                <a:srgbClr val="00CAF8"/>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320040"/>
          </a:xfrm>
          <a:prstGeom prst="rect">
            <a:avLst/>
          </a:prstGeom>
          <a:noFill/>
          <a:ln/>
        </p:spPr>
        <p:txBody>
          <a:bodyPr wrap="square" lIns="0" tIns="0" rIns="0" bIns="0" rtlCol="0" anchor="ctr"/>
          <a:lstStyle/>
          <a:p>
            <a:pPr marL="0" indent="0">
              <a:buNone/>
            </a:pPr>
            <a:r>
              <a:rPr lang="en-US" sz="1200" b="1" kern="0" spc="200">
                <a:solidFill>
                  <a:srgbClr val="FF4200"/>
                </a:solidFill>
                <a:latin typeface="Aharoni" panose="02010803020104030203" pitchFamily="2" charset="-79"/>
                <a:ea typeface="Calibri" pitchFamily="34" charset="-122"/>
                <a:cs typeface="Aharoni" panose="02010803020104030203" pitchFamily="2" charset="-79"/>
              </a:rPr>
              <a:t>DEFINICIÓN</a:t>
            </a:r>
            <a:endParaRPr lang="en-US" sz="1200">
              <a:latin typeface="Aharoni" panose="02010803020104030203" pitchFamily="2" charset="-79"/>
              <a:cs typeface="Aharoni" panose="02010803020104030203" pitchFamily="2" charset="-79"/>
            </a:endParaRPr>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marL="0" indent="0">
              <a:buNone/>
            </a:pPr>
            <a:r>
              <a:rPr lang="en-US" sz="2800" b="1">
                <a:solidFill>
                  <a:srgbClr val="262626"/>
                </a:solidFill>
                <a:latin typeface="Aharoni" panose="02010803020104030203" pitchFamily="2" charset="-79"/>
                <a:ea typeface="Calibri" pitchFamily="34" charset="-122"/>
                <a:cs typeface="Aharoni" panose="02010803020104030203" pitchFamily="2" charset="-79"/>
              </a:rPr>
              <a:t>Incremento </a:t>
            </a:r>
            <a:r>
              <a:rPr lang="en-US" sz="4000" b="1">
                <a:solidFill>
                  <a:srgbClr val="262626"/>
                </a:solidFill>
                <a:latin typeface="Aharoni" panose="02010803020104030203" pitchFamily="2" charset="-79"/>
                <a:ea typeface="Calibri" pitchFamily="34" charset="-122"/>
                <a:cs typeface="Aharoni" panose="02010803020104030203" pitchFamily="2" charset="-79"/>
              </a:rPr>
              <a:t>2</a:t>
            </a:r>
            <a:r>
              <a:rPr lang="en-US" sz="2800" b="1">
                <a:solidFill>
                  <a:srgbClr val="262626"/>
                </a:solidFill>
                <a:latin typeface="Aharoni" panose="02010803020104030203" pitchFamily="2" charset="-79"/>
                <a:ea typeface="Calibri" pitchFamily="34" charset="-122"/>
                <a:cs typeface="Aharoni" panose="02010803020104030203" pitchFamily="2" charset="-79"/>
              </a:rPr>
              <a:t>: "Cierre del Circuito de Adquisiciones"</a:t>
            </a:r>
            <a:endParaRPr lang="en-US" sz="2800">
              <a:latin typeface="Aharoni" panose="02010803020104030203" pitchFamily="2" charset="-79"/>
              <a:cs typeface="Aharoni" panose="02010803020104030203" pitchFamily="2" charset="-79"/>
            </a:endParaRPr>
          </a:p>
        </p:txBody>
      </p:sp>
      <p:sp>
        <p:nvSpPr>
          <p:cNvPr id="5" name="Text 3"/>
          <p:cNvSpPr txBox="1"/>
          <p:nvPr/>
        </p:nvSpPr>
        <p:spPr>
          <a:xfrm>
            <a:off x="5073067" y="3501292"/>
            <a:ext cx="5665817" cy="1463040"/>
          </a:xfrm>
          <a:prstGeom prst="rect">
            <a:avLst/>
          </a:prstGeom>
          <a:noFill/>
          <a:ln/>
        </p:spPr>
        <p:txBody>
          <a:bodyPr wrap="square" lIns="0" tIns="0" rIns="0" bIns="0" rtlCol="0" anchor="ctr"/>
          <a:lstStyle/>
          <a:p>
            <a:pPr marL="0" indent="0">
              <a:lnSpc>
                <a:spcPts val="1800"/>
              </a:lnSpc>
              <a:buNone/>
            </a:pPr>
            <a:r>
              <a:rPr lang="en-US" sz="1300" i="1" dirty="0">
                <a:solidFill>
                  <a:srgbClr val="6B7280"/>
                </a:solidFill>
                <a:latin typeface="Calibri" pitchFamily="34" charset="0"/>
                <a:ea typeface="Calibri" pitchFamily="34" charset="-122"/>
                <a:cs typeface="Calibri" pitchFamily="34" charset="-120"/>
              </a:rPr>
              <a:t>7 </a:t>
            </a:r>
            <a:r>
              <a:rPr lang="en-US" sz="1300" i="1" dirty="0" err="1">
                <a:solidFill>
                  <a:srgbClr val="6B7280"/>
                </a:solidFill>
                <a:latin typeface="Calibri" pitchFamily="34" charset="0"/>
                <a:ea typeface="Calibri" pitchFamily="34" charset="-122"/>
                <a:cs typeface="Calibri" pitchFamily="34" charset="-120"/>
              </a:rPr>
              <a:t>módulos</a:t>
            </a:r>
            <a:r>
              <a:rPr lang="en-US" sz="1300" i="1" dirty="0">
                <a:solidFill>
                  <a:srgbClr val="6B7280"/>
                </a:solidFill>
                <a:latin typeface="Calibri" pitchFamily="34" charset="0"/>
                <a:ea typeface="Calibri" pitchFamily="34" charset="-122"/>
                <a:cs typeface="Calibri" pitchFamily="34" charset="-120"/>
              </a:rPr>
              <a:t> </a:t>
            </a:r>
            <a:r>
              <a:rPr lang="en-US" sz="1300" i="1" dirty="0" err="1">
                <a:solidFill>
                  <a:srgbClr val="6B7280"/>
                </a:solidFill>
                <a:latin typeface="Calibri" pitchFamily="34" charset="0"/>
                <a:ea typeface="Calibri" pitchFamily="34" charset="-122"/>
                <a:cs typeface="Calibri" pitchFamily="34" charset="-120"/>
              </a:rPr>
              <a:t>impactados</a:t>
            </a:r>
            <a:r>
              <a:rPr lang="en-US" sz="1300" i="1" dirty="0">
                <a:solidFill>
                  <a:srgbClr val="6B7280"/>
                </a:solidFill>
                <a:latin typeface="Calibri" pitchFamily="34" charset="0"/>
                <a:ea typeface="Calibri" pitchFamily="34" charset="-122"/>
                <a:cs typeface="Calibri" pitchFamily="34" charset="-120"/>
              </a:rPr>
              <a:t>: 4 se </a:t>
            </a:r>
            <a:r>
              <a:rPr lang="en-US" sz="1300" i="1" dirty="0" err="1">
                <a:solidFill>
                  <a:srgbClr val="6B7280"/>
                </a:solidFill>
                <a:latin typeface="Calibri" pitchFamily="34" charset="0"/>
                <a:ea typeface="Calibri" pitchFamily="34" charset="-122"/>
                <a:cs typeface="Calibri" pitchFamily="34" charset="-120"/>
              </a:rPr>
              <a:t>completan</a:t>
            </a:r>
            <a:r>
              <a:rPr lang="en-US" sz="1300" i="1" dirty="0">
                <a:solidFill>
                  <a:srgbClr val="6B7280"/>
                </a:solidFill>
                <a:latin typeface="Calibri" pitchFamily="34" charset="0"/>
                <a:ea typeface="Calibri" pitchFamily="34" charset="-122"/>
                <a:cs typeface="Calibri" pitchFamily="34" charset="-120"/>
              </a:rPr>
              <a:t> (</a:t>
            </a:r>
            <a:r>
              <a:rPr lang="en-US" sz="1300" i="1" dirty="0" err="1">
                <a:solidFill>
                  <a:srgbClr val="6B7280"/>
                </a:solidFill>
                <a:latin typeface="Calibri" pitchFamily="34" charset="0"/>
                <a:ea typeface="Calibri" pitchFamily="34" charset="-122"/>
                <a:cs typeface="Calibri" pitchFamily="34" charset="-120"/>
              </a:rPr>
              <a:t>Proveedores</a:t>
            </a:r>
            <a:r>
              <a:rPr lang="en-US" sz="1300" i="1" dirty="0">
                <a:solidFill>
                  <a:srgbClr val="6B7280"/>
                </a:solidFill>
                <a:latin typeface="Calibri" pitchFamily="34" charset="0"/>
                <a:ea typeface="Calibri" pitchFamily="34" charset="-122"/>
                <a:cs typeface="Calibri" pitchFamily="34" charset="-120"/>
              </a:rPr>
              <a:t>, </a:t>
            </a:r>
            <a:r>
              <a:rPr lang="en-US" sz="1300" i="1" dirty="0" err="1">
                <a:solidFill>
                  <a:srgbClr val="6B7280"/>
                </a:solidFill>
                <a:latin typeface="Calibri" pitchFamily="34" charset="0"/>
                <a:ea typeface="Calibri" pitchFamily="34" charset="-122"/>
                <a:cs typeface="Calibri" pitchFamily="34" charset="-120"/>
              </a:rPr>
              <a:t>Proyectos</a:t>
            </a:r>
            <a:r>
              <a:rPr lang="en-US" sz="1300" i="1" dirty="0">
                <a:solidFill>
                  <a:srgbClr val="6B7280"/>
                </a:solidFill>
                <a:latin typeface="Calibri" pitchFamily="34" charset="0"/>
                <a:ea typeface="Calibri" pitchFamily="34" charset="-122"/>
                <a:cs typeface="Calibri" pitchFamily="34" charset="-120"/>
              </a:rPr>
              <a:t>, </a:t>
            </a:r>
            <a:r>
              <a:rPr lang="en-US" sz="1300" i="1" dirty="0" err="1">
                <a:solidFill>
                  <a:srgbClr val="6B7280"/>
                </a:solidFill>
                <a:latin typeface="Calibri" pitchFamily="34" charset="0"/>
                <a:ea typeface="Calibri" pitchFamily="34" charset="-122"/>
                <a:cs typeface="Calibri" pitchFamily="34" charset="-120"/>
              </a:rPr>
              <a:t>Solicitud</a:t>
            </a:r>
            <a:r>
              <a:rPr lang="en-US" sz="1300" i="1" dirty="0">
                <a:solidFill>
                  <a:srgbClr val="6B7280"/>
                </a:solidFill>
                <a:latin typeface="Calibri" pitchFamily="34" charset="0"/>
                <a:ea typeface="Calibri" pitchFamily="34" charset="-122"/>
                <a:cs typeface="Calibri" pitchFamily="34" charset="-120"/>
              </a:rPr>
              <a:t> de </a:t>
            </a:r>
            <a:r>
              <a:rPr lang="en-US" sz="1300" i="1" dirty="0" err="1">
                <a:solidFill>
                  <a:srgbClr val="6B7280"/>
                </a:solidFill>
                <a:latin typeface="Calibri" pitchFamily="34" charset="0"/>
                <a:ea typeface="Calibri" pitchFamily="34" charset="-122"/>
                <a:cs typeface="Calibri" pitchFamily="34" charset="-120"/>
              </a:rPr>
              <a:t>Materiales</a:t>
            </a:r>
            <a:r>
              <a:rPr lang="en-US" sz="1300" i="1" dirty="0">
                <a:solidFill>
                  <a:srgbClr val="6B7280"/>
                </a:solidFill>
                <a:latin typeface="Calibri" pitchFamily="34" charset="0"/>
                <a:ea typeface="Calibri" pitchFamily="34" charset="-122"/>
                <a:cs typeface="Calibri" pitchFamily="34" charset="-120"/>
              </a:rPr>
              <a:t>, </a:t>
            </a:r>
            <a:r>
              <a:rPr lang="en-US" sz="1300" i="1" dirty="0" err="1">
                <a:solidFill>
                  <a:srgbClr val="6B7280"/>
                </a:solidFill>
                <a:latin typeface="Calibri" pitchFamily="34" charset="0"/>
                <a:ea typeface="Calibri" pitchFamily="34" charset="-122"/>
                <a:cs typeface="Calibri" pitchFamily="34" charset="-120"/>
              </a:rPr>
              <a:t>Adquisiciones</a:t>
            </a:r>
            <a:r>
              <a:rPr lang="en-US" sz="1300" i="1" dirty="0">
                <a:solidFill>
                  <a:srgbClr val="6B7280"/>
                </a:solidFill>
                <a:latin typeface="Calibri" pitchFamily="34" charset="0"/>
                <a:ea typeface="Calibri" pitchFamily="34" charset="-122"/>
                <a:cs typeface="Calibri" pitchFamily="34" charset="-120"/>
              </a:rPr>
              <a:t> y </a:t>
            </a:r>
            <a:r>
              <a:rPr lang="en-US" sz="1300" i="1" dirty="0" err="1">
                <a:solidFill>
                  <a:srgbClr val="6B7280"/>
                </a:solidFill>
                <a:latin typeface="Calibri" pitchFamily="34" charset="0"/>
                <a:ea typeface="Calibri" pitchFamily="34" charset="-122"/>
                <a:cs typeface="Calibri" pitchFamily="34" charset="-120"/>
              </a:rPr>
              <a:t>Cotizaciones</a:t>
            </a:r>
            <a:r>
              <a:rPr lang="en-US" sz="1300" i="1" dirty="0">
                <a:solidFill>
                  <a:srgbClr val="6B7280"/>
                </a:solidFill>
                <a:latin typeface="Calibri" pitchFamily="34" charset="0"/>
                <a:ea typeface="Calibri" pitchFamily="34" charset="-122"/>
                <a:cs typeface="Calibri" pitchFamily="34" charset="-120"/>
              </a:rPr>
              <a:t>) y 3 se </a:t>
            </a:r>
            <a:r>
              <a:rPr lang="en-US" sz="1300" i="1" dirty="0" err="1">
                <a:solidFill>
                  <a:srgbClr val="6B7280"/>
                </a:solidFill>
                <a:latin typeface="Calibri" pitchFamily="34" charset="0"/>
                <a:ea typeface="Calibri" pitchFamily="34" charset="-122"/>
                <a:cs typeface="Calibri" pitchFamily="34" charset="-120"/>
              </a:rPr>
              <a:t>incorporan</a:t>
            </a:r>
            <a:r>
              <a:rPr lang="en-US" sz="1300" i="1" dirty="0">
                <a:solidFill>
                  <a:srgbClr val="6B7280"/>
                </a:solidFill>
                <a:latin typeface="Calibri" pitchFamily="34" charset="0"/>
                <a:ea typeface="Calibri" pitchFamily="34" charset="-122"/>
                <a:cs typeface="Calibri" pitchFamily="34" charset="-120"/>
              </a:rPr>
              <a:t> </a:t>
            </a:r>
            <a:r>
              <a:rPr lang="en-US" sz="1300" i="1" dirty="0" err="1">
                <a:solidFill>
                  <a:srgbClr val="6B7280"/>
                </a:solidFill>
                <a:latin typeface="Calibri" pitchFamily="34" charset="0"/>
                <a:ea typeface="Calibri" pitchFamily="34" charset="-122"/>
                <a:cs typeface="Calibri" pitchFamily="34" charset="-120"/>
              </a:rPr>
              <a:t>íntegros</a:t>
            </a:r>
            <a:r>
              <a:rPr lang="en-US" sz="1300" i="1" dirty="0">
                <a:solidFill>
                  <a:srgbClr val="6B7280"/>
                </a:solidFill>
                <a:latin typeface="Calibri" pitchFamily="34" charset="0"/>
                <a:ea typeface="Calibri" pitchFamily="34" charset="-122"/>
                <a:cs typeface="Calibri" pitchFamily="34" charset="-120"/>
              </a:rPr>
              <a:t> (</a:t>
            </a:r>
            <a:r>
              <a:rPr lang="en-US" sz="1300" i="1" dirty="0" err="1">
                <a:solidFill>
                  <a:srgbClr val="6B7280"/>
                </a:solidFill>
                <a:latin typeface="Calibri" pitchFamily="34" charset="0"/>
                <a:ea typeface="Calibri" pitchFamily="34" charset="-122"/>
                <a:cs typeface="Calibri" pitchFamily="34" charset="-120"/>
              </a:rPr>
              <a:t>Órdenes</a:t>
            </a:r>
            <a:r>
              <a:rPr lang="en-US" sz="1300" i="1" dirty="0">
                <a:solidFill>
                  <a:srgbClr val="6B7280"/>
                </a:solidFill>
                <a:latin typeface="Calibri" pitchFamily="34" charset="0"/>
                <a:ea typeface="Calibri" pitchFamily="34" charset="-122"/>
                <a:cs typeface="Calibri" pitchFamily="34" charset="-120"/>
              </a:rPr>
              <a:t> de Compra, </a:t>
            </a:r>
            <a:r>
              <a:rPr lang="en-US" sz="1300" i="1" dirty="0" err="1">
                <a:solidFill>
                  <a:srgbClr val="6B7280"/>
                </a:solidFill>
                <a:latin typeface="Calibri" pitchFamily="34" charset="0"/>
                <a:ea typeface="Calibri" pitchFamily="34" charset="-122"/>
                <a:cs typeface="Calibri" pitchFamily="34" charset="-120"/>
              </a:rPr>
              <a:t>Inventario</a:t>
            </a:r>
            <a:r>
              <a:rPr lang="en-US" sz="1300" i="1" dirty="0">
                <a:solidFill>
                  <a:srgbClr val="6B7280"/>
                </a:solidFill>
                <a:latin typeface="Calibri" pitchFamily="34" charset="0"/>
                <a:ea typeface="Calibri" pitchFamily="34" charset="-122"/>
                <a:cs typeface="Calibri" pitchFamily="34" charset="-120"/>
              </a:rPr>
              <a:t> y Bodega, </a:t>
            </a:r>
            <a:r>
              <a:rPr lang="en-US" sz="1300" i="1" dirty="0" err="1">
                <a:solidFill>
                  <a:srgbClr val="6B7280"/>
                </a:solidFill>
                <a:latin typeface="Calibri" pitchFamily="34" charset="0"/>
                <a:ea typeface="Calibri" pitchFamily="34" charset="-122"/>
                <a:cs typeface="Calibri" pitchFamily="34" charset="-120"/>
              </a:rPr>
              <a:t>Facturación</a:t>
            </a:r>
            <a:r>
              <a:rPr lang="en-US" sz="1300" i="1" dirty="0">
                <a:solidFill>
                  <a:srgbClr val="6B7280"/>
                </a:solidFill>
                <a:latin typeface="Calibri" pitchFamily="34" charset="0"/>
                <a:ea typeface="Calibri" pitchFamily="34" charset="-122"/>
                <a:cs typeface="Calibri" pitchFamily="34" charset="-120"/>
              </a:rPr>
              <a:t> y </a:t>
            </a:r>
            <a:r>
              <a:rPr lang="en-US" sz="1300" i="1" dirty="0" err="1">
                <a:solidFill>
                  <a:srgbClr val="6B7280"/>
                </a:solidFill>
                <a:latin typeface="Calibri" pitchFamily="34" charset="0"/>
                <a:ea typeface="Calibri" pitchFamily="34" charset="-122"/>
                <a:cs typeface="Calibri" pitchFamily="34" charset="-120"/>
              </a:rPr>
              <a:t>Contabilidad</a:t>
            </a:r>
            <a:r>
              <a:rPr lang="en-US" sz="1300" i="1" dirty="0">
                <a:solidFill>
                  <a:srgbClr val="6B7280"/>
                </a:solidFill>
                <a:latin typeface="Calibri" pitchFamily="34" charset="0"/>
                <a:ea typeface="Calibri" pitchFamily="34" charset="-122"/>
                <a:cs typeface="Calibri" pitchFamily="34" charset="-120"/>
              </a:rPr>
              <a:t>).</a:t>
            </a:r>
            <a:endParaRPr lang="en-US" sz="1300" dirty="0"/>
          </a:p>
        </p:txBody>
      </p:sp>
      <p:sp>
        <p:nvSpPr>
          <p:cNvPr id="6" name="Shape 4"/>
          <p:cNvSpPr/>
          <p:nvPr/>
        </p:nvSpPr>
        <p:spPr>
          <a:xfrm>
            <a:off x="1029286" y="1579685"/>
            <a:ext cx="3657600" cy="3566160"/>
          </a:xfrm>
          <a:prstGeom prst="rect">
            <a:avLst/>
          </a:prstGeom>
          <a:solidFill>
            <a:srgbClr val="F5F5F5"/>
          </a:solidFill>
          <a:ln/>
        </p:spPr>
        <p:txBody>
          <a:bodyPr/>
          <a:lstStyle/>
          <a:p>
            <a:endParaRPr lang="es-CL"/>
          </a:p>
        </p:txBody>
      </p:sp>
      <p:sp>
        <p:nvSpPr>
          <p:cNvPr id="7" name="Text 5"/>
          <p:cNvSpPr txBox="1"/>
          <p:nvPr/>
        </p:nvSpPr>
        <p:spPr>
          <a:xfrm>
            <a:off x="1029286" y="1742635"/>
            <a:ext cx="3657600" cy="822960"/>
          </a:xfrm>
          <a:prstGeom prst="rect">
            <a:avLst/>
          </a:prstGeom>
          <a:noFill/>
          <a:ln/>
        </p:spPr>
        <p:txBody>
          <a:bodyPr wrap="square" lIns="0" tIns="0" rIns="0" bIns="0" rtlCol="0" anchor="ctr"/>
          <a:lstStyle/>
          <a:p>
            <a:pPr marL="0" indent="0" algn="ctr">
              <a:buNone/>
            </a:pPr>
            <a:r>
              <a:rPr lang="en-US" sz="5600" b="1">
                <a:solidFill>
                  <a:srgbClr val="FF4200"/>
                </a:solidFill>
                <a:latin typeface="Calibri" pitchFamily="34" charset="0"/>
                <a:ea typeface="Calibri" pitchFamily="34" charset="-122"/>
                <a:cs typeface="Calibri" pitchFamily="34" charset="-120"/>
              </a:rPr>
              <a:t>31</a:t>
            </a:r>
            <a:endParaRPr lang="en-US" sz="5600"/>
          </a:p>
        </p:txBody>
      </p:sp>
      <p:sp>
        <p:nvSpPr>
          <p:cNvPr id="8" name="Text 6"/>
          <p:cNvSpPr txBox="1"/>
          <p:nvPr/>
        </p:nvSpPr>
        <p:spPr>
          <a:xfrm>
            <a:off x="1082040" y="2365835"/>
            <a:ext cx="3657600" cy="457200"/>
          </a:xfrm>
          <a:prstGeom prst="rect">
            <a:avLst/>
          </a:prstGeom>
          <a:noFill/>
          <a:ln/>
        </p:spPr>
        <p:txBody>
          <a:bodyPr wrap="square" lIns="0" tIns="0" rIns="0" bIns="0" rtlCol="0" anchor="ctr"/>
          <a:lstStyle/>
          <a:p>
            <a:pPr marL="0" indent="0" algn="ctr">
              <a:buNone/>
            </a:pPr>
            <a:r>
              <a:rPr lang="en-US" sz="1200">
                <a:solidFill>
                  <a:srgbClr val="6B7280"/>
                </a:solidFill>
                <a:latin typeface="Calibri" pitchFamily="34" charset="0"/>
                <a:ea typeface="Calibri" pitchFamily="34" charset="-122"/>
                <a:cs typeface="Calibri" pitchFamily="34" charset="-120"/>
              </a:rPr>
              <a:t>RF nuevos en este incremento</a:t>
            </a:r>
            <a:endParaRPr lang="en-US" sz="1200"/>
          </a:p>
        </p:txBody>
      </p:sp>
      <p:sp>
        <p:nvSpPr>
          <p:cNvPr id="9" name="Text 7"/>
          <p:cNvSpPr txBox="1"/>
          <p:nvPr/>
        </p:nvSpPr>
        <p:spPr>
          <a:xfrm>
            <a:off x="1055663" y="2981179"/>
            <a:ext cx="3657600" cy="640080"/>
          </a:xfrm>
          <a:prstGeom prst="rect">
            <a:avLst/>
          </a:prstGeom>
          <a:noFill/>
          <a:ln/>
        </p:spPr>
        <p:txBody>
          <a:bodyPr wrap="square" lIns="0" tIns="0" rIns="0" bIns="0" rtlCol="0" anchor="ctr"/>
          <a:lstStyle/>
          <a:p>
            <a:pPr marL="0" indent="0" algn="ctr">
              <a:buNone/>
            </a:pPr>
            <a:r>
              <a:rPr lang="en-US" sz="3400" b="1" dirty="0">
                <a:solidFill>
                  <a:srgbClr val="262626"/>
                </a:solidFill>
                <a:latin typeface="Calibri" pitchFamily="34" charset="0"/>
                <a:ea typeface="Calibri" pitchFamily="34" charset="-122"/>
                <a:cs typeface="Calibri" pitchFamily="34" charset="-120"/>
              </a:rPr>
              <a:t>44 / 60</a:t>
            </a:r>
            <a:endParaRPr lang="en-US" sz="3400" dirty="0"/>
          </a:p>
        </p:txBody>
      </p:sp>
      <p:sp>
        <p:nvSpPr>
          <p:cNvPr id="10" name="Text 8"/>
          <p:cNvSpPr txBox="1"/>
          <p:nvPr/>
        </p:nvSpPr>
        <p:spPr>
          <a:xfrm>
            <a:off x="1055663" y="3550803"/>
            <a:ext cx="3657600" cy="457200"/>
          </a:xfrm>
          <a:prstGeom prst="rect">
            <a:avLst/>
          </a:prstGeom>
          <a:noFill/>
          <a:ln/>
        </p:spPr>
        <p:txBody>
          <a:bodyPr wrap="square" lIns="0" tIns="0" rIns="0" bIns="0" rtlCol="0" anchor="ctr"/>
          <a:lstStyle/>
          <a:p>
            <a:pPr marL="0" indent="0" algn="ctr">
              <a:buNone/>
            </a:pPr>
            <a:r>
              <a:rPr lang="en-US" sz="1200">
                <a:solidFill>
                  <a:srgbClr val="6B7280"/>
                </a:solidFill>
                <a:latin typeface="Calibri" pitchFamily="34" charset="0"/>
                <a:ea typeface="Calibri" pitchFamily="34" charset="-122"/>
                <a:cs typeface="Calibri" pitchFamily="34" charset="-120"/>
              </a:rPr>
              <a:t>RF totales acumulados</a:t>
            </a:r>
            <a:endParaRPr lang="en-US" sz="1200"/>
          </a:p>
        </p:txBody>
      </p:sp>
      <p:sp>
        <p:nvSpPr>
          <p:cNvPr id="11" name="Text 9"/>
          <p:cNvSpPr txBox="1"/>
          <p:nvPr/>
        </p:nvSpPr>
        <p:spPr>
          <a:xfrm>
            <a:off x="1082040" y="4034966"/>
            <a:ext cx="3657600" cy="640080"/>
          </a:xfrm>
          <a:prstGeom prst="rect">
            <a:avLst/>
          </a:prstGeom>
          <a:noFill/>
          <a:ln/>
        </p:spPr>
        <p:txBody>
          <a:bodyPr wrap="square" lIns="0" tIns="0" rIns="0" bIns="0" rtlCol="0" anchor="ctr"/>
          <a:lstStyle/>
          <a:p>
            <a:pPr marL="0" indent="0" algn="ctr">
              <a:buNone/>
            </a:pPr>
            <a:r>
              <a:rPr lang="en-US" sz="3400" b="1">
                <a:solidFill>
                  <a:srgbClr val="262626"/>
                </a:solidFill>
                <a:latin typeface="Calibri" pitchFamily="34" charset="0"/>
                <a:ea typeface="Calibri" pitchFamily="34" charset="-122"/>
                <a:cs typeface="Calibri" pitchFamily="34" charset="-120"/>
              </a:rPr>
              <a:t>73,3 %</a:t>
            </a:r>
            <a:endParaRPr lang="en-US" sz="3400"/>
          </a:p>
        </p:txBody>
      </p:sp>
      <p:sp>
        <p:nvSpPr>
          <p:cNvPr id="12" name="Text 10"/>
          <p:cNvSpPr txBox="1"/>
          <p:nvPr/>
        </p:nvSpPr>
        <p:spPr>
          <a:xfrm>
            <a:off x="1134794" y="4594509"/>
            <a:ext cx="3657600" cy="457200"/>
          </a:xfrm>
          <a:prstGeom prst="rect">
            <a:avLst/>
          </a:prstGeom>
          <a:noFill/>
          <a:ln/>
        </p:spPr>
        <p:txBody>
          <a:bodyPr wrap="square" lIns="0" tIns="0" rIns="0" bIns="0" rtlCol="0" anchor="ctr"/>
          <a:lstStyle/>
          <a:p>
            <a:pPr marL="0" indent="0" algn="ctr">
              <a:buNone/>
            </a:pPr>
            <a:r>
              <a:rPr lang="en-US" sz="1200">
                <a:solidFill>
                  <a:srgbClr val="6B7280"/>
                </a:solidFill>
                <a:latin typeface="Calibri" pitchFamily="34" charset="0"/>
                <a:ea typeface="Calibri" pitchFamily="34" charset="-122"/>
                <a:cs typeface="Calibri" pitchFamily="34" charset="-120"/>
              </a:rPr>
              <a:t>de avance acumulado del proyecto</a:t>
            </a:r>
            <a:endParaRPr lang="en-US" sz="1200"/>
          </a:p>
        </p:txBody>
      </p:sp>
      <p:sp>
        <p:nvSpPr>
          <p:cNvPr id="13" name="Text 11"/>
          <p:cNvSpPr txBox="1"/>
          <p:nvPr/>
        </p:nvSpPr>
        <p:spPr>
          <a:xfrm>
            <a:off x="548640" y="6446520"/>
            <a:ext cx="10543032" cy="27432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Sistema de Gestión de Adquisiciones e Inventario  |  Constructora M5 SpA</a:t>
            </a:r>
            <a:endParaRPr lang="en-US" sz="900"/>
          </a:p>
        </p:txBody>
      </p:sp>
      <p:sp>
        <p:nvSpPr>
          <p:cNvPr id="14" name="Text 1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900">
                <a:solidFill>
                  <a:srgbClr val="6B7280"/>
                </a:solidFill>
                <a:latin typeface="Calibri" pitchFamily="34" charset="0"/>
                <a:ea typeface="Calibri" pitchFamily="34" charset="-122"/>
                <a:cs typeface="Calibri" pitchFamily="34" charset="-120"/>
              </a:rPr>
              <a:t>4</a:t>
            </a:r>
            <a:endParaRPr lang="en-US" sz="900"/>
          </a:p>
        </p:txBody>
      </p:sp>
      <p:pic>
        <p:nvPicPr>
          <p:cNvPr id="16" name="Picture 15">
            <a:extLst>
              <a:ext uri="{FF2B5EF4-FFF2-40B4-BE49-F238E27FC236}">
                <a16:creationId xmlns:a16="http://schemas.microsoft.com/office/drawing/2014/main" id="{04481BD8-D5DB-BA6B-24AC-9B19119CEC7C}"/>
              </a:ext>
            </a:extLst>
          </p:cNvPr>
          <p:cNvPicPr>
            <a:picLocks noChangeAspect="1"/>
          </p:cNvPicPr>
          <p:nvPr/>
        </p:nvPicPr>
        <p:blipFill>
          <a:blip r:embed="rId3"/>
          <a:stretch>
            <a:fillRect/>
          </a:stretch>
        </p:blipFill>
        <p:spPr>
          <a:xfrm>
            <a:off x="10247110" y="518323"/>
            <a:ext cx="1484642" cy="920169"/>
          </a:xfrm>
          <a:prstGeom prst="rect">
            <a:avLst/>
          </a:prstGeom>
        </p:spPr>
      </p:pic>
      <p:graphicFrame>
        <p:nvGraphicFramePr>
          <p:cNvPr id="15" name="Table 14">
            <a:extLst>
              <a:ext uri="{FF2B5EF4-FFF2-40B4-BE49-F238E27FC236}">
                <a16:creationId xmlns:a16="http://schemas.microsoft.com/office/drawing/2014/main" id="{BE266530-BC8C-8F0E-06E1-8DFCF67C8596}"/>
              </a:ext>
            </a:extLst>
          </p:cNvPr>
          <p:cNvGraphicFramePr>
            <a:graphicFrameLocks noGrp="1"/>
          </p:cNvGraphicFramePr>
          <p:nvPr>
            <p:extLst>
              <p:ext uri="{D42A27DB-BD31-4B8C-83A1-F6EECF244321}">
                <p14:modId xmlns:p14="http://schemas.microsoft.com/office/powerpoint/2010/main" val="156450275"/>
              </p:ext>
            </p:extLst>
          </p:nvPr>
        </p:nvGraphicFramePr>
        <p:xfrm>
          <a:off x="5820156" y="1864004"/>
          <a:ext cx="4062819" cy="1557327"/>
        </p:xfrm>
        <a:graphic>
          <a:graphicData uri="http://schemas.openxmlformats.org/drawingml/2006/table">
            <a:tbl>
              <a:tblPr>
                <a:tableStyleId>{5C22544A-7EE6-4342-B048-85BDC9FD1C3A}</a:tableStyleId>
              </a:tblPr>
              <a:tblGrid>
                <a:gridCol w="796093">
                  <a:extLst>
                    <a:ext uri="{9D8B030D-6E8A-4147-A177-3AD203B41FA5}">
                      <a16:colId xmlns:a16="http://schemas.microsoft.com/office/drawing/2014/main" val="2301262175"/>
                    </a:ext>
                  </a:extLst>
                </a:gridCol>
                <a:gridCol w="549029">
                  <a:extLst>
                    <a:ext uri="{9D8B030D-6E8A-4147-A177-3AD203B41FA5}">
                      <a16:colId xmlns:a16="http://schemas.microsoft.com/office/drawing/2014/main" val="1696973863"/>
                    </a:ext>
                  </a:extLst>
                </a:gridCol>
                <a:gridCol w="919625">
                  <a:extLst>
                    <a:ext uri="{9D8B030D-6E8A-4147-A177-3AD203B41FA5}">
                      <a16:colId xmlns:a16="http://schemas.microsoft.com/office/drawing/2014/main" val="221161231"/>
                    </a:ext>
                  </a:extLst>
                </a:gridCol>
                <a:gridCol w="919625">
                  <a:extLst>
                    <a:ext uri="{9D8B030D-6E8A-4147-A177-3AD203B41FA5}">
                      <a16:colId xmlns:a16="http://schemas.microsoft.com/office/drawing/2014/main" val="3300800056"/>
                    </a:ext>
                  </a:extLst>
                </a:gridCol>
                <a:gridCol w="878447">
                  <a:extLst>
                    <a:ext uri="{9D8B030D-6E8A-4147-A177-3AD203B41FA5}">
                      <a16:colId xmlns:a16="http://schemas.microsoft.com/office/drawing/2014/main" val="2910031693"/>
                    </a:ext>
                  </a:extLst>
                </a:gridCol>
              </a:tblGrid>
              <a:tr h="291371">
                <a:tc>
                  <a:txBody>
                    <a:bodyPr/>
                    <a:lstStyle/>
                    <a:p>
                      <a:pPr algn="just" rtl="0" fontAlgn="t">
                        <a:buNone/>
                      </a:pPr>
                      <a:r>
                        <a:rPr lang="es-CL" sz="1200" u="none" strike="noStrike">
                          <a:effectLst/>
                        </a:rPr>
                        <a:t>N° 1</a:t>
                      </a:r>
                      <a:endParaRPr lang="es-CL">
                        <a:effectLst/>
                      </a:endParaRPr>
                    </a:p>
                  </a:txBody>
                  <a:tcPr marL="73025" marR="73025">
                    <a:solidFill>
                      <a:schemeClr val="bg1">
                        <a:lumMod val="95000"/>
                      </a:schemeClr>
                    </a:solidFill>
                  </a:tcPr>
                </a:tc>
                <a:tc>
                  <a:txBody>
                    <a:bodyPr/>
                    <a:lstStyle/>
                    <a:p>
                      <a:pPr algn="just" rtl="0" fontAlgn="t">
                        <a:buNone/>
                      </a:pPr>
                      <a:r>
                        <a:rPr lang="es-CL" sz="1200" u="none" strike="noStrike">
                          <a:effectLst/>
                        </a:rPr>
                        <a:t>13</a:t>
                      </a:r>
                      <a:endParaRPr lang="es-CL">
                        <a:effectLst/>
                      </a:endParaRPr>
                    </a:p>
                  </a:txBody>
                  <a:tcPr marL="73025" marR="73025">
                    <a:solidFill>
                      <a:schemeClr val="bg1">
                        <a:lumMod val="95000"/>
                      </a:schemeClr>
                    </a:solidFill>
                  </a:tcPr>
                </a:tc>
                <a:tc>
                  <a:txBody>
                    <a:bodyPr/>
                    <a:lstStyle/>
                    <a:p>
                      <a:pPr algn="just" rtl="0" fontAlgn="t">
                        <a:buNone/>
                      </a:pPr>
                      <a:r>
                        <a:rPr lang="es-CL" sz="1200" u="none" strike="noStrike">
                          <a:effectLst/>
                        </a:rPr>
                        <a:t>21,7 %</a:t>
                      </a:r>
                      <a:endParaRPr lang="es-CL">
                        <a:effectLst/>
                      </a:endParaRPr>
                    </a:p>
                  </a:txBody>
                  <a:tcPr marL="73025" marR="73025">
                    <a:solidFill>
                      <a:schemeClr val="bg1">
                        <a:lumMod val="95000"/>
                      </a:schemeClr>
                    </a:solidFill>
                  </a:tcPr>
                </a:tc>
                <a:tc>
                  <a:txBody>
                    <a:bodyPr/>
                    <a:lstStyle/>
                    <a:p>
                      <a:pPr algn="just" rtl="0" fontAlgn="t">
                        <a:buNone/>
                      </a:pPr>
                      <a:r>
                        <a:rPr lang="es-CL" sz="1200" u="none" strike="noStrike">
                          <a:effectLst/>
                        </a:rPr>
                        <a:t>21,7 %</a:t>
                      </a:r>
                      <a:endParaRPr lang="es-CL">
                        <a:effectLst/>
                      </a:endParaRPr>
                    </a:p>
                  </a:txBody>
                  <a:tcPr marL="73025" marR="73025">
                    <a:solidFill>
                      <a:schemeClr val="bg1">
                        <a:lumMod val="95000"/>
                      </a:schemeClr>
                    </a:solidFill>
                  </a:tcPr>
                </a:tc>
                <a:tc>
                  <a:txBody>
                    <a:bodyPr/>
                    <a:lstStyle/>
                    <a:p>
                      <a:pPr algn="just" rtl="0" fontAlgn="t">
                        <a:buNone/>
                      </a:pPr>
                      <a:r>
                        <a:rPr lang="es-CL" sz="1200" u="none" strike="noStrike">
                          <a:effectLst/>
                        </a:rPr>
                        <a:t>Entregado</a:t>
                      </a:r>
                      <a:endParaRPr lang="es-CL">
                        <a:effectLst/>
                      </a:endParaRPr>
                    </a:p>
                  </a:txBody>
                  <a:tcPr marL="73025" marR="73025">
                    <a:solidFill>
                      <a:schemeClr val="bg1">
                        <a:lumMod val="95000"/>
                      </a:schemeClr>
                    </a:solidFill>
                  </a:tcPr>
                </a:tc>
                <a:extLst>
                  <a:ext uri="{0D108BD9-81ED-4DB2-BD59-A6C34878D82A}">
                    <a16:rowId xmlns:a16="http://schemas.microsoft.com/office/drawing/2014/main" val="119364598"/>
                  </a:ext>
                </a:extLst>
              </a:tr>
              <a:tr h="301418">
                <a:tc>
                  <a:txBody>
                    <a:bodyPr/>
                    <a:lstStyle/>
                    <a:p>
                      <a:pPr algn="just" rtl="0" fontAlgn="t">
                        <a:buNone/>
                      </a:pPr>
                      <a:r>
                        <a:rPr lang="es-CL" sz="1200" u="none" strike="noStrike">
                          <a:effectLst/>
                        </a:rPr>
                        <a:t>N° 2</a:t>
                      </a:r>
                      <a:endParaRPr lang="es-CL">
                        <a:effectLst/>
                      </a:endParaRPr>
                    </a:p>
                  </a:txBody>
                  <a:tcPr marL="73025" marR="73025">
                    <a:solidFill>
                      <a:srgbClr val="00CAF8"/>
                    </a:solidFill>
                  </a:tcPr>
                </a:tc>
                <a:tc>
                  <a:txBody>
                    <a:bodyPr/>
                    <a:lstStyle/>
                    <a:p>
                      <a:pPr algn="just" rtl="0" fontAlgn="t">
                        <a:buNone/>
                      </a:pPr>
                      <a:r>
                        <a:rPr lang="es-CL" sz="1200" u="none" strike="noStrike" dirty="0">
                          <a:effectLst/>
                        </a:rPr>
                        <a:t>31</a:t>
                      </a:r>
                      <a:endParaRPr lang="es-CL" dirty="0">
                        <a:effectLst/>
                      </a:endParaRPr>
                    </a:p>
                  </a:txBody>
                  <a:tcPr marL="73025" marR="73025">
                    <a:solidFill>
                      <a:srgbClr val="00CAF8"/>
                    </a:solidFill>
                  </a:tcPr>
                </a:tc>
                <a:tc>
                  <a:txBody>
                    <a:bodyPr/>
                    <a:lstStyle/>
                    <a:p>
                      <a:pPr algn="just" rtl="0" fontAlgn="t">
                        <a:buNone/>
                      </a:pPr>
                      <a:r>
                        <a:rPr lang="es-CL" sz="1200" u="none" strike="noStrike" dirty="0">
                          <a:effectLst/>
                        </a:rPr>
                        <a:t>51,7 %</a:t>
                      </a:r>
                      <a:endParaRPr lang="es-CL" dirty="0">
                        <a:effectLst/>
                      </a:endParaRPr>
                    </a:p>
                  </a:txBody>
                  <a:tcPr marL="73025" marR="73025">
                    <a:solidFill>
                      <a:srgbClr val="00CAF8"/>
                    </a:solidFill>
                  </a:tcPr>
                </a:tc>
                <a:tc>
                  <a:txBody>
                    <a:bodyPr/>
                    <a:lstStyle/>
                    <a:p>
                      <a:pPr algn="just" rtl="0" fontAlgn="t">
                        <a:buNone/>
                      </a:pPr>
                      <a:r>
                        <a:rPr lang="es-CL" sz="1200" u="none" strike="noStrike" dirty="0">
                          <a:effectLst/>
                        </a:rPr>
                        <a:t>73,3 %</a:t>
                      </a:r>
                      <a:endParaRPr lang="es-CL" dirty="0">
                        <a:effectLst/>
                      </a:endParaRPr>
                    </a:p>
                  </a:txBody>
                  <a:tcPr marL="73025" marR="73025">
                    <a:solidFill>
                      <a:srgbClr val="00CAF8"/>
                    </a:solidFill>
                  </a:tcPr>
                </a:tc>
                <a:tc>
                  <a:txBody>
                    <a:bodyPr/>
                    <a:lstStyle/>
                    <a:p>
                      <a:pPr algn="just" rtl="0" fontAlgn="t">
                        <a:buNone/>
                      </a:pPr>
                      <a:r>
                        <a:rPr lang="es-CL" sz="1200" u="none" strike="noStrike" dirty="0">
                          <a:effectLst/>
                        </a:rPr>
                        <a:t>En entrega</a:t>
                      </a:r>
                      <a:endParaRPr lang="es-CL" dirty="0">
                        <a:effectLst/>
                      </a:endParaRPr>
                    </a:p>
                  </a:txBody>
                  <a:tcPr marL="73025" marR="73025">
                    <a:solidFill>
                      <a:srgbClr val="00CAF8"/>
                    </a:solidFill>
                  </a:tcPr>
                </a:tc>
                <a:extLst>
                  <a:ext uri="{0D108BD9-81ED-4DB2-BD59-A6C34878D82A}">
                    <a16:rowId xmlns:a16="http://schemas.microsoft.com/office/drawing/2014/main" val="1178392579"/>
                  </a:ext>
                </a:extLst>
              </a:tr>
              <a:tr h="482269">
                <a:tc>
                  <a:txBody>
                    <a:bodyPr/>
                    <a:lstStyle/>
                    <a:p>
                      <a:pPr algn="just" rtl="0" fontAlgn="t">
                        <a:buNone/>
                      </a:pPr>
                      <a:r>
                        <a:rPr lang="es-CL" sz="1200" u="none" strike="noStrike">
                          <a:effectLst/>
                        </a:rPr>
                        <a:t>N° 3</a:t>
                      </a:r>
                      <a:endParaRPr lang="es-CL">
                        <a:effectLst/>
                      </a:endParaRPr>
                    </a:p>
                  </a:txBody>
                  <a:tcPr marL="73025" marR="73025">
                    <a:solidFill>
                      <a:schemeClr val="bg1">
                        <a:lumMod val="95000"/>
                      </a:schemeClr>
                    </a:solidFill>
                  </a:tcPr>
                </a:tc>
                <a:tc>
                  <a:txBody>
                    <a:bodyPr/>
                    <a:lstStyle/>
                    <a:p>
                      <a:pPr algn="just" rtl="0" fontAlgn="t">
                        <a:buNone/>
                      </a:pPr>
                      <a:r>
                        <a:rPr lang="es-CL" sz="1200" u="none" strike="noStrike">
                          <a:effectLst/>
                        </a:rPr>
                        <a:t>13</a:t>
                      </a:r>
                      <a:endParaRPr lang="es-CL">
                        <a:effectLst/>
                      </a:endParaRPr>
                    </a:p>
                  </a:txBody>
                  <a:tcPr marL="73025" marR="73025">
                    <a:solidFill>
                      <a:schemeClr val="bg1">
                        <a:lumMod val="95000"/>
                      </a:schemeClr>
                    </a:solidFill>
                  </a:tcPr>
                </a:tc>
                <a:tc>
                  <a:txBody>
                    <a:bodyPr/>
                    <a:lstStyle/>
                    <a:p>
                      <a:pPr algn="just" rtl="0" fontAlgn="t">
                        <a:buNone/>
                      </a:pPr>
                      <a:r>
                        <a:rPr lang="es-CL" sz="1200" u="none" strike="noStrike" dirty="0">
                          <a:effectLst/>
                        </a:rPr>
                        <a:t>21,7 %</a:t>
                      </a:r>
                      <a:endParaRPr lang="es-CL" dirty="0">
                        <a:effectLst/>
                      </a:endParaRPr>
                    </a:p>
                  </a:txBody>
                  <a:tcPr marL="73025" marR="73025">
                    <a:solidFill>
                      <a:schemeClr val="bg1">
                        <a:lumMod val="95000"/>
                      </a:schemeClr>
                    </a:solidFill>
                  </a:tcPr>
                </a:tc>
                <a:tc>
                  <a:txBody>
                    <a:bodyPr/>
                    <a:lstStyle/>
                    <a:p>
                      <a:pPr algn="just" rtl="0" fontAlgn="t">
                        <a:buNone/>
                      </a:pPr>
                      <a:r>
                        <a:rPr lang="es-CL" sz="1200" u="none" strike="noStrike">
                          <a:effectLst/>
                        </a:rPr>
                        <a:t>95,0 %</a:t>
                      </a:r>
                      <a:endParaRPr lang="es-CL">
                        <a:effectLst/>
                      </a:endParaRPr>
                    </a:p>
                  </a:txBody>
                  <a:tcPr marL="73025" marR="73025">
                    <a:solidFill>
                      <a:schemeClr val="bg1">
                        <a:lumMod val="95000"/>
                      </a:schemeClr>
                    </a:solidFill>
                  </a:tcPr>
                </a:tc>
                <a:tc>
                  <a:txBody>
                    <a:bodyPr/>
                    <a:lstStyle/>
                    <a:p>
                      <a:pPr algn="just" rtl="0" fontAlgn="t">
                        <a:buNone/>
                      </a:pPr>
                      <a:r>
                        <a:rPr lang="es-CL" sz="1200" u="none" strike="noStrike">
                          <a:effectLst/>
                        </a:rPr>
                        <a:t>Planificado</a:t>
                      </a:r>
                      <a:endParaRPr lang="es-CL">
                        <a:effectLst/>
                      </a:endParaRPr>
                    </a:p>
                  </a:txBody>
                  <a:tcPr marL="73025" marR="73025">
                    <a:solidFill>
                      <a:schemeClr val="bg1">
                        <a:lumMod val="95000"/>
                      </a:schemeClr>
                    </a:solidFill>
                  </a:tcPr>
                </a:tc>
                <a:extLst>
                  <a:ext uri="{0D108BD9-81ED-4DB2-BD59-A6C34878D82A}">
                    <a16:rowId xmlns:a16="http://schemas.microsoft.com/office/drawing/2014/main" val="3546059795"/>
                  </a:ext>
                </a:extLst>
              </a:tr>
              <a:tr h="482269">
                <a:tc>
                  <a:txBody>
                    <a:bodyPr/>
                    <a:lstStyle/>
                    <a:p>
                      <a:pPr algn="just" rtl="0" fontAlgn="t">
                        <a:buNone/>
                      </a:pPr>
                      <a:r>
                        <a:rPr lang="es-CL" sz="1200" u="none" strike="noStrike">
                          <a:effectLst/>
                        </a:rPr>
                        <a:t>N° 4</a:t>
                      </a:r>
                      <a:endParaRPr lang="es-CL">
                        <a:effectLst/>
                      </a:endParaRPr>
                    </a:p>
                  </a:txBody>
                  <a:tcPr marL="73025" marR="73025">
                    <a:solidFill>
                      <a:schemeClr val="bg1">
                        <a:lumMod val="95000"/>
                      </a:schemeClr>
                    </a:solidFill>
                  </a:tcPr>
                </a:tc>
                <a:tc>
                  <a:txBody>
                    <a:bodyPr/>
                    <a:lstStyle/>
                    <a:p>
                      <a:pPr algn="just" rtl="0" fontAlgn="t">
                        <a:buNone/>
                      </a:pPr>
                      <a:r>
                        <a:rPr lang="es-CL" sz="1200" u="none" strike="noStrike">
                          <a:effectLst/>
                        </a:rPr>
                        <a:t>3</a:t>
                      </a:r>
                      <a:endParaRPr lang="es-CL">
                        <a:effectLst/>
                      </a:endParaRPr>
                    </a:p>
                  </a:txBody>
                  <a:tcPr marL="73025" marR="73025">
                    <a:solidFill>
                      <a:schemeClr val="bg1">
                        <a:lumMod val="95000"/>
                      </a:schemeClr>
                    </a:solidFill>
                  </a:tcPr>
                </a:tc>
                <a:tc>
                  <a:txBody>
                    <a:bodyPr/>
                    <a:lstStyle/>
                    <a:p>
                      <a:pPr algn="just" rtl="0" fontAlgn="t">
                        <a:buNone/>
                      </a:pPr>
                      <a:r>
                        <a:rPr lang="es-CL" sz="1200" u="none" strike="noStrike">
                          <a:effectLst/>
                        </a:rPr>
                        <a:t>5,0 %</a:t>
                      </a:r>
                      <a:endParaRPr lang="es-CL">
                        <a:effectLst/>
                      </a:endParaRPr>
                    </a:p>
                  </a:txBody>
                  <a:tcPr marL="73025" marR="73025">
                    <a:solidFill>
                      <a:schemeClr val="bg1">
                        <a:lumMod val="95000"/>
                      </a:schemeClr>
                    </a:solidFill>
                  </a:tcPr>
                </a:tc>
                <a:tc>
                  <a:txBody>
                    <a:bodyPr/>
                    <a:lstStyle/>
                    <a:p>
                      <a:pPr algn="just" rtl="0" fontAlgn="t">
                        <a:buNone/>
                      </a:pPr>
                      <a:r>
                        <a:rPr lang="es-CL" sz="1200" u="none" strike="noStrike" dirty="0">
                          <a:effectLst/>
                        </a:rPr>
                        <a:t>100,0 %</a:t>
                      </a:r>
                      <a:endParaRPr lang="es-CL" dirty="0">
                        <a:effectLst/>
                      </a:endParaRPr>
                    </a:p>
                  </a:txBody>
                  <a:tcPr marL="73025" marR="73025">
                    <a:solidFill>
                      <a:schemeClr val="bg1">
                        <a:lumMod val="95000"/>
                      </a:schemeClr>
                    </a:solidFill>
                  </a:tcPr>
                </a:tc>
                <a:tc>
                  <a:txBody>
                    <a:bodyPr/>
                    <a:lstStyle/>
                    <a:p>
                      <a:pPr algn="just" rtl="0" fontAlgn="t">
                        <a:buNone/>
                      </a:pPr>
                      <a:r>
                        <a:rPr lang="es-CL" sz="1200" u="none" strike="noStrike" dirty="0">
                          <a:effectLst/>
                        </a:rPr>
                        <a:t>Planificado</a:t>
                      </a:r>
                      <a:endParaRPr lang="es-CL" dirty="0">
                        <a:effectLst/>
                      </a:endParaRPr>
                    </a:p>
                  </a:txBody>
                  <a:tcPr marL="73025" marR="73025">
                    <a:solidFill>
                      <a:schemeClr val="bg1">
                        <a:lumMod val="95000"/>
                      </a:schemeClr>
                    </a:solidFill>
                  </a:tcPr>
                </a:tc>
                <a:extLst>
                  <a:ext uri="{0D108BD9-81ED-4DB2-BD59-A6C34878D82A}">
                    <a16:rowId xmlns:a16="http://schemas.microsoft.com/office/drawing/2014/main" val="357953325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320040"/>
          </a:xfrm>
          <a:prstGeom prst="rect">
            <a:avLst/>
          </a:prstGeom>
          <a:noFill/>
          <a:ln/>
        </p:spPr>
        <p:txBody>
          <a:bodyPr wrap="square" lIns="0" tIns="0" rIns="0" bIns="0" rtlCol="0" anchor="ctr"/>
          <a:lstStyle/>
          <a:p>
            <a:pPr marL="0" indent="0">
              <a:buNone/>
            </a:pPr>
            <a:r>
              <a:rPr lang="en-US" sz="1200" b="1" kern="0" spc="200">
                <a:solidFill>
                  <a:srgbClr val="FF4200"/>
                </a:solidFill>
                <a:latin typeface="Aharoni" panose="02010803020104030203" pitchFamily="2" charset="-79"/>
                <a:ea typeface="Calibri" pitchFamily="34" charset="-122"/>
                <a:cs typeface="Aharoni" panose="02010803020104030203" pitchFamily="2" charset="-79"/>
              </a:rPr>
              <a:t>REQUERIMIENTOS</a:t>
            </a:r>
            <a:endParaRPr lang="en-US" sz="1200">
              <a:latin typeface="Aharoni" panose="02010803020104030203" pitchFamily="2" charset="-79"/>
              <a:cs typeface="Aharoni" panose="02010803020104030203" pitchFamily="2" charset="-79"/>
            </a:endParaRPr>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marL="0" indent="0">
              <a:buNone/>
            </a:pPr>
            <a:r>
              <a:rPr lang="en-US" sz="2800" b="1" dirty="0" err="1">
                <a:solidFill>
                  <a:srgbClr val="262626"/>
                </a:solidFill>
                <a:latin typeface="Aharoni" panose="02010803020104030203" pitchFamily="2" charset="-79"/>
                <a:ea typeface="Calibri" pitchFamily="34" charset="-122"/>
                <a:cs typeface="Aharoni" panose="02010803020104030203" pitchFamily="2" charset="-79"/>
              </a:rPr>
              <a:t>Algunos</a:t>
            </a:r>
            <a:r>
              <a:rPr lang="en-US" sz="2800" b="1" dirty="0">
                <a:solidFill>
                  <a:srgbClr val="262626"/>
                </a:solidFill>
                <a:latin typeface="Aharoni" panose="02010803020104030203" pitchFamily="2" charset="-79"/>
                <a:ea typeface="Calibri" pitchFamily="34" charset="-122"/>
                <a:cs typeface="Aharoni" panose="02010803020104030203" pitchFamily="2" charset="-79"/>
              </a:rPr>
              <a:t> RF </a:t>
            </a:r>
            <a:r>
              <a:rPr lang="en-US" sz="2800" b="1" dirty="0" err="1">
                <a:solidFill>
                  <a:srgbClr val="262626"/>
                </a:solidFill>
                <a:latin typeface="Aharoni" panose="02010803020104030203" pitchFamily="2" charset="-79"/>
                <a:ea typeface="Calibri" pitchFamily="34" charset="-122"/>
                <a:cs typeface="Aharoni" panose="02010803020104030203" pitchFamily="2" charset="-79"/>
              </a:rPr>
              <a:t>destacados</a:t>
            </a:r>
            <a:r>
              <a:rPr lang="en-US" sz="2800" b="1" dirty="0">
                <a:solidFill>
                  <a:srgbClr val="262626"/>
                </a:solidFill>
                <a:latin typeface="Aharoni" panose="02010803020104030203" pitchFamily="2" charset="-79"/>
                <a:ea typeface="Calibri" pitchFamily="34" charset="-122"/>
                <a:cs typeface="Aharoni" panose="02010803020104030203" pitchFamily="2" charset="-79"/>
              </a:rPr>
              <a:t> del </a:t>
            </a:r>
            <a:r>
              <a:rPr lang="en-US" sz="2800" b="1" dirty="0" err="1">
                <a:solidFill>
                  <a:srgbClr val="262626"/>
                </a:solidFill>
                <a:latin typeface="Aharoni" panose="02010803020104030203" pitchFamily="2" charset="-79"/>
                <a:ea typeface="Calibri" pitchFamily="34" charset="-122"/>
                <a:cs typeface="Aharoni" panose="02010803020104030203" pitchFamily="2" charset="-79"/>
              </a:rPr>
              <a:t>incremento</a:t>
            </a:r>
            <a:r>
              <a:rPr lang="en-US" sz="2800" b="1" dirty="0">
                <a:solidFill>
                  <a:srgbClr val="262626"/>
                </a:solidFill>
                <a:latin typeface="Aharoni" panose="02010803020104030203" pitchFamily="2" charset="-79"/>
                <a:ea typeface="Calibri" pitchFamily="34" charset="-122"/>
                <a:cs typeface="Aharoni" panose="02010803020104030203" pitchFamily="2" charset="-79"/>
              </a:rPr>
              <a:t> </a:t>
            </a:r>
            <a:r>
              <a:rPr lang="en-US" sz="3600" b="1" dirty="0">
                <a:solidFill>
                  <a:srgbClr val="262626"/>
                </a:solidFill>
                <a:latin typeface="Aharoni" panose="02010803020104030203" pitchFamily="2" charset="-79"/>
                <a:ea typeface="Calibri" pitchFamily="34" charset="-122"/>
                <a:cs typeface="Aharoni" panose="02010803020104030203" pitchFamily="2" charset="-79"/>
              </a:rPr>
              <a:t>2</a:t>
            </a:r>
            <a:endParaRPr lang="en-US" sz="2800" dirty="0">
              <a:latin typeface="Aharoni" panose="02010803020104030203" pitchFamily="2" charset="-79"/>
              <a:cs typeface="Aharoni" panose="02010803020104030203" pitchFamily="2" charset="-79"/>
            </a:endParaRPr>
          </a:p>
        </p:txBody>
      </p:sp>
      <p:graphicFrame>
        <p:nvGraphicFramePr>
          <p:cNvPr id="6" name="Table 0"/>
          <p:cNvGraphicFramePr>
            <a:graphicFrameLocks noGrp="1"/>
          </p:cNvGraphicFramePr>
          <p:nvPr>
            <p:extLst>
              <p:ext uri="{D42A27DB-BD31-4B8C-83A1-F6EECF244321}">
                <p14:modId xmlns:p14="http://schemas.microsoft.com/office/powerpoint/2010/main" val="2035653388"/>
              </p:ext>
            </p:extLst>
          </p:nvPr>
        </p:nvGraphicFramePr>
        <p:xfrm>
          <a:off x="1036767" y="1983486"/>
          <a:ext cx="9210343" cy="2552700"/>
        </p:xfrm>
        <a:graphic>
          <a:graphicData uri="http://schemas.openxmlformats.org/drawingml/2006/table">
            <a:tbl>
              <a:tblPr/>
              <a:tblGrid>
                <a:gridCol w="674213">
                  <a:extLst>
                    <a:ext uri="{9D8B030D-6E8A-4147-A177-3AD203B41FA5}">
                      <a16:colId xmlns:a16="http://schemas.microsoft.com/office/drawing/2014/main" val="20000"/>
                    </a:ext>
                  </a:extLst>
                </a:gridCol>
                <a:gridCol w="6945673">
                  <a:extLst>
                    <a:ext uri="{9D8B030D-6E8A-4147-A177-3AD203B41FA5}">
                      <a16:colId xmlns:a16="http://schemas.microsoft.com/office/drawing/2014/main" val="20001"/>
                    </a:ext>
                  </a:extLst>
                </a:gridCol>
                <a:gridCol w="1590457">
                  <a:extLst>
                    <a:ext uri="{9D8B030D-6E8A-4147-A177-3AD203B41FA5}">
                      <a16:colId xmlns:a16="http://schemas.microsoft.com/office/drawing/2014/main" val="1956964027"/>
                    </a:ext>
                  </a:extLst>
                </a:gridCol>
              </a:tblGrid>
              <a:tr h="632460">
                <a:tc>
                  <a:txBody>
                    <a:bodyPr/>
                    <a:lstStyle/>
                    <a:p>
                      <a:pPr marL="0" indent="0">
                        <a:buNone/>
                      </a:pPr>
                      <a:r>
                        <a:rPr lang="en-US" sz="2000" b="1" dirty="0">
                          <a:solidFill>
                            <a:srgbClr val="FFFFFF"/>
                          </a:solidFill>
                          <a:latin typeface="Calibri" pitchFamily="34" charset="0"/>
                          <a:ea typeface="Calibri" pitchFamily="34" charset="-122"/>
                          <a:cs typeface="Calibri" pitchFamily="34" charset="-120"/>
                        </a:rPr>
                        <a:t>RF</a:t>
                      </a:r>
                      <a:endParaRPr lang="en-US" sz="2000" dirty="0">
                        <a:latin typeface="Calibri" charset="0"/>
                        <a:ea typeface="Calibri" charset="0"/>
                        <a:cs typeface="Calibri" charset="0"/>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262626"/>
                    </a:solidFill>
                  </a:tcPr>
                </a:tc>
                <a:tc>
                  <a:txBody>
                    <a:bodyPr/>
                    <a:lstStyle/>
                    <a:p>
                      <a:pPr marL="0" indent="0">
                        <a:buNone/>
                      </a:pPr>
                      <a:r>
                        <a:rPr lang="en-US" sz="2000" b="1" dirty="0" err="1">
                          <a:solidFill>
                            <a:srgbClr val="FFFFFF"/>
                          </a:solidFill>
                          <a:latin typeface="Calibri" pitchFamily="34" charset="0"/>
                          <a:ea typeface="Calibri" pitchFamily="34" charset="-122"/>
                          <a:cs typeface="Calibri" pitchFamily="34" charset="-120"/>
                        </a:rPr>
                        <a:t>Descripción</a:t>
                      </a:r>
                      <a:endParaRPr lang="en-US" sz="2000" dirty="0">
                        <a:latin typeface="Calibri" charset="0"/>
                        <a:ea typeface="Calibri" charset="0"/>
                        <a:cs typeface="Calibri" charset="0"/>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26262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err="1">
                          <a:solidFill>
                            <a:srgbClr val="FFFFFF"/>
                          </a:solidFill>
                          <a:latin typeface="Calibri" pitchFamily="34" charset="0"/>
                          <a:ea typeface="Calibri" charset="0"/>
                          <a:cs typeface="Calibri" pitchFamily="34" charset="-120"/>
                        </a:rPr>
                        <a:t>Módulo</a:t>
                      </a:r>
                      <a:endParaRPr lang="en-US" sz="2000" dirty="0">
                        <a:latin typeface="Calibri" charset="0"/>
                        <a:ea typeface="Calibri" charset="0"/>
                        <a:cs typeface="Calibri" charset="0"/>
                      </a:endParaRPr>
                    </a:p>
                    <a:p>
                      <a:pPr marL="0" indent="0">
                        <a:buNone/>
                      </a:pPr>
                      <a:endParaRPr lang="en-US" sz="1300" dirty="0">
                        <a:latin typeface="Calibri" charset="0"/>
                        <a:ea typeface="Calibri" charset="0"/>
                        <a:cs typeface="Calibri" charset="0"/>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262626"/>
                    </a:solidFill>
                  </a:tcPr>
                </a:tc>
                <a:extLst>
                  <a:ext uri="{0D108BD9-81ED-4DB2-BD59-A6C34878D82A}">
                    <a16:rowId xmlns:a16="http://schemas.microsoft.com/office/drawing/2014/main" val="10000"/>
                  </a:ext>
                </a:extLst>
              </a:tr>
              <a:tr h="632460">
                <a:tc>
                  <a:txBody>
                    <a:bodyPr/>
                    <a:lstStyle/>
                    <a:p>
                      <a:pPr marL="0" indent="0">
                        <a:buNone/>
                      </a:pPr>
                      <a:r>
                        <a:rPr lang="en-US" sz="1300" b="1" dirty="0">
                          <a:solidFill>
                            <a:srgbClr val="1A1A1A"/>
                          </a:solidFill>
                          <a:latin typeface="Calibri" pitchFamily="34" charset="0"/>
                          <a:ea typeface="Calibri" pitchFamily="34" charset="-122"/>
                          <a:cs typeface="Calibri" pitchFamily="34" charset="-120"/>
                        </a:rPr>
                        <a:t>RF-17</a:t>
                      </a:r>
                      <a:endParaRPr lang="en-US" sz="1300" b="1" dirty="0">
                        <a:latin typeface="Calibri" charset="0"/>
                        <a:ea typeface="Calibri" charset="0"/>
                        <a:cs typeface="Calibri" charset="0"/>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tc>
                  <a:txBody>
                    <a:bodyPr/>
                    <a:lstStyle/>
                    <a:p>
                      <a:pPr marL="0" indent="0">
                        <a:buNone/>
                      </a:pPr>
                      <a:r>
                        <a:rPr lang="es-CL" sz="1200" b="0" i="0" u="none" strike="noStrike" kern="1200" dirty="0">
                          <a:solidFill>
                            <a:schemeClr val="tx1"/>
                          </a:solidFill>
                          <a:effectLst/>
                          <a:latin typeface="+mn-lt"/>
                          <a:ea typeface="+mn-ea"/>
                          <a:cs typeface="+mn-cs"/>
                        </a:rPr>
                        <a:t>El sistema debe permitir registrar cotizaciones distintas para una misma SM, exigiendo ingresar: proveedor, valor unitario ofertado, costo de despacho y tiempo de entrega en días hábiles. Automáticamente quedan en estado “Pendiente”, esperando la comparación.</a:t>
                      </a:r>
                      <a:endParaRPr lang="en-US" sz="1050" dirty="0">
                        <a:latin typeface="Calibri" charset="0"/>
                        <a:ea typeface="Calibri" charset="0"/>
                        <a:cs typeface="Calibri" charset="0"/>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tc>
                  <a:txBody>
                    <a:bodyPr/>
                    <a:lstStyle/>
                    <a:p>
                      <a:pPr marL="0" indent="0">
                        <a:buNone/>
                      </a:pPr>
                      <a:r>
                        <a:rPr lang="es-CL" sz="1400" b="1" i="0" u="none" strike="noStrike" kern="1200" dirty="0">
                          <a:solidFill>
                            <a:schemeClr val="tx1"/>
                          </a:solidFill>
                          <a:effectLst/>
                          <a:latin typeface="+mn-lt"/>
                          <a:ea typeface="+mn-ea"/>
                          <a:cs typeface="+mn-cs"/>
                        </a:rPr>
                        <a:t>Módulo 4: Adquisiciones y Cotizaciones</a:t>
                      </a:r>
                      <a:endParaRPr lang="en-US" sz="900" dirty="0">
                        <a:latin typeface="Calibri" charset="0"/>
                        <a:ea typeface="Calibri" charset="0"/>
                        <a:cs typeface="Calibri" charset="0"/>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extLst>
                  <a:ext uri="{0D108BD9-81ED-4DB2-BD59-A6C34878D82A}">
                    <a16:rowId xmlns:a16="http://schemas.microsoft.com/office/drawing/2014/main" val="10001"/>
                  </a:ext>
                </a:extLst>
              </a:tr>
              <a:tr h="632460">
                <a:tc>
                  <a:txBody>
                    <a:bodyPr/>
                    <a:lstStyle/>
                    <a:p>
                      <a:pPr marL="0" indent="0">
                        <a:buNone/>
                      </a:pPr>
                      <a:r>
                        <a:rPr lang="en-US" sz="1300" b="1" dirty="0">
                          <a:solidFill>
                            <a:srgbClr val="1A1A1A"/>
                          </a:solidFill>
                          <a:latin typeface="Calibri" pitchFamily="34" charset="0"/>
                          <a:ea typeface="Calibri" pitchFamily="34" charset="-122"/>
                          <a:cs typeface="Calibri" pitchFamily="34" charset="-120"/>
                        </a:rPr>
                        <a:t>RF-21</a:t>
                      </a:r>
                      <a:endParaRPr lang="en-US" sz="1300" b="1" dirty="0">
                        <a:latin typeface="Calibri" charset="0"/>
                        <a:ea typeface="Calibri" charset="0"/>
                        <a:cs typeface="Calibri" charset="0"/>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tc>
                  <a:txBody>
                    <a:bodyPr/>
                    <a:lstStyle/>
                    <a:p>
                      <a:pPr marL="0" indent="0">
                        <a:buNone/>
                      </a:pPr>
                      <a:r>
                        <a:rPr lang="es-CL" sz="1200" b="0" i="0" u="none" strike="noStrike" kern="1200" dirty="0">
                          <a:solidFill>
                            <a:schemeClr val="tx1"/>
                          </a:solidFill>
                          <a:effectLst/>
                          <a:latin typeface="+mn-lt"/>
                          <a:ea typeface="+mn-ea"/>
                          <a:cs typeface="+mn-cs"/>
                        </a:rPr>
                        <a:t>El sistema debe generar, al presionar Generar Orden de Compra, un borrador de Orden de Compra por cada proveedor que tenga al menos una línea de cotización Aprobada en la SM, autocompletando los materiales y precios aprobados correspondientes a ese proveedor, los datos de facturación de Constructora M5 </a:t>
                      </a:r>
                      <a:r>
                        <a:rPr lang="es-CL" sz="1200" b="0" i="0" u="none" strike="noStrike" kern="1200" dirty="0" err="1">
                          <a:solidFill>
                            <a:schemeClr val="tx1"/>
                          </a:solidFill>
                          <a:effectLst/>
                          <a:latin typeface="+mn-lt"/>
                          <a:ea typeface="+mn-ea"/>
                          <a:cs typeface="+mn-cs"/>
                        </a:rPr>
                        <a:t>SpA</a:t>
                      </a:r>
                      <a:r>
                        <a:rPr lang="es-CL" sz="1200" b="0" i="0" u="none" strike="noStrike" kern="1200" dirty="0">
                          <a:solidFill>
                            <a:schemeClr val="tx1"/>
                          </a:solidFill>
                          <a:effectLst/>
                          <a:latin typeface="+mn-lt"/>
                          <a:ea typeface="+mn-ea"/>
                          <a:cs typeface="+mn-cs"/>
                        </a:rPr>
                        <a:t>, y los datos del proveedor RUT, razón social, dirección y condiciones de pago extraídos de la base de datos de proveedores. Al confirmar la operación, el sistema asigna a cada una un número correlativo automático e irrepetible que no permite digitación manual. </a:t>
                      </a:r>
                      <a:endParaRPr lang="en-US" sz="1050" dirty="0">
                        <a:latin typeface="Calibri" charset="0"/>
                        <a:ea typeface="Calibri" charset="0"/>
                        <a:cs typeface="Calibri" charset="0"/>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tc>
                  <a:txBody>
                    <a:bodyPr/>
                    <a:lstStyle/>
                    <a:p>
                      <a:pPr marL="0" indent="0">
                        <a:buNone/>
                      </a:pPr>
                      <a:r>
                        <a:rPr lang="es-CL" sz="1400" b="1" i="0" u="none" strike="noStrike" kern="1200" dirty="0">
                          <a:solidFill>
                            <a:schemeClr val="tx1"/>
                          </a:solidFill>
                          <a:effectLst/>
                          <a:latin typeface="+mn-lt"/>
                          <a:ea typeface="+mn-ea"/>
                          <a:cs typeface="+mn-cs"/>
                        </a:rPr>
                        <a:t>Módulo 5: Generación de Órdenes de Compra</a:t>
                      </a:r>
                      <a:endParaRPr lang="en-US" sz="900" dirty="0">
                        <a:latin typeface="Calibri" charset="0"/>
                        <a:ea typeface="Calibri" charset="0"/>
                        <a:cs typeface="Calibri" charset="0"/>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txBox="1"/>
          <p:nvPr/>
        </p:nvSpPr>
        <p:spPr>
          <a:xfrm>
            <a:off x="1046579" y="4619244"/>
            <a:ext cx="11091672" cy="365760"/>
          </a:xfrm>
          <a:prstGeom prst="rect">
            <a:avLst/>
          </a:prstGeom>
          <a:noFill/>
          <a:ln/>
        </p:spPr>
        <p:txBody>
          <a:bodyPr wrap="square" lIns="0" tIns="0" rIns="0" bIns="0" rtlCol="0" anchor="ctr"/>
          <a:lstStyle/>
          <a:p>
            <a:pPr marL="0" indent="0">
              <a:buNone/>
            </a:pPr>
            <a:r>
              <a:rPr lang="en-US" sz="1100" i="1" dirty="0" err="1">
                <a:solidFill>
                  <a:srgbClr val="6B7280"/>
                </a:solidFill>
                <a:latin typeface="Calibri" pitchFamily="34" charset="0"/>
                <a:ea typeface="Calibri" pitchFamily="34" charset="-122"/>
                <a:cs typeface="Calibri" pitchFamily="34" charset="-120"/>
              </a:rPr>
              <a:t>Catálogo</a:t>
            </a:r>
            <a:r>
              <a:rPr lang="en-US" sz="1100" i="1" dirty="0">
                <a:solidFill>
                  <a:srgbClr val="6B7280"/>
                </a:solidFill>
                <a:latin typeface="Calibri" pitchFamily="34" charset="0"/>
                <a:ea typeface="Calibri" pitchFamily="34" charset="-122"/>
                <a:cs typeface="Calibri" pitchFamily="34" charset="-120"/>
              </a:rPr>
              <a:t> </a:t>
            </a:r>
            <a:r>
              <a:rPr lang="en-US" sz="1100" i="1" dirty="0" err="1">
                <a:solidFill>
                  <a:srgbClr val="6B7280"/>
                </a:solidFill>
                <a:latin typeface="Calibri" pitchFamily="34" charset="0"/>
                <a:ea typeface="Calibri" pitchFamily="34" charset="-122"/>
                <a:cs typeface="Calibri" pitchFamily="34" charset="-120"/>
              </a:rPr>
              <a:t>completo</a:t>
            </a:r>
            <a:r>
              <a:rPr lang="en-US" sz="1100" i="1" dirty="0">
                <a:solidFill>
                  <a:srgbClr val="6B7280"/>
                </a:solidFill>
                <a:latin typeface="Calibri" pitchFamily="34" charset="0"/>
                <a:ea typeface="Calibri" pitchFamily="34" charset="-122"/>
                <a:cs typeface="Calibri" pitchFamily="34" charset="-120"/>
              </a:rPr>
              <a:t>: 60 RF </a:t>
            </a:r>
            <a:r>
              <a:rPr lang="en-US" sz="1100" i="1" dirty="0" err="1">
                <a:solidFill>
                  <a:srgbClr val="6B7280"/>
                </a:solidFill>
                <a:latin typeface="Calibri" pitchFamily="34" charset="0"/>
                <a:ea typeface="Calibri" pitchFamily="34" charset="-122"/>
                <a:cs typeface="Calibri" pitchFamily="34" charset="-120"/>
              </a:rPr>
              <a:t>documentados</a:t>
            </a:r>
            <a:r>
              <a:rPr lang="en-US" sz="1100" i="1" dirty="0">
                <a:solidFill>
                  <a:srgbClr val="6B7280"/>
                </a:solidFill>
                <a:latin typeface="Calibri" pitchFamily="34" charset="0"/>
                <a:ea typeface="Calibri" pitchFamily="34" charset="-122"/>
                <a:cs typeface="Calibri" pitchFamily="34" charset="-120"/>
              </a:rPr>
              <a:t> </a:t>
            </a:r>
            <a:r>
              <a:rPr lang="en-US" sz="1100" i="1" dirty="0" err="1">
                <a:solidFill>
                  <a:srgbClr val="6B7280"/>
                </a:solidFill>
                <a:latin typeface="Calibri" pitchFamily="34" charset="0"/>
                <a:ea typeface="Calibri" pitchFamily="34" charset="-122"/>
                <a:cs typeface="Calibri" pitchFamily="34" charset="-120"/>
              </a:rPr>
              <a:t>en</a:t>
            </a:r>
            <a:r>
              <a:rPr lang="en-US" sz="1100" i="1" dirty="0">
                <a:solidFill>
                  <a:srgbClr val="6B7280"/>
                </a:solidFill>
                <a:latin typeface="Calibri" pitchFamily="34" charset="0"/>
                <a:ea typeface="Calibri" pitchFamily="34" charset="-122"/>
                <a:cs typeface="Calibri" pitchFamily="34" charset="-120"/>
              </a:rPr>
              <a:t> el </a:t>
            </a:r>
            <a:r>
              <a:rPr lang="en-US" sz="1100" i="1" dirty="0" err="1">
                <a:solidFill>
                  <a:srgbClr val="6B7280"/>
                </a:solidFill>
                <a:latin typeface="Calibri" pitchFamily="34" charset="0"/>
                <a:ea typeface="Calibri" pitchFamily="34" charset="-122"/>
                <a:cs typeface="Calibri" pitchFamily="34" charset="-120"/>
              </a:rPr>
              <a:t>proyecto</a:t>
            </a:r>
            <a:r>
              <a:rPr lang="en-US" sz="1100" i="1" dirty="0">
                <a:solidFill>
                  <a:srgbClr val="6B7280"/>
                </a:solidFill>
                <a:latin typeface="Calibri" pitchFamily="34" charset="0"/>
                <a:ea typeface="Calibri" pitchFamily="34" charset="-122"/>
                <a:cs typeface="Calibri" pitchFamily="34" charset="-120"/>
              </a:rPr>
              <a:t> (</a:t>
            </a:r>
            <a:r>
              <a:rPr lang="en-US" sz="1100" i="1" dirty="0" err="1">
                <a:solidFill>
                  <a:srgbClr val="6B7280"/>
                </a:solidFill>
                <a:latin typeface="Calibri" pitchFamily="34" charset="0"/>
                <a:ea typeface="Calibri" pitchFamily="34" charset="-122"/>
                <a:cs typeface="Calibri" pitchFamily="34" charset="-120"/>
              </a:rPr>
              <a:t>ver</a:t>
            </a:r>
            <a:r>
              <a:rPr lang="en-US" sz="1100" i="1" dirty="0">
                <a:solidFill>
                  <a:srgbClr val="6B7280"/>
                </a:solidFill>
                <a:latin typeface="Calibri" pitchFamily="34" charset="0"/>
                <a:ea typeface="Calibri" pitchFamily="34" charset="-122"/>
                <a:cs typeface="Calibri" pitchFamily="34" charset="-120"/>
              </a:rPr>
              <a:t> </a:t>
            </a:r>
            <a:r>
              <a:rPr lang="en-US" sz="1100" i="1" dirty="0" err="1">
                <a:solidFill>
                  <a:srgbClr val="6B7280"/>
                </a:solidFill>
                <a:latin typeface="Calibri" pitchFamily="34" charset="0"/>
                <a:ea typeface="Calibri" pitchFamily="34" charset="-122"/>
                <a:cs typeface="Calibri" pitchFamily="34" charset="-120"/>
              </a:rPr>
              <a:t>Documento</a:t>
            </a:r>
            <a:r>
              <a:rPr lang="en-US" sz="1100" i="1" dirty="0">
                <a:solidFill>
                  <a:srgbClr val="6B7280"/>
                </a:solidFill>
                <a:latin typeface="Calibri" pitchFamily="34" charset="0"/>
                <a:ea typeface="Calibri" pitchFamily="34" charset="-122"/>
                <a:cs typeface="Calibri" pitchFamily="34" charset="-120"/>
              </a:rPr>
              <a:t> 0).</a:t>
            </a:r>
            <a:endParaRPr lang="en-US" sz="1100" dirty="0"/>
          </a:p>
        </p:txBody>
      </p:sp>
      <p:sp>
        <p:nvSpPr>
          <p:cNvPr id="4" name="Text 3"/>
          <p:cNvSpPr txBox="1"/>
          <p:nvPr/>
        </p:nvSpPr>
        <p:spPr>
          <a:xfrm>
            <a:off x="548640" y="6446520"/>
            <a:ext cx="10543032" cy="27432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Sistema de Gestión de Adquisiciones e Inventario  |  Constructora M5 SpA</a:t>
            </a:r>
            <a:endParaRPr lang="en-US" sz="900"/>
          </a:p>
        </p:txBody>
      </p:sp>
      <p:sp>
        <p:nvSpPr>
          <p:cNvPr id="7" name="Text 4"/>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900">
                <a:solidFill>
                  <a:srgbClr val="6B7280"/>
                </a:solidFill>
                <a:latin typeface="Calibri" pitchFamily="34" charset="0"/>
                <a:ea typeface="Calibri" pitchFamily="34" charset="-122"/>
                <a:cs typeface="Calibri" pitchFamily="34" charset="-120"/>
              </a:rPr>
              <a:t>5</a:t>
            </a:r>
            <a:endParaRPr lang="en-US" sz="900"/>
          </a:p>
        </p:txBody>
      </p:sp>
      <p:pic>
        <p:nvPicPr>
          <p:cNvPr id="9" name="Picture 8">
            <a:extLst>
              <a:ext uri="{FF2B5EF4-FFF2-40B4-BE49-F238E27FC236}">
                <a16:creationId xmlns:a16="http://schemas.microsoft.com/office/drawing/2014/main" id="{6DF579AA-DFBA-5F4E-3597-281F23567E99}"/>
              </a:ext>
            </a:extLst>
          </p:cNvPr>
          <p:cNvPicPr>
            <a:picLocks noChangeAspect="1"/>
          </p:cNvPicPr>
          <p:nvPr/>
        </p:nvPicPr>
        <p:blipFill>
          <a:blip r:embed="rId3"/>
          <a:stretch>
            <a:fillRect/>
          </a:stretch>
        </p:blipFill>
        <p:spPr>
          <a:xfrm>
            <a:off x="10247110" y="518323"/>
            <a:ext cx="1484642" cy="92016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320040"/>
          </a:xfrm>
          <a:prstGeom prst="rect">
            <a:avLst/>
          </a:prstGeom>
          <a:noFill/>
          <a:ln/>
        </p:spPr>
        <p:txBody>
          <a:bodyPr wrap="square" lIns="0" tIns="0" rIns="0" bIns="0" rtlCol="0" anchor="ctr"/>
          <a:lstStyle/>
          <a:p>
            <a:pPr marL="0" indent="0">
              <a:buNone/>
            </a:pPr>
            <a:r>
              <a:rPr lang="en-US" sz="1200" b="1" kern="0" spc="200" dirty="0">
                <a:solidFill>
                  <a:srgbClr val="FF4200"/>
                </a:solidFill>
                <a:latin typeface="Aharoni" panose="02010803020104030203" pitchFamily="2" charset="-79"/>
                <a:ea typeface="Calibri" pitchFamily="34" charset="-122"/>
                <a:cs typeface="Aharoni" panose="02010803020104030203" pitchFamily="2" charset="-79"/>
              </a:rPr>
              <a:t>CASOS DE USO</a:t>
            </a:r>
            <a:endParaRPr lang="en-US" sz="1200" dirty="0">
              <a:latin typeface="Aharoni" panose="02010803020104030203" pitchFamily="2" charset="-79"/>
              <a:cs typeface="Aharoni" panose="02010803020104030203" pitchFamily="2" charset="-79"/>
            </a:endParaRPr>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marL="0" indent="0">
              <a:buNone/>
            </a:pPr>
            <a:r>
              <a:rPr lang="en-US" sz="2800" b="1" dirty="0">
                <a:solidFill>
                  <a:srgbClr val="262626"/>
                </a:solidFill>
                <a:latin typeface="Aharoni" panose="02010803020104030203" pitchFamily="2" charset="-79"/>
                <a:ea typeface="Calibri" pitchFamily="34" charset="-122"/>
                <a:cs typeface="Aharoni" panose="02010803020104030203" pitchFamily="2" charset="-79"/>
              </a:rPr>
              <a:t>CU </a:t>
            </a:r>
            <a:r>
              <a:rPr lang="en-US" sz="2800" b="1" dirty="0" err="1">
                <a:solidFill>
                  <a:srgbClr val="262626"/>
                </a:solidFill>
                <a:latin typeface="Aharoni" panose="02010803020104030203" pitchFamily="2" charset="-79"/>
                <a:ea typeface="Calibri" pitchFamily="34" charset="-122"/>
                <a:cs typeface="Aharoni" panose="02010803020104030203" pitchFamily="2" charset="-79"/>
              </a:rPr>
              <a:t>asociados</a:t>
            </a:r>
            <a:r>
              <a:rPr lang="en-US" sz="2800" b="1" dirty="0">
                <a:solidFill>
                  <a:srgbClr val="262626"/>
                </a:solidFill>
                <a:latin typeface="Aharoni" panose="02010803020104030203" pitchFamily="2" charset="-79"/>
                <a:ea typeface="Calibri" pitchFamily="34" charset="-122"/>
                <a:cs typeface="Aharoni" panose="02010803020104030203" pitchFamily="2" charset="-79"/>
              </a:rPr>
              <a:t> a </a:t>
            </a:r>
            <a:r>
              <a:rPr lang="en-US" sz="2800" b="1" dirty="0" err="1">
                <a:solidFill>
                  <a:srgbClr val="262626"/>
                </a:solidFill>
                <a:latin typeface="Aharoni" panose="02010803020104030203" pitchFamily="2" charset="-79"/>
                <a:ea typeface="Calibri" pitchFamily="34" charset="-122"/>
                <a:cs typeface="Aharoni" panose="02010803020104030203" pitchFamily="2" charset="-79"/>
              </a:rPr>
              <a:t>los</a:t>
            </a:r>
            <a:r>
              <a:rPr lang="en-US" sz="2800" b="1" dirty="0">
                <a:solidFill>
                  <a:srgbClr val="262626"/>
                </a:solidFill>
                <a:latin typeface="Aharoni" panose="02010803020104030203" pitchFamily="2" charset="-79"/>
                <a:ea typeface="Calibri" pitchFamily="34" charset="-122"/>
                <a:cs typeface="Aharoni" panose="02010803020104030203" pitchFamily="2" charset="-79"/>
              </a:rPr>
              <a:t> RF </a:t>
            </a:r>
            <a:r>
              <a:rPr lang="en-US" sz="2800" b="1" dirty="0" err="1">
                <a:solidFill>
                  <a:srgbClr val="262626"/>
                </a:solidFill>
                <a:latin typeface="Aharoni" panose="02010803020104030203" pitchFamily="2" charset="-79"/>
                <a:ea typeface="Calibri" pitchFamily="34" charset="-122"/>
                <a:cs typeface="Aharoni" panose="02010803020104030203" pitchFamily="2" charset="-79"/>
              </a:rPr>
              <a:t>destacados</a:t>
            </a:r>
            <a:endParaRPr lang="en-US" sz="2800" dirty="0">
              <a:latin typeface="Aharoni" panose="02010803020104030203" pitchFamily="2" charset="-79"/>
              <a:cs typeface="Aharoni" panose="02010803020104030203" pitchFamily="2" charset="-79"/>
            </a:endParaRPr>
          </a:p>
        </p:txBody>
      </p:sp>
      <p:sp>
        <p:nvSpPr>
          <p:cNvPr id="5" name="Text 2"/>
          <p:cNvSpPr txBox="1"/>
          <p:nvPr/>
        </p:nvSpPr>
        <p:spPr>
          <a:xfrm>
            <a:off x="548640" y="6446520"/>
            <a:ext cx="10543032" cy="27432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Sistema de Gestión de Adquisiciones e Inventario  |  Constructora M5 SpA</a:t>
            </a:r>
            <a:endParaRPr lang="en-US" sz="900"/>
          </a:p>
        </p:txBody>
      </p:sp>
      <p:sp>
        <p:nvSpPr>
          <p:cNvPr id="6" name="Text 3"/>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900">
                <a:solidFill>
                  <a:srgbClr val="6B7280"/>
                </a:solidFill>
                <a:latin typeface="Calibri" pitchFamily="34" charset="0"/>
                <a:ea typeface="Calibri" pitchFamily="34" charset="-122"/>
                <a:cs typeface="Calibri" pitchFamily="34" charset="-120"/>
              </a:rPr>
              <a:t>6</a:t>
            </a:r>
            <a:endParaRPr lang="en-US" sz="900"/>
          </a:p>
        </p:txBody>
      </p:sp>
      <p:pic>
        <p:nvPicPr>
          <p:cNvPr id="8" name="Picture 7">
            <a:extLst>
              <a:ext uri="{FF2B5EF4-FFF2-40B4-BE49-F238E27FC236}">
                <a16:creationId xmlns:a16="http://schemas.microsoft.com/office/drawing/2014/main" id="{2020D9E8-10E7-4BE7-8CEF-43BF59F42021}"/>
              </a:ext>
            </a:extLst>
          </p:cNvPr>
          <p:cNvPicPr>
            <a:picLocks noChangeAspect="1"/>
          </p:cNvPicPr>
          <p:nvPr/>
        </p:nvPicPr>
        <p:blipFill>
          <a:blip r:embed="rId3"/>
          <a:stretch>
            <a:fillRect/>
          </a:stretch>
        </p:blipFill>
        <p:spPr>
          <a:xfrm>
            <a:off x="10247110" y="518323"/>
            <a:ext cx="1484642" cy="920169"/>
          </a:xfrm>
          <a:prstGeom prst="rect">
            <a:avLst/>
          </a:prstGeom>
        </p:spPr>
      </p:pic>
      <p:graphicFrame>
        <p:nvGraphicFramePr>
          <p:cNvPr id="4" name="Table 3">
            <a:extLst>
              <a:ext uri="{FF2B5EF4-FFF2-40B4-BE49-F238E27FC236}">
                <a16:creationId xmlns:a16="http://schemas.microsoft.com/office/drawing/2014/main" id="{690FF828-9653-8042-6CD9-F33F306057DE}"/>
              </a:ext>
            </a:extLst>
          </p:cNvPr>
          <p:cNvGraphicFramePr>
            <a:graphicFrameLocks noGrp="1"/>
          </p:cNvGraphicFramePr>
          <p:nvPr>
            <p:extLst>
              <p:ext uri="{D42A27DB-BD31-4B8C-83A1-F6EECF244321}">
                <p14:modId xmlns:p14="http://schemas.microsoft.com/office/powerpoint/2010/main" val="2311599722"/>
              </p:ext>
            </p:extLst>
          </p:nvPr>
        </p:nvGraphicFramePr>
        <p:xfrm>
          <a:off x="548640" y="1668184"/>
          <a:ext cx="5313209" cy="3698802"/>
        </p:xfrm>
        <a:graphic>
          <a:graphicData uri="http://schemas.openxmlformats.org/drawingml/2006/table">
            <a:tbl>
              <a:tblPr>
                <a:tableStyleId>{5C22544A-7EE6-4342-B048-85BDC9FD1C3A}</a:tableStyleId>
              </a:tblPr>
              <a:tblGrid>
                <a:gridCol w="1302758">
                  <a:extLst>
                    <a:ext uri="{9D8B030D-6E8A-4147-A177-3AD203B41FA5}">
                      <a16:colId xmlns:a16="http://schemas.microsoft.com/office/drawing/2014/main" val="706130140"/>
                    </a:ext>
                  </a:extLst>
                </a:gridCol>
                <a:gridCol w="4010451">
                  <a:extLst>
                    <a:ext uri="{9D8B030D-6E8A-4147-A177-3AD203B41FA5}">
                      <a16:colId xmlns:a16="http://schemas.microsoft.com/office/drawing/2014/main" val="3289764404"/>
                    </a:ext>
                  </a:extLst>
                </a:gridCol>
              </a:tblGrid>
              <a:tr h="246932">
                <a:tc gridSpan="2">
                  <a:txBody>
                    <a:bodyPr/>
                    <a:lstStyle/>
                    <a:p>
                      <a:pPr algn="just" rtl="0" fontAlgn="t">
                        <a:buNone/>
                      </a:pPr>
                      <a:r>
                        <a:rPr lang="es-CL" sz="800" u="none" strike="noStrike" dirty="0">
                          <a:solidFill>
                            <a:schemeClr val="bg1"/>
                          </a:solidFill>
                          <a:effectLst/>
                        </a:rPr>
                        <a:t>CU-17 —  Registrando cotización para una Solicitud de Materiales </a:t>
                      </a:r>
                      <a:endParaRPr lang="es-CL" sz="800" dirty="0">
                        <a:solidFill>
                          <a:schemeClr val="bg1"/>
                        </a:solidFill>
                        <a:effectLst/>
                      </a:endParaRPr>
                    </a:p>
                  </a:txBody>
                  <a:tcPr marL="34792" marR="34792" marT="23195" marB="23195">
                    <a:solidFill>
                      <a:schemeClr val="bg2">
                        <a:lumMod val="25000"/>
                      </a:schemeClr>
                    </a:solidFill>
                  </a:tcPr>
                </a:tc>
                <a:tc hMerge="1">
                  <a:txBody>
                    <a:bodyPr/>
                    <a:lstStyle/>
                    <a:p>
                      <a:endParaRPr lang="es-CL"/>
                    </a:p>
                  </a:txBody>
                  <a:tcPr/>
                </a:tc>
                <a:extLst>
                  <a:ext uri="{0D108BD9-81ED-4DB2-BD59-A6C34878D82A}">
                    <a16:rowId xmlns:a16="http://schemas.microsoft.com/office/drawing/2014/main" val="2909116389"/>
                  </a:ext>
                </a:extLst>
              </a:tr>
              <a:tr h="246932">
                <a:tc>
                  <a:txBody>
                    <a:bodyPr/>
                    <a:lstStyle/>
                    <a:p>
                      <a:pPr algn="just" rtl="0" fontAlgn="t">
                        <a:buNone/>
                      </a:pPr>
                      <a:r>
                        <a:rPr lang="es-CL" sz="800" u="none" strike="noStrike" dirty="0">
                          <a:solidFill>
                            <a:schemeClr val="bg1"/>
                          </a:solidFill>
                          <a:effectLst/>
                        </a:rPr>
                        <a:t>Nombre</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a:effectLst/>
                        </a:rPr>
                        <a:t>Registrando cotización para una Solicitud de Materiales. </a:t>
                      </a:r>
                      <a:endParaRPr lang="es-CL" sz="800">
                        <a:effectLst/>
                      </a:endParaRPr>
                    </a:p>
                  </a:txBody>
                  <a:tcPr marL="34792" marR="34792" marT="23195" marB="23195"/>
                </a:tc>
                <a:extLst>
                  <a:ext uri="{0D108BD9-81ED-4DB2-BD59-A6C34878D82A}">
                    <a16:rowId xmlns:a16="http://schemas.microsoft.com/office/drawing/2014/main" val="1916245148"/>
                  </a:ext>
                </a:extLst>
              </a:tr>
              <a:tr h="150307">
                <a:tc>
                  <a:txBody>
                    <a:bodyPr/>
                    <a:lstStyle/>
                    <a:p>
                      <a:pPr algn="just" rtl="0" fontAlgn="t">
                        <a:buNone/>
                      </a:pPr>
                      <a:r>
                        <a:rPr lang="es-CL" sz="800" u="none" strike="noStrike" dirty="0">
                          <a:solidFill>
                            <a:schemeClr val="bg1"/>
                          </a:solidFill>
                          <a:effectLst/>
                        </a:rPr>
                        <a:t>Actores</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a:effectLst/>
                        </a:rPr>
                        <a:t>Adquisiciones.</a:t>
                      </a:r>
                      <a:endParaRPr lang="es-CL" sz="800">
                        <a:effectLst/>
                      </a:endParaRPr>
                    </a:p>
                  </a:txBody>
                  <a:tcPr marL="34792" marR="34792" marT="23195" marB="23195"/>
                </a:tc>
                <a:extLst>
                  <a:ext uri="{0D108BD9-81ED-4DB2-BD59-A6C34878D82A}">
                    <a16:rowId xmlns:a16="http://schemas.microsoft.com/office/drawing/2014/main" val="713786961"/>
                  </a:ext>
                </a:extLst>
              </a:tr>
              <a:tr h="246932">
                <a:tc>
                  <a:txBody>
                    <a:bodyPr/>
                    <a:lstStyle/>
                    <a:p>
                      <a:pPr algn="just" rtl="0" fontAlgn="t">
                        <a:buNone/>
                      </a:pPr>
                      <a:r>
                        <a:rPr lang="es-CL" sz="800" u="none" strike="noStrike" dirty="0">
                          <a:solidFill>
                            <a:schemeClr val="bg1"/>
                          </a:solidFill>
                          <a:effectLst/>
                        </a:rPr>
                        <a:t>Requerimiento</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dirty="0">
                          <a:effectLst/>
                        </a:rPr>
                        <a:t>RF-17.</a:t>
                      </a:r>
                      <a:endParaRPr lang="es-CL" sz="800" dirty="0">
                        <a:effectLst/>
                      </a:endParaRPr>
                    </a:p>
                  </a:txBody>
                  <a:tcPr marL="34792" marR="34792" marT="23195" marB="23195"/>
                </a:tc>
                <a:extLst>
                  <a:ext uri="{0D108BD9-81ED-4DB2-BD59-A6C34878D82A}">
                    <a16:rowId xmlns:a16="http://schemas.microsoft.com/office/drawing/2014/main" val="986298217"/>
                  </a:ext>
                </a:extLst>
              </a:tr>
              <a:tr h="415675">
                <a:tc>
                  <a:txBody>
                    <a:bodyPr/>
                    <a:lstStyle/>
                    <a:p>
                      <a:pPr algn="just" rtl="0" fontAlgn="t">
                        <a:buNone/>
                      </a:pPr>
                      <a:r>
                        <a:rPr lang="es-CL" sz="800" u="none" strike="noStrike" dirty="0">
                          <a:solidFill>
                            <a:schemeClr val="bg1"/>
                          </a:solidFill>
                          <a:effectLst/>
                        </a:rPr>
                        <a:t>Resumen</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a:effectLst/>
                        </a:rPr>
                        <a:t>El usuario de Adquisiciones registra una o más cotizaciones de distintos proveedores para una Solicitud de Materiales. El sistema calcula automáticamente el valor total de cada cotización ingresada. </a:t>
                      </a:r>
                      <a:endParaRPr lang="es-CL" sz="800">
                        <a:effectLst/>
                      </a:endParaRPr>
                    </a:p>
                  </a:txBody>
                  <a:tcPr marL="34792" marR="34792" marT="23195" marB="23195"/>
                </a:tc>
                <a:extLst>
                  <a:ext uri="{0D108BD9-81ED-4DB2-BD59-A6C34878D82A}">
                    <a16:rowId xmlns:a16="http://schemas.microsoft.com/office/drawing/2014/main" val="1027235087"/>
                  </a:ext>
                </a:extLst>
              </a:tr>
              <a:tr h="150307">
                <a:tc>
                  <a:txBody>
                    <a:bodyPr/>
                    <a:lstStyle/>
                    <a:p>
                      <a:pPr algn="just" rtl="0" fontAlgn="t">
                        <a:buNone/>
                      </a:pPr>
                      <a:r>
                        <a:rPr lang="es-CL" sz="800" u="none" strike="noStrike" dirty="0">
                          <a:solidFill>
                            <a:schemeClr val="bg1"/>
                          </a:solidFill>
                          <a:effectLst/>
                        </a:rPr>
                        <a:t>Frecuencia</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a:effectLst/>
                        </a:rPr>
                        <a:t>Alta.</a:t>
                      </a:r>
                      <a:endParaRPr lang="es-CL" sz="800">
                        <a:effectLst/>
                      </a:endParaRPr>
                    </a:p>
                  </a:txBody>
                  <a:tcPr marL="34792" marR="34792" marT="23195" marB="23195"/>
                </a:tc>
                <a:extLst>
                  <a:ext uri="{0D108BD9-81ED-4DB2-BD59-A6C34878D82A}">
                    <a16:rowId xmlns:a16="http://schemas.microsoft.com/office/drawing/2014/main" val="3821303385"/>
                  </a:ext>
                </a:extLst>
              </a:tr>
              <a:tr h="246932">
                <a:tc>
                  <a:txBody>
                    <a:bodyPr/>
                    <a:lstStyle/>
                    <a:p>
                      <a:pPr algn="just" rtl="0" fontAlgn="t">
                        <a:buNone/>
                      </a:pPr>
                      <a:r>
                        <a:rPr lang="es-CL" sz="800" u="none" strike="noStrike" dirty="0">
                          <a:solidFill>
                            <a:schemeClr val="bg1"/>
                          </a:solidFill>
                          <a:effectLst/>
                        </a:rPr>
                        <a:t>Precondiciones</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a:effectLst/>
                        </a:rPr>
                        <a:t>La SM debe estar en estado "Emitida".  </a:t>
                      </a:r>
                      <a:endParaRPr lang="es-CL" sz="800">
                        <a:effectLst/>
                      </a:endParaRPr>
                    </a:p>
                  </a:txBody>
                  <a:tcPr marL="34792" marR="34792" marT="23195" marB="23195"/>
                </a:tc>
                <a:extLst>
                  <a:ext uri="{0D108BD9-81ED-4DB2-BD59-A6C34878D82A}">
                    <a16:rowId xmlns:a16="http://schemas.microsoft.com/office/drawing/2014/main" val="223228952"/>
                  </a:ext>
                </a:extLst>
              </a:tr>
              <a:tr h="844410">
                <a:tc>
                  <a:txBody>
                    <a:bodyPr/>
                    <a:lstStyle/>
                    <a:p>
                      <a:pPr algn="just" rtl="0" fontAlgn="t">
                        <a:buNone/>
                      </a:pPr>
                      <a:r>
                        <a:rPr lang="es-CL" sz="800" u="none" strike="noStrike" dirty="0">
                          <a:solidFill>
                            <a:schemeClr val="bg1"/>
                          </a:solidFill>
                          <a:effectLst/>
                        </a:rPr>
                        <a:t>Flujo Principal</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dirty="0">
                          <a:effectLst/>
                        </a:rPr>
                        <a:t>El actor selecciona una Solicitud de Materiales desde la bandeja de entrada y elige la opción "Registrar Cotización". El sistema despliega el formulario exigiendo proveedor, valor unitario ofertado por cada material, costo de despacho y tiempo de entrega en días hábiles [Excepción 1]. El actor confirma el registro. El sistema calcula automáticamente el valor total de la cotización, sumando para cada línea de material el resultado de la cantidad solicitada por el valor unitario, y agregando el costo de despacho total. El sistema almacena la cotización en estado "Pendiente". El actor puede repetir el proceso para registrar cotizaciones adicionales de otros proveedores para la misma SM. </a:t>
                      </a:r>
                      <a:endParaRPr lang="es-CL" sz="800" dirty="0">
                        <a:effectLst/>
                      </a:endParaRPr>
                    </a:p>
                  </a:txBody>
                  <a:tcPr marL="34792" marR="34792" marT="23195" marB="23195"/>
                </a:tc>
                <a:extLst>
                  <a:ext uri="{0D108BD9-81ED-4DB2-BD59-A6C34878D82A}">
                    <a16:rowId xmlns:a16="http://schemas.microsoft.com/office/drawing/2014/main" val="2324311952"/>
                  </a:ext>
                </a:extLst>
              </a:tr>
              <a:tr h="363093">
                <a:tc>
                  <a:txBody>
                    <a:bodyPr/>
                    <a:lstStyle/>
                    <a:p>
                      <a:pPr algn="just" rtl="0" fontAlgn="t">
                        <a:buNone/>
                      </a:pPr>
                      <a:r>
                        <a:rPr lang="es-CL" sz="800" u="none" strike="noStrike" dirty="0">
                          <a:solidFill>
                            <a:schemeClr val="bg1"/>
                          </a:solidFill>
                          <a:effectLst/>
                        </a:rPr>
                        <a:t>Excepciones</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a:effectLst/>
                        </a:rPr>
                        <a:t>Excepción 1: Algún campo obligatorio (proveedor, valor unitario, costo de despacho o tiempo de entrega) queda vacío. El sistema bloquea el registro y marca los campos faltantes.  </a:t>
                      </a:r>
                      <a:endParaRPr lang="es-CL" sz="800">
                        <a:effectLst/>
                      </a:endParaRPr>
                    </a:p>
                  </a:txBody>
                  <a:tcPr marL="34792" marR="34792" marT="23195" marB="23195"/>
                </a:tc>
                <a:extLst>
                  <a:ext uri="{0D108BD9-81ED-4DB2-BD59-A6C34878D82A}">
                    <a16:rowId xmlns:a16="http://schemas.microsoft.com/office/drawing/2014/main" val="3450576532"/>
                  </a:ext>
                </a:extLst>
              </a:tr>
              <a:tr h="327004">
                <a:tc>
                  <a:txBody>
                    <a:bodyPr/>
                    <a:lstStyle/>
                    <a:p>
                      <a:pPr algn="just" rtl="0" fontAlgn="t">
                        <a:buNone/>
                      </a:pPr>
                      <a:r>
                        <a:rPr lang="es-CL" sz="800" u="none" strike="noStrike" dirty="0" err="1">
                          <a:solidFill>
                            <a:schemeClr val="bg1"/>
                          </a:solidFill>
                          <a:effectLst/>
                        </a:rPr>
                        <a:t>Poscondiciones</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a:effectLst/>
                        </a:rPr>
                        <a:t>La cotización queda registrada en estado "Pendiente", con su valor total calculado, disponible para su comparación y aprobación. </a:t>
                      </a:r>
                      <a:endParaRPr lang="es-CL" sz="800">
                        <a:effectLst/>
                      </a:endParaRPr>
                    </a:p>
                  </a:txBody>
                  <a:tcPr marL="34792" marR="34792" marT="23195" marB="23195"/>
                </a:tc>
                <a:extLst>
                  <a:ext uri="{0D108BD9-81ED-4DB2-BD59-A6C34878D82A}">
                    <a16:rowId xmlns:a16="http://schemas.microsoft.com/office/drawing/2014/main" val="2065685852"/>
                  </a:ext>
                </a:extLst>
              </a:tr>
              <a:tr h="246932">
                <a:tc>
                  <a:txBody>
                    <a:bodyPr/>
                    <a:lstStyle/>
                    <a:p>
                      <a:pPr algn="just" rtl="0" fontAlgn="t">
                        <a:buNone/>
                      </a:pPr>
                      <a:r>
                        <a:rPr lang="es-CL" sz="800" u="none" strike="noStrike" dirty="0">
                          <a:solidFill>
                            <a:schemeClr val="bg1"/>
                          </a:solidFill>
                          <a:effectLst/>
                        </a:rPr>
                        <a:t>Dependencias</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dirty="0">
                          <a:effectLst/>
                        </a:rPr>
                        <a:t>CU-16, CU-18.</a:t>
                      </a:r>
                      <a:endParaRPr lang="es-CL" sz="800" dirty="0">
                        <a:effectLst/>
                      </a:endParaRPr>
                    </a:p>
                  </a:txBody>
                  <a:tcPr marL="34792" marR="34792" marT="23195" marB="23195"/>
                </a:tc>
                <a:extLst>
                  <a:ext uri="{0D108BD9-81ED-4DB2-BD59-A6C34878D82A}">
                    <a16:rowId xmlns:a16="http://schemas.microsoft.com/office/drawing/2014/main" val="3991428771"/>
                  </a:ext>
                </a:extLst>
              </a:tr>
            </a:tbl>
          </a:graphicData>
        </a:graphic>
      </p:graphicFrame>
      <p:graphicFrame>
        <p:nvGraphicFramePr>
          <p:cNvPr id="9" name="Table 8">
            <a:extLst>
              <a:ext uri="{FF2B5EF4-FFF2-40B4-BE49-F238E27FC236}">
                <a16:creationId xmlns:a16="http://schemas.microsoft.com/office/drawing/2014/main" id="{B474ADCA-FBD4-3AAD-5FB1-DA08C144E40C}"/>
              </a:ext>
            </a:extLst>
          </p:cNvPr>
          <p:cNvGraphicFramePr>
            <a:graphicFrameLocks noGrp="1"/>
          </p:cNvGraphicFramePr>
          <p:nvPr>
            <p:extLst>
              <p:ext uri="{D42A27DB-BD31-4B8C-83A1-F6EECF244321}">
                <p14:modId xmlns:p14="http://schemas.microsoft.com/office/powerpoint/2010/main" val="1084876627"/>
              </p:ext>
            </p:extLst>
          </p:nvPr>
        </p:nvGraphicFramePr>
        <p:xfrm>
          <a:off x="6094476" y="1668184"/>
          <a:ext cx="5640895" cy="3795833"/>
        </p:xfrm>
        <a:graphic>
          <a:graphicData uri="http://schemas.openxmlformats.org/drawingml/2006/table">
            <a:tbl>
              <a:tblPr>
                <a:tableStyleId>{5C22544A-7EE6-4342-B048-85BDC9FD1C3A}</a:tableStyleId>
              </a:tblPr>
              <a:tblGrid>
                <a:gridCol w="1383106">
                  <a:extLst>
                    <a:ext uri="{9D8B030D-6E8A-4147-A177-3AD203B41FA5}">
                      <a16:colId xmlns:a16="http://schemas.microsoft.com/office/drawing/2014/main" val="1144872333"/>
                    </a:ext>
                  </a:extLst>
                </a:gridCol>
                <a:gridCol w="4257789">
                  <a:extLst>
                    <a:ext uri="{9D8B030D-6E8A-4147-A177-3AD203B41FA5}">
                      <a16:colId xmlns:a16="http://schemas.microsoft.com/office/drawing/2014/main" val="3143646702"/>
                    </a:ext>
                  </a:extLst>
                </a:gridCol>
              </a:tblGrid>
              <a:tr h="192754">
                <a:tc gridSpan="2">
                  <a:txBody>
                    <a:bodyPr/>
                    <a:lstStyle/>
                    <a:p>
                      <a:pPr algn="just" rtl="0" fontAlgn="t">
                        <a:buNone/>
                      </a:pPr>
                      <a:r>
                        <a:rPr lang="es-CL" sz="800" u="none" strike="noStrike" dirty="0">
                          <a:solidFill>
                            <a:schemeClr val="bg1"/>
                          </a:solidFill>
                          <a:effectLst/>
                        </a:rPr>
                        <a:t>CU-21 — Generando Orden de Compra desde una SM </a:t>
                      </a:r>
                      <a:endParaRPr lang="es-CL" sz="800" dirty="0">
                        <a:solidFill>
                          <a:schemeClr val="bg1"/>
                        </a:solidFill>
                        <a:effectLst/>
                      </a:endParaRPr>
                    </a:p>
                  </a:txBody>
                  <a:tcPr marL="34792" marR="34792" marT="23195" marB="23195">
                    <a:solidFill>
                      <a:schemeClr val="tx1">
                        <a:lumMod val="75000"/>
                        <a:lumOff val="25000"/>
                      </a:schemeClr>
                    </a:solidFill>
                  </a:tcPr>
                </a:tc>
                <a:tc hMerge="1">
                  <a:txBody>
                    <a:bodyPr/>
                    <a:lstStyle/>
                    <a:p>
                      <a:endParaRPr lang="es-CL"/>
                    </a:p>
                  </a:txBody>
                  <a:tcPr/>
                </a:tc>
                <a:extLst>
                  <a:ext uri="{0D108BD9-81ED-4DB2-BD59-A6C34878D82A}">
                    <a16:rowId xmlns:a16="http://schemas.microsoft.com/office/drawing/2014/main" val="3226723736"/>
                  </a:ext>
                </a:extLst>
              </a:tr>
              <a:tr h="192754">
                <a:tc>
                  <a:txBody>
                    <a:bodyPr/>
                    <a:lstStyle/>
                    <a:p>
                      <a:pPr algn="just" rtl="0" fontAlgn="t">
                        <a:buNone/>
                      </a:pPr>
                      <a:r>
                        <a:rPr lang="es-CL" sz="800" u="none" strike="noStrike" dirty="0">
                          <a:solidFill>
                            <a:schemeClr val="bg1"/>
                          </a:solidFill>
                          <a:effectLst/>
                        </a:rPr>
                        <a:t>Nombre</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a:effectLst/>
                        </a:rPr>
                        <a:t>Generando Orden de Compra desde una SM. </a:t>
                      </a:r>
                      <a:endParaRPr lang="es-CL" sz="800">
                        <a:effectLst/>
                      </a:endParaRPr>
                    </a:p>
                  </a:txBody>
                  <a:tcPr marL="34792" marR="34792" marT="23195" marB="23195"/>
                </a:tc>
                <a:extLst>
                  <a:ext uri="{0D108BD9-81ED-4DB2-BD59-A6C34878D82A}">
                    <a16:rowId xmlns:a16="http://schemas.microsoft.com/office/drawing/2014/main" val="712749185"/>
                  </a:ext>
                </a:extLst>
              </a:tr>
              <a:tr h="190534">
                <a:tc>
                  <a:txBody>
                    <a:bodyPr/>
                    <a:lstStyle/>
                    <a:p>
                      <a:pPr algn="just" rtl="0" fontAlgn="t">
                        <a:buNone/>
                      </a:pPr>
                      <a:r>
                        <a:rPr lang="es-CL" sz="800" u="none" strike="noStrike" dirty="0">
                          <a:solidFill>
                            <a:schemeClr val="bg1"/>
                          </a:solidFill>
                          <a:effectLst/>
                        </a:rPr>
                        <a:t>Actores</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a:effectLst/>
                        </a:rPr>
                        <a:t>Adquisiciones. </a:t>
                      </a:r>
                      <a:endParaRPr lang="es-CL" sz="800">
                        <a:effectLst/>
                      </a:endParaRPr>
                    </a:p>
                  </a:txBody>
                  <a:tcPr marL="34792" marR="34792" marT="23195" marB="23195"/>
                </a:tc>
                <a:extLst>
                  <a:ext uri="{0D108BD9-81ED-4DB2-BD59-A6C34878D82A}">
                    <a16:rowId xmlns:a16="http://schemas.microsoft.com/office/drawing/2014/main" val="1076371736"/>
                  </a:ext>
                </a:extLst>
              </a:tr>
              <a:tr h="192754">
                <a:tc>
                  <a:txBody>
                    <a:bodyPr/>
                    <a:lstStyle/>
                    <a:p>
                      <a:pPr algn="just" rtl="0" fontAlgn="t">
                        <a:buNone/>
                      </a:pPr>
                      <a:r>
                        <a:rPr lang="es-CL" sz="800" u="none" strike="noStrike" dirty="0">
                          <a:solidFill>
                            <a:schemeClr val="bg1"/>
                          </a:solidFill>
                          <a:effectLst/>
                        </a:rPr>
                        <a:t>Requerimiento</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a:effectLst/>
                        </a:rPr>
                        <a:t>RF-21. </a:t>
                      </a:r>
                      <a:endParaRPr lang="es-CL" sz="800">
                        <a:effectLst/>
                      </a:endParaRPr>
                    </a:p>
                  </a:txBody>
                  <a:tcPr marL="34792" marR="34792" marT="23195" marB="23195"/>
                </a:tc>
                <a:extLst>
                  <a:ext uri="{0D108BD9-81ED-4DB2-BD59-A6C34878D82A}">
                    <a16:rowId xmlns:a16="http://schemas.microsoft.com/office/drawing/2014/main" val="3700653482"/>
                  </a:ext>
                </a:extLst>
              </a:tr>
              <a:tr h="445650">
                <a:tc>
                  <a:txBody>
                    <a:bodyPr/>
                    <a:lstStyle/>
                    <a:p>
                      <a:pPr algn="just" rtl="0" fontAlgn="t">
                        <a:buNone/>
                      </a:pPr>
                      <a:r>
                        <a:rPr lang="es-CL" sz="800" u="none" strike="noStrike" dirty="0">
                          <a:solidFill>
                            <a:schemeClr val="bg1"/>
                          </a:solidFill>
                          <a:effectLst/>
                        </a:rPr>
                        <a:t>Resumen</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a:effectLst/>
                        </a:rPr>
                        <a:t>El usuario de Adquisiciones presiona "Generar Orden de Compra" para una SM en estado "En Cotización", y el sistema genera un borrador de OC por cada proveedor con al menos una línea aprobada, autocompletando materiales, precios y datos de facturación. </a:t>
                      </a:r>
                      <a:endParaRPr lang="es-CL" sz="800">
                        <a:effectLst/>
                      </a:endParaRPr>
                    </a:p>
                  </a:txBody>
                  <a:tcPr marL="34792" marR="34792" marT="23195" marB="23195"/>
                </a:tc>
                <a:extLst>
                  <a:ext uri="{0D108BD9-81ED-4DB2-BD59-A6C34878D82A}">
                    <a16:rowId xmlns:a16="http://schemas.microsoft.com/office/drawing/2014/main" val="2158875260"/>
                  </a:ext>
                </a:extLst>
              </a:tr>
              <a:tr h="190534">
                <a:tc>
                  <a:txBody>
                    <a:bodyPr/>
                    <a:lstStyle/>
                    <a:p>
                      <a:pPr algn="just" rtl="0" fontAlgn="t">
                        <a:buNone/>
                      </a:pPr>
                      <a:r>
                        <a:rPr lang="es-CL" sz="800" u="none" strike="noStrike" dirty="0">
                          <a:solidFill>
                            <a:schemeClr val="bg1"/>
                          </a:solidFill>
                          <a:effectLst/>
                        </a:rPr>
                        <a:t>Frecuencia</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a:effectLst/>
                        </a:rPr>
                        <a:t>Alta.</a:t>
                      </a:r>
                      <a:endParaRPr lang="es-CL" sz="800">
                        <a:effectLst/>
                      </a:endParaRPr>
                    </a:p>
                  </a:txBody>
                  <a:tcPr marL="34792" marR="34792" marT="23195" marB="23195"/>
                </a:tc>
                <a:extLst>
                  <a:ext uri="{0D108BD9-81ED-4DB2-BD59-A6C34878D82A}">
                    <a16:rowId xmlns:a16="http://schemas.microsoft.com/office/drawing/2014/main" val="1622245928"/>
                  </a:ext>
                </a:extLst>
              </a:tr>
              <a:tr h="336605">
                <a:tc>
                  <a:txBody>
                    <a:bodyPr/>
                    <a:lstStyle/>
                    <a:p>
                      <a:pPr algn="just" rtl="0" fontAlgn="t">
                        <a:buNone/>
                      </a:pPr>
                      <a:r>
                        <a:rPr lang="es-CL" sz="800" u="none" strike="noStrike" dirty="0">
                          <a:solidFill>
                            <a:schemeClr val="bg1"/>
                          </a:solidFill>
                          <a:effectLst/>
                        </a:rPr>
                        <a:t>Precondiciones</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a:effectLst/>
                        </a:rPr>
                        <a:t>La SM debe estar en estado "En Cotización", con todos sus materiales en línea de cotización "Aprobada". </a:t>
                      </a:r>
                      <a:endParaRPr lang="es-CL" sz="800">
                        <a:effectLst/>
                      </a:endParaRPr>
                    </a:p>
                  </a:txBody>
                  <a:tcPr marL="34792" marR="34792" marT="23195" marB="23195"/>
                </a:tc>
                <a:extLst>
                  <a:ext uri="{0D108BD9-81ED-4DB2-BD59-A6C34878D82A}">
                    <a16:rowId xmlns:a16="http://schemas.microsoft.com/office/drawing/2014/main" val="3095931487"/>
                  </a:ext>
                </a:extLst>
              </a:tr>
              <a:tr h="1035213">
                <a:tc>
                  <a:txBody>
                    <a:bodyPr/>
                    <a:lstStyle/>
                    <a:p>
                      <a:pPr algn="just" rtl="0" fontAlgn="t">
                        <a:buNone/>
                      </a:pPr>
                      <a:r>
                        <a:rPr lang="es-CL" sz="800" u="none" strike="noStrike" dirty="0">
                          <a:solidFill>
                            <a:schemeClr val="bg1"/>
                          </a:solidFill>
                          <a:effectLst/>
                        </a:rPr>
                        <a:t>Flujo</a:t>
                      </a:r>
                      <a:r>
                        <a:rPr lang="es-CL" sz="800" u="none" strike="noStrike" dirty="0">
                          <a:effectLst/>
                        </a:rPr>
                        <a:t> </a:t>
                      </a:r>
                      <a:r>
                        <a:rPr lang="es-CL" sz="800" u="none" strike="noStrike" dirty="0">
                          <a:solidFill>
                            <a:schemeClr val="bg1"/>
                          </a:solidFill>
                          <a:effectLst/>
                        </a:rPr>
                        <a:t>Principal</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dirty="0">
                          <a:effectLst/>
                        </a:rPr>
                        <a:t>El actor accede a la SM habilitada y presiona "Generar Orden de Compra". El sistema genera un borrador de Orden de Compra por cada proveedor que tenga al menos una línea de cotización Aprobada en la SM, autocompletando los materiales y precios aprobados correspondientes a ese proveedor, los datos de facturación de Constructora M5 </a:t>
                      </a:r>
                      <a:r>
                        <a:rPr lang="es-CL" sz="800" u="none" strike="noStrike" dirty="0" err="1">
                          <a:effectLst/>
                        </a:rPr>
                        <a:t>SpA</a:t>
                      </a:r>
                      <a:r>
                        <a:rPr lang="es-CL" sz="800" u="none" strike="noStrike" dirty="0">
                          <a:effectLst/>
                        </a:rPr>
                        <a:t>, y los datos del proveedor (RUT, razón social, dirección y condiciones de pago) extraídos de la base de datos de proveedores [Excepción 1]. El actor confirma la operación. El sistema asigna a cada Orden de Compra un número correlativo automático e irrepetible, no editable manualmente. </a:t>
                      </a:r>
                      <a:endParaRPr lang="es-CL" sz="800" dirty="0">
                        <a:effectLst/>
                      </a:endParaRPr>
                    </a:p>
                  </a:txBody>
                  <a:tcPr marL="34792" marR="34792" marT="23195" marB="23195"/>
                </a:tc>
                <a:extLst>
                  <a:ext uri="{0D108BD9-81ED-4DB2-BD59-A6C34878D82A}">
                    <a16:rowId xmlns:a16="http://schemas.microsoft.com/office/drawing/2014/main" val="1380416034"/>
                  </a:ext>
                </a:extLst>
              </a:tr>
              <a:tr h="482676">
                <a:tc>
                  <a:txBody>
                    <a:bodyPr/>
                    <a:lstStyle/>
                    <a:p>
                      <a:pPr algn="just" rtl="0" fontAlgn="t">
                        <a:buNone/>
                      </a:pPr>
                      <a:r>
                        <a:rPr lang="es-CL" sz="800" u="none" strike="noStrike" dirty="0">
                          <a:solidFill>
                            <a:schemeClr val="bg1"/>
                          </a:solidFill>
                          <a:effectLst/>
                        </a:rPr>
                        <a:t>Excepciones</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a:effectLst/>
                        </a:rPr>
                        <a:t>Excepción 1: Falta algún dato de facturación o del proveedor requerido para autocompletar el borrador. El sistema marca el campo faltante y bloquea la generación hasta completarlo. </a:t>
                      </a:r>
                      <a:endParaRPr lang="es-CL" sz="800">
                        <a:effectLst/>
                      </a:endParaRPr>
                    </a:p>
                  </a:txBody>
                  <a:tcPr marL="34792" marR="34792" marT="23195" marB="23195"/>
                </a:tc>
                <a:extLst>
                  <a:ext uri="{0D108BD9-81ED-4DB2-BD59-A6C34878D82A}">
                    <a16:rowId xmlns:a16="http://schemas.microsoft.com/office/drawing/2014/main" val="2829895857"/>
                  </a:ext>
                </a:extLst>
              </a:tr>
              <a:tr h="343605">
                <a:tc>
                  <a:txBody>
                    <a:bodyPr/>
                    <a:lstStyle/>
                    <a:p>
                      <a:pPr algn="just" rtl="0" fontAlgn="t">
                        <a:buNone/>
                      </a:pPr>
                      <a:r>
                        <a:rPr lang="es-CL" sz="800" u="none" strike="noStrike" dirty="0" err="1">
                          <a:solidFill>
                            <a:schemeClr val="bg1"/>
                          </a:solidFill>
                          <a:effectLst/>
                        </a:rPr>
                        <a:t>Poscondiciones</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a:effectLst/>
                        </a:rPr>
                        <a:t>Queda generado un borrador de Orden de Compra por cada proveedor involucrado, en estado Borrador, con número correlativo asignado. </a:t>
                      </a:r>
                      <a:endParaRPr lang="es-CL" sz="800">
                        <a:effectLst/>
                      </a:endParaRPr>
                    </a:p>
                  </a:txBody>
                  <a:tcPr marL="34792" marR="34792" marT="23195" marB="23195"/>
                </a:tc>
                <a:extLst>
                  <a:ext uri="{0D108BD9-81ED-4DB2-BD59-A6C34878D82A}">
                    <a16:rowId xmlns:a16="http://schemas.microsoft.com/office/drawing/2014/main" val="328572263"/>
                  </a:ext>
                </a:extLst>
              </a:tr>
              <a:tr h="192754">
                <a:tc>
                  <a:txBody>
                    <a:bodyPr/>
                    <a:lstStyle/>
                    <a:p>
                      <a:pPr algn="just" rtl="0" fontAlgn="t">
                        <a:buNone/>
                      </a:pPr>
                      <a:r>
                        <a:rPr lang="es-CL" sz="800" u="none" strike="noStrike" dirty="0">
                          <a:solidFill>
                            <a:schemeClr val="bg1"/>
                          </a:solidFill>
                          <a:effectLst/>
                        </a:rPr>
                        <a:t>Dependencias</a:t>
                      </a:r>
                      <a:endParaRPr lang="es-CL" sz="800" dirty="0">
                        <a:solidFill>
                          <a:schemeClr val="bg1"/>
                        </a:solidFill>
                        <a:effectLst/>
                      </a:endParaRPr>
                    </a:p>
                  </a:txBody>
                  <a:tcPr marL="34792" marR="34792" marT="23195" marB="23195">
                    <a:solidFill>
                      <a:schemeClr val="tx1">
                        <a:lumMod val="75000"/>
                        <a:lumOff val="25000"/>
                      </a:schemeClr>
                    </a:solidFill>
                  </a:tcPr>
                </a:tc>
                <a:tc>
                  <a:txBody>
                    <a:bodyPr/>
                    <a:lstStyle/>
                    <a:p>
                      <a:pPr algn="just" rtl="0" fontAlgn="t">
                        <a:buNone/>
                      </a:pPr>
                      <a:r>
                        <a:rPr lang="es-CL" sz="800" u="none" strike="noStrike" dirty="0">
                          <a:effectLst/>
                        </a:rPr>
                        <a:t>CU-20.</a:t>
                      </a:r>
                      <a:endParaRPr lang="es-CL" sz="800" dirty="0">
                        <a:effectLst/>
                      </a:endParaRPr>
                    </a:p>
                  </a:txBody>
                  <a:tcPr marL="34792" marR="34792" marT="23195" marB="23195"/>
                </a:tc>
                <a:extLst>
                  <a:ext uri="{0D108BD9-81ED-4DB2-BD59-A6C34878D82A}">
                    <a16:rowId xmlns:a16="http://schemas.microsoft.com/office/drawing/2014/main" val="70347878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050D36D0-7671-F41E-1469-6CC0DBE17DB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206F640-9B78-2246-3139-95821D4F3F1D}"/>
              </a:ext>
            </a:extLst>
          </p:cNvPr>
          <p:cNvSpPr txBox="1"/>
          <p:nvPr/>
        </p:nvSpPr>
        <p:spPr>
          <a:xfrm>
            <a:off x="1390738" y="2793255"/>
            <a:ext cx="10725912" cy="1097280"/>
          </a:xfrm>
          <a:prstGeom prst="rect">
            <a:avLst/>
          </a:prstGeom>
          <a:solidFill>
            <a:schemeClr val="tx1">
              <a:lumMod val="85000"/>
              <a:lumOff val="15000"/>
            </a:schemeClr>
          </a:solidFill>
          <a:ln/>
        </p:spPr>
        <p:txBody>
          <a:bodyPr wrap="square" lIns="0" tIns="0" rIns="0" bIns="0" rtlCol="0" anchor="ctr"/>
          <a:lstStyle/>
          <a:p>
            <a:r>
              <a:rPr lang="en-US" sz="6600" dirty="0">
                <a:solidFill>
                  <a:schemeClr val="bg1"/>
                </a:solidFill>
                <a:latin typeface="Aharoni" panose="02010803020104030203" pitchFamily="2" charset="-79"/>
                <a:ea typeface="Calibri" pitchFamily="34" charset="-122"/>
                <a:cs typeface="Aharoni" panose="02010803020104030203" pitchFamily="2" charset="-79"/>
              </a:rPr>
              <a:t>Vistas </a:t>
            </a:r>
            <a:r>
              <a:rPr lang="en-US" sz="6600" dirty="0" err="1">
                <a:solidFill>
                  <a:schemeClr val="bg1"/>
                </a:solidFill>
                <a:latin typeface="Aharoni" panose="02010803020104030203" pitchFamily="2" charset="-79"/>
                <a:ea typeface="Calibri" pitchFamily="34" charset="-122"/>
                <a:cs typeface="Aharoni" panose="02010803020104030203" pitchFamily="2" charset="-79"/>
              </a:rPr>
              <a:t>arquitectónicas</a:t>
            </a:r>
            <a:r>
              <a:rPr lang="en-US" sz="6600" dirty="0">
                <a:solidFill>
                  <a:schemeClr val="bg1"/>
                </a:solidFill>
                <a:latin typeface="Aharoni" panose="02010803020104030203" pitchFamily="2" charset="-79"/>
                <a:ea typeface="Calibri" pitchFamily="34" charset="-122"/>
                <a:cs typeface="Aharoni" panose="02010803020104030203" pitchFamily="2" charset="-79"/>
              </a:rPr>
              <a:t>:</a:t>
            </a:r>
            <a:endParaRPr lang="en-US" sz="6600" dirty="0">
              <a:solidFill>
                <a:schemeClr val="bg1"/>
              </a:solidFill>
              <a:latin typeface="Aharoni" panose="02010803020104030203" pitchFamily="2" charset="-79"/>
              <a:cs typeface="Aharoni" panose="02010803020104030203" pitchFamily="2" charset="-79"/>
            </a:endParaRPr>
          </a:p>
        </p:txBody>
      </p:sp>
      <p:sp>
        <p:nvSpPr>
          <p:cNvPr id="3" name="Text 1">
            <a:extLst>
              <a:ext uri="{FF2B5EF4-FFF2-40B4-BE49-F238E27FC236}">
                <a16:creationId xmlns:a16="http://schemas.microsoft.com/office/drawing/2014/main" id="{A24B044E-3F8C-0BD3-4D57-2482D7D43B91}"/>
              </a:ext>
            </a:extLst>
          </p:cNvPr>
          <p:cNvSpPr txBox="1"/>
          <p:nvPr/>
        </p:nvSpPr>
        <p:spPr>
          <a:xfrm>
            <a:off x="603930" y="4068016"/>
            <a:ext cx="10725912" cy="548640"/>
          </a:xfrm>
          <a:prstGeom prst="rect">
            <a:avLst/>
          </a:prstGeom>
          <a:noFill/>
          <a:ln/>
        </p:spPr>
        <p:txBody>
          <a:bodyPr wrap="square" lIns="0" tIns="0" rIns="0" bIns="0" rtlCol="0" anchor="ctr"/>
          <a:lstStyle/>
          <a:p>
            <a:pPr algn="ctr"/>
            <a:r>
              <a:rPr lang="en-US" sz="3200" dirty="0">
                <a:solidFill>
                  <a:srgbClr val="00CAF8"/>
                </a:solidFill>
                <a:latin typeface="Aharoni" panose="02010803020104030203" pitchFamily="2" charset="-79"/>
                <a:ea typeface="Calibri" pitchFamily="34" charset="-122"/>
                <a:cs typeface="Aharoni" panose="02010803020104030203" pitchFamily="2" charset="-79"/>
              </a:rPr>
              <a:t>Desarrollo, </a:t>
            </a:r>
            <a:r>
              <a:rPr lang="en-US" sz="3200" dirty="0" err="1">
                <a:solidFill>
                  <a:srgbClr val="00CAF8"/>
                </a:solidFill>
                <a:latin typeface="Aharoni" panose="02010803020104030203" pitchFamily="2" charset="-79"/>
                <a:ea typeface="Calibri" pitchFamily="34" charset="-122"/>
                <a:cs typeface="Aharoni" panose="02010803020104030203" pitchFamily="2" charset="-79"/>
              </a:rPr>
              <a:t>Física</a:t>
            </a:r>
            <a:r>
              <a:rPr lang="en-US" sz="3200" dirty="0">
                <a:solidFill>
                  <a:srgbClr val="00CAF8"/>
                </a:solidFill>
                <a:latin typeface="Aharoni" panose="02010803020104030203" pitchFamily="2" charset="-79"/>
                <a:ea typeface="Calibri" pitchFamily="34" charset="-122"/>
                <a:cs typeface="Aharoni" panose="02010803020104030203" pitchFamily="2" charset="-79"/>
              </a:rPr>
              <a:t>, </a:t>
            </a:r>
            <a:r>
              <a:rPr lang="en-US" sz="3200" dirty="0" err="1">
                <a:solidFill>
                  <a:srgbClr val="00CAF8"/>
                </a:solidFill>
                <a:latin typeface="Aharoni" panose="02010803020104030203" pitchFamily="2" charset="-79"/>
                <a:ea typeface="Calibri" pitchFamily="34" charset="-122"/>
                <a:cs typeface="Aharoni" panose="02010803020104030203" pitchFamily="2" charset="-79"/>
              </a:rPr>
              <a:t>Lógica</a:t>
            </a:r>
            <a:endParaRPr lang="en-US" sz="3200" dirty="0">
              <a:solidFill>
                <a:srgbClr val="00CAF8"/>
              </a:solidFill>
              <a:latin typeface="Aharoni" panose="02010803020104030203" pitchFamily="2" charset="-79"/>
              <a:cs typeface="Aharoni" panose="02010803020104030203" pitchFamily="2" charset="-79"/>
            </a:endParaRPr>
          </a:p>
        </p:txBody>
      </p:sp>
      <p:pic>
        <p:nvPicPr>
          <p:cNvPr id="5" name="Picture 4">
            <a:extLst>
              <a:ext uri="{FF2B5EF4-FFF2-40B4-BE49-F238E27FC236}">
                <a16:creationId xmlns:a16="http://schemas.microsoft.com/office/drawing/2014/main" id="{93DB86D4-67A4-B344-92D7-108D29962E08}"/>
              </a:ext>
            </a:extLst>
          </p:cNvPr>
          <p:cNvPicPr>
            <a:picLocks noChangeAspect="1"/>
          </p:cNvPicPr>
          <p:nvPr/>
        </p:nvPicPr>
        <p:blipFill>
          <a:blip r:embed="rId3"/>
          <a:stretch>
            <a:fillRect/>
          </a:stretch>
        </p:blipFill>
        <p:spPr>
          <a:xfrm>
            <a:off x="10247110" y="518323"/>
            <a:ext cx="1484642" cy="920169"/>
          </a:xfrm>
          <a:prstGeom prst="rect">
            <a:avLst/>
          </a:prstGeom>
        </p:spPr>
      </p:pic>
    </p:spTree>
    <p:extLst>
      <p:ext uri="{BB962C8B-B14F-4D97-AF65-F5344CB8AC3E}">
        <p14:creationId xmlns:p14="http://schemas.microsoft.com/office/powerpoint/2010/main" val="2893790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320040"/>
          </a:xfrm>
          <a:prstGeom prst="rect">
            <a:avLst/>
          </a:prstGeom>
          <a:noFill/>
          <a:ln/>
        </p:spPr>
        <p:txBody>
          <a:bodyPr wrap="square" lIns="0" tIns="0" rIns="0" bIns="0" rtlCol="0" anchor="ctr"/>
          <a:lstStyle/>
          <a:p>
            <a:pPr marL="0" indent="0">
              <a:buNone/>
            </a:pPr>
            <a:r>
              <a:rPr lang="en-US" sz="1200" b="1" kern="0" spc="200">
                <a:solidFill>
                  <a:srgbClr val="FF4200"/>
                </a:solidFill>
                <a:latin typeface="Calibri" pitchFamily="34" charset="0"/>
                <a:ea typeface="Calibri" pitchFamily="34" charset="-122"/>
                <a:cs typeface="Calibri" pitchFamily="34" charset="-120"/>
              </a:rPr>
              <a:t>VISTA DE DESARROLLO</a:t>
            </a:r>
            <a:endParaRPr lang="en-US" sz="1200"/>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marL="0" indent="0">
              <a:buNone/>
            </a:pPr>
            <a:r>
              <a:rPr lang="en-US" sz="2800" b="1">
                <a:solidFill>
                  <a:srgbClr val="262626"/>
                </a:solidFill>
                <a:latin typeface="Calibri" pitchFamily="34" charset="0"/>
                <a:ea typeface="Calibri" pitchFamily="34" charset="-122"/>
                <a:cs typeface="Calibri" pitchFamily="34" charset="-120"/>
              </a:rPr>
              <a:t>Diagrama de Componentes del sistema</a:t>
            </a:r>
            <a:endParaRPr lang="en-US" sz="2800"/>
          </a:p>
        </p:txBody>
      </p:sp>
      <p:sp>
        <p:nvSpPr>
          <p:cNvPr id="4" name="Shape 2"/>
          <p:cNvSpPr/>
          <p:nvPr/>
        </p:nvSpPr>
        <p:spPr>
          <a:xfrm>
            <a:off x="548640" y="1554480"/>
            <a:ext cx="11091672" cy="3977774"/>
          </a:xfrm>
          <a:prstGeom prst="rect">
            <a:avLst/>
          </a:prstGeom>
          <a:solidFill>
            <a:srgbClr val="F5F5F5"/>
          </a:solidFill>
          <a:ln w="19050">
            <a:solidFill>
              <a:srgbClr val="FF4200"/>
            </a:solidFill>
            <a:prstDash val="dash"/>
          </a:ln>
        </p:spPr>
        <p:txBody>
          <a:bodyPr/>
          <a:lstStyle/>
          <a:p>
            <a:endParaRPr lang="es-CL"/>
          </a:p>
        </p:txBody>
      </p:sp>
      <p:sp>
        <p:nvSpPr>
          <p:cNvPr id="5" name="Text 3"/>
          <p:cNvSpPr txBox="1"/>
          <p:nvPr/>
        </p:nvSpPr>
        <p:spPr>
          <a:xfrm>
            <a:off x="548640" y="3246120"/>
            <a:ext cx="11091672" cy="365760"/>
          </a:xfrm>
          <a:prstGeom prst="rect">
            <a:avLst/>
          </a:prstGeom>
          <a:noFill/>
          <a:ln/>
        </p:spPr>
        <p:txBody>
          <a:bodyPr wrap="square" lIns="0" tIns="0" rIns="0" bIns="0" rtlCol="0" anchor="ctr"/>
          <a:lstStyle/>
          <a:p>
            <a:pPr marL="0" indent="0" algn="ctr">
              <a:buNone/>
            </a:pPr>
            <a:r>
              <a:rPr lang="en-US" sz="1500" b="1">
                <a:solidFill>
                  <a:srgbClr val="FF4200"/>
                </a:solidFill>
                <a:latin typeface="Calibri" pitchFamily="34" charset="0"/>
                <a:ea typeface="Calibri" pitchFamily="34" charset="-122"/>
                <a:cs typeface="Calibri" pitchFamily="34" charset="-120"/>
              </a:rPr>
              <a:t>[ AQUÍ VA: Diagrama de Componentes ]</a:t>
            </a:r>
            <a:endParaRPr lang="en-US" sz="1500"/>
          </a:p>
        </p:txBody>
      </p:sp>
      <p:sp>
        <p:nvSpPr>
          <p:cNvPr id="6" name="Text 4"/>
          <p:cNvSpPr txBox="1"/>
          <p:nvPr/>
        </p:nvSpPr>
        <p:spPr>
          <a:xfrm>
            <a:off x="548640" y="3675888"/>
            <a:ext cx="11091672" cy="365760"/>
          </a:xfrm>
          <a:prstGeom prst="rect">
            <a:avLst/>
          </a:prstGeom>
          <a:noFill/>
          <a:ln/>
        </p:spPr>
        <p:txBody>
          <a:bodyPr wrap="square" lIns="0" tIns="0" rIns="0" bIns="0" rtlCol="0" anchor="ctr"/>
          <a:lstStyle/>
          <a:p>
            <a:pPr marL="0" indent="0" algn="ctr">
              <a:buNone/>
            </a:pPr>
            <a:r>
              <a:rPr lang="en-US" sz="1100">
                <a:solidFill>
                  <a:srgbClr val="6B7280"/>
                </a:solidFill>
                <a:latin typeface="Calibri" pitchFamily="34" charset="0"/>
                <a:ea typeface="Calibri" pitchFamily="34" charset="-122"/>
                <a:cs typeface="Calibri" pitchFamily="34" charset="-120"/>
              </a:rPr>
              <a:t>Actualizado con los componentes nuevos del Incremento 2</a:t>
            </a:r>
            <a:endParaRPr lang="en-US" sz="1100"/>
          </a:p>
        </p:txBody>
      </p:sp>
      <p:sp>
        <p:nvSpPr>
          <p:cNvPr id="7" name="Text 5"/>
          <p:cNvSpPr txBox="1"/>
          <p:nvPr/>
        </p:nvSpPr>
        <p:spPr>
          <a:xfrm>
            <a:off x="548640" y="6446520"/>
            <a:ext cx="10543032" cy="27432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Sistema de Gestión de Adquisiciones e Inventario  |  Constructora M5 SpA</a:t>
            </a:r>
            <a:endParaRPr lang="en-US" sz="900"/>
          </a:p>
        </p:txBody>
      </p:sp>
      <p:sp>
        <p:nvSpPr>
          <p:cNvPr id="8" name="Text 6"/>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900">
                <a:solidFill>
                  <a:srgbClr val="6B7280"/>
                </a:solidFill>
                <a:latin typeface="Calibri" pitchFamily="34" charset="0"/>
                <a:ea typeface="Calibri" pitchFamily="34" charset="-122"/>
                <a:cs typeface="Calibri" pitchFamily="34" charset="-120"/>
              </a:rPr>
              <a:t>7</a:t>
            </a:r>
            <a:endParaRPr lang="en-US" sz="900"/>
          </a:p>
        </p:txBody>
      </p:sp>
      <p:pic>
        <p:nvPicPr>
          <p:cNvPr id="10" name="Picture 9">
            <a:extLst>
              <a:ext uri="{FF2B5EF4-FFF2-40B4-BE49-F238E27FC236}">
                <a16:creationId xmlns:a16="http://schemas.microsoft.com/office/drawing/2014/main" id="{24801045-161C-9B42-D6E4-E6A0637E72E5}"/>
              </a:ext>
            </a:extLst>
          </p:cNvPr>
          <p:cNvPicPr>
            <a:picLocks noChangeAspect="1"/>
          </p:cNvPicPr>
          <p:nvPr/>
        </p:nvPicPr>
        <p:blipFill>
          <a:blip r:embed="rId3"/>
          <a:stretch>
            <a:fillRect/>
          </a:stretch>
        </p:blipFill>
        <p:spPr>
          <a:xfrm>
            <a:off x="10247110" y="518323"/>
            <a:ext cx="1484642" cy="920169"/>
          </a:xfrm>
          <a:prstGeom prst="rect">
            <a:avLst/>
          </a:prstGeom>
        </p:spPr>
      </p:pic>
      <p:pic>
        <p:nvPicPr>
          <p:cNvPr id="9" name="Picture 8">
            <a:extLst>
              <a:ext uri="{FF2B5EF4-FFF2-40B4-BE49-F238E27FC236}">
                <a16:creationId xmlns:a16="http://schemas.microsoft.com/office/drawing/2014/main" id="{D4237DB6-41E6-A742-04DA-24521CFD3282}"/>
              </a:ext>
            </a:extLst>
          </p:cNvPr>
          <p:cNvPicPr>
            <a:picLocks noChangeAspect="1"/>
          </p:cNvPicPr>
          <p:nvPr/>
        </p:nvPicPr>
        <p:blipFill>
          <a:blip r:embed="rId4"/>
          <a:stretch>
            <a:fillRect/>
          </a:stretch>
        </p:blipFill>
        <p:spPr>
          <a:xfrm>
            <a:off x="566525" y="1591055"/>
            <a:ext cx="11055901" cy="39411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320040"/>
          </a:xfrm>
          <a:prstGeom prst="rect">
            <a:avLst/>
          </a:prstGeom>
          <a:noFill/>
          <a:ln/>
        </p:spPr>
        <p:txBody>
          <a:bodyPr wrap="square" lIns="0" tIns="0" rIns="0" bIns="0" rtlCol="0" anchor="ctr"/>
          <a:lstStyle/>
          <a:p>
            <a:pPr marL="0" indent="0">
              <a:buNone/>
            </a:pPr>
            <a:r>
              <a:rPr lang="en-US" sz="1200" b="1" kern="0" spc="200">
                <a:solidFill>
                  <a:srgbClr val="FF4200"/>
                </a:solidFill>
                <a:latin typeface="Calibri" pitchFamily="34" charset="0"/>
                <a:ea typeface="Calibri" pitchFamily="34" charset="-122"/>
                <a:cs typeface="Calibri" pitchFamily="34" charset="-120"/>
              </a:rPr>
              <a:t>VISTA FÍSICA</a:t>
            </a:r>
            <a:endParaRPr lang="en-US" sz="1200"/>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marL="0" indent="0">
              <a:buNone/>
            </a:pPr>
            <a:r>
              <a:rPr lang="en-US" sz="2800" b="1">
                <a:solidFill>
                  <a:srgbClr val="262626"/>
                </a:solidFill>
                <a:latin typeface="Calibri" pitchFamily="34" charset="0"/>
                <a:ea typeface="Calibri" pitchFamily="34" charset="-122"/>
                <a:cs typeface="Calibri" pitchFamily="34" charset="-120"/>
              </a:rPr>
              <a:t>Diagrama de Despliegue del sistema</a:t>
            </a:r>
            <a:endParaRPr lang="en-US" sz="2800"/>
          </a:p>
        </p:txBody>
      </p:sp>
      <p:sp>
        <p:nvSpPr>
          <p:cNvPr id="4" name="Shape 2"/>
          <p:cNvSpPr/>
          <p:nvPr/>
        </p:nvSpPr>
        <p:spPr>
          <a:xfrm>
            <a:off x="1899683" y="1438492"/>
            <a:ext cx="7811387" cy="4761139"/>
          </a:xfrm>
          <a:prstGeom prst="rect">
            <a:avLst/>
          </a:prstGeom>
          <a:solidFill>
            <a:srgbClr val="F5F5F5"/>
          </a:solidFill>
          <a:ln w="19050">
            <a:solidFill>
              <a:srgbClr val="FF4200"/>
            </a:solidFill>
            <a:prstDash val="dash"/>
          </a:ln>
        </p:spPr>
        <p:txBody>
          <a:bodyPr/>
          <a:lstStyle/>
          <a:p>
            <a:endParaRPr lang="es-CL"/>
          </a:p>
        </p:txBody>
      </p:sp>
      <p:sp>
        <p:nvSpPr>
          <p:cNvPr id="5" name="Text 3"/>
          <p:cNvSpPr txBox="1"/>
          <p:nvPr/>
        </p:nvSpPr>
        <p:spPr>
          <a:xfrm>
            <a:off x="548640" y="3246120"/>
            <a:ext cx="11091672" cy="365760"/>
          </a:xfrm>
          <a:prstGeom prst="rect">
            <a:avLst/>
          </a:prstGeom>
          <a:noFill/>
          <a:ln/>
        </p:spPr>
        <p:txBody>
          <a:bodyPr wrap="square" lIns="0" tIns="0" rIns="0" bIns="0" rtlCol="0" anchor="ctr"/>
          <a:lstStyle/>
          <a:p>
            <a:pPr marL="0" indent="0" algn="ctr">
              <a:buNone/>
            </a:pPr>
            <a:r>
              <a:rPr lang="en-US" sz="1500" b="1">
                <a:solidFill>
                  <a:srgbClr val="FF4200"/>
                </a:solidFill>
                <a:latin typeface="Calibri" pitchFamily="34" charset="0"/>
                <a:ea typeface="Calibri" pitchFamily="34" charset="-122"/>
                <a:cs typeface="Calibri" pitchFamily="34" charset="-120"/>
              </a:rPr>
              <a:t>[ AQUÍ VA: Diagrama de Despliegue ]</a:t>
            </a:r>
            <a:endParaRPr lang="en-US" sz="1500"/>
          </a:p>
        </p:txBody>
      </p:sp>
      <p:sp>
        <p:nvSpPr>
          <p:cNvPr id="6" name="Text 4"/>
          <p:cNvSpPr txBox="1"/>
          <p:nvPr/>
        </p:nvSpPr>
        <p:spPr>
          <a:xfrm>
            <a:off x="548640" y="3675888"/>
            <a:ext cx="11091672" cy="365760"/>
          </a:xfrm>
          <a:prstGeom prst="rect">
            <a:avLst/>
          </a:prstGeom>
          <a:noFill/>
          <a:ln/>
        </p:spPr>
        <p:txBody>
          <a:bodyPr wrap="square" lIns="0" tIns="0" rIns="0" bIns="0" rtlCol="0" anchor="ctr"/>
          <a:lstStyle/>
          <a:p>
            <a:pPr marL="0" indent="0" algn="ctr">
              <a:buNone/>
            </a:pPr>
            <a:r>
              <a:rPr lang="en-US" sz="1100">
                <a:solidFill>
                  <a:srgbClr val="6B7280"/>
                </a:solidFill>
                <a:latin typeface="Calibri" pitchFamily="34" charset="0"/>
                <a:ea typeface="Calibri" pitchFamily="34" charset="-122"/>
                <a:cs typeface="Calibri" pitchFamily="34" charset="-120"/>
              </a:rPr>
              <a:t>Infraestructura sobre la que corre el sistema</a:t>
            </a:r>
            <a:endParaRPr lang="en-US" sz="1100"/>
          </a:p>
        </p:txBody>
      </p:sp>
      <p:sp>
        <p:nvSpPr>
          <p:cNvPr id="7" name="Text 5"/>
          <p:cNvSpPr txBox="1"/>
          <p:nvPr/>
        </p:nvSpPr>
        <p:spPr>
          <a:xfrm>
            <a:off x="548640" y="6446520"/>
            <a:ext cx="10543032" cy="27432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Sistema de Gestión de Adquisiciones e Inventario  |  Constructora M5 SpA</a:t>
            </a:r>
            <a:endParaRPr lang="en-US" sz="900"/>
          </a:p>
        </p:txBody>
      </p:sp>
      <p:sp>
        <p:nvSpPr>
          <p:cNvPr id="8" name="Text 6"/>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900">
                <a:solidFill>
                  <a:srgbClr val="6B7280"/>
                </a:solidFill>
                <a:latin typeface="Calibri" pitchFamily="34" charset="0"/>
                <a:ea typeface="Calibri" pitchFamily="34" charset="-122"/>
                <a:cs typeface="Calibri" pitchFamily="34" charset="-120"/>
              </a:rPr>
              <a:t>8</a:t>
            </a:r>
            <a:endParaRPr lang="en-US" sz="900"/>
          </a:p>
        </p:txBody>
      </p:sp>
      <p:pic>
        <p:nvPicPr>
          <p:cNvPr id="10" name="Picture 9">
            <a:extLst>
              <a:ext uri="{FF2B5EF4-FFF2-40B4-BE49-F238E27FC236}">
                <a16:creationId xmlns:a16="http://schemas.microsoft.com/office/drawing/2014/main" id="{F0223941-869C-091B-FD22-B93D22F8CDA3}"/>
              </a:ext>
            </a:extLst>
          </p:cNvPr>
          <p:cNvPicPr>
            <a:picLocks noChangeAspect="1"/>
          </p:cNvPicPr>
          <p:nvPr/>
        </p:nvPicPr>
        <p:blipFill>
          <a:blip r:embed="rId3"/>
          <a:stretch>
            <a:fillRect/>
          </a:stretch>
        </p:blipFill>
        <p:spPr>
          <a:xfrm>
            <a:off x="10247110" y="518323"/>
            <a:ext cx="1484642" cy="920169"/>
          </a:xfrm>
          <a:prstGeom prst="rect">
            <a:avLst/>
          </a:prstGeom>
        </p:spPr>
      </p:pic>
      <p:pic>
        <p:nvPicPr>
          <p:cNvPr id="9" name="Picture 8">
            <a:extLst>
              <a:ext uri="{FF2B5EF4-FFF2-40B4-BE49-F238E27FC236}">
                <a16:creationId xmlns:a16="http://schemas.microsoft.com/office/drawing/2014/main" id="{7F6B2224-9036-9068-C6ED-3106FF08CD54}"/>
              </a:ext>
            </a:extLst>
          </p:cNvPr>
          <p:cNvPicPr>
            <a:picLocks noChangeAspect="1"/>
          </p:cNvPicPr>
          <p:nvPr/>
        </p:nvPicPr>
        <p:blipFill>
          <a:blip r:embed="rId4"/>
          <a:stretch>
            <a:fillRect/>
          </a:stretch>
        </p:blipFill>
        <p:spPr>
          <a:xfrm>
            <a:off x="2074165" y="1538531"/>
            <a:ext cx="7537667" cy="45151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320040"/>
          </a:xfrm>
          <a:prstGeom prst="rect">
            <a:avLst/>
          </a:prstGeom>
          <a:noFill/>
          <a:ln/>
        </p:spPr>
        <p:txBody>
          <a:bodyPr wrap="square" lIns="0" tIns="0" rIns="0" bIns="0" rtlCol="0" anchor="ctr"/>
          <a:lstStyle/>
          <a:p>
            <a:pPr marL="0" indent="0">
              <a:buNone/>
            </a:pPr>
            <a:r>
              <a:rPr lang="en-US" sz="1200" b="1" kern="0" spc="200">
                <a:solidFill>
                  <a:srgbClr val="FF4200"/>
                </a:solidFill>
                <a:latin typeface="Calibri" pitchFamily="34" charset="0"/>
                <a:ea typeface="Calibri" pitchFamily="34" charset="-122"/>
                <a:cs typeface="Calibri" pitchFamily="34" charset="-120"/>
              </a:rPr>
              <a:t>VISTA LÓGICA</a:t>
            </a:r>
            <a:endParaRPr lang="en-US" sz="1200"/>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marL="0" indent="0">
              <a:buNone/>
            </a:pPr>
            <a:r>
              <a:rPr lang="en-US" sz="2800" b="1" dirty="0" err="1">
                <a:solidFill>
                  <a:srgbClr val="262626"/>
                </a:solidFill>
                <a:latin typeface="Aharoni" panose="02010803020104030203" pitchFamily="2" charset="-79"/>
                <a:ea typeface="Calibri" pitchFamily="34" charset="-122"/>
                <a:cs typeface="Aharoni" panose="02010803020104030203" pitchFamily="2" charset="-79"/>
              </a:rPr>
              <a:t>Diagrama</a:t>
            </a:r>
            <a:r>
              <a:rPr lang="en-US" sz="2800" b="1" dirty="0">
                <a:solidFill>
                  <a:srgbClr val="262626"/>
                </a:solidFill>
                <a:latin typeface="Aharoni" panose="02010803020104030203" pitchFamily="2" charset="-79"/>
                <a:ea typeface="Calibri" pitchFamily="34" charset="-122"/>
                <a:cs typeface="Aharoni" panose="02010803020104030203" pitchFamily="2" charset="-79"/>
              </a:rPr>
              <a:t> Modelo </a:t>
            </a:r>
            <a:r>
              <a:rPr lang="en-US" sz="2800" b="1" dirty="0" err="1">
                <a:solidFill>
                  <a:srgbClr val="262626"/>
                </a:solidFill>
                <a:latin typeface="Aharoni" panose="02010803020104030203" pitchFamily="2" charset="-79"/>
                <a:ea typeface="Calibri" pitchFamily="34" charset="-122"/>
                <a:cs typeface="Aharoni" panose="02010803020104030203" pitchFamily="2" charset="-79"/>
              </a:rPr>
              <a:t>Físico</a:t>
            </a:r>
            <a:endParaRPr lang="en-US" sz="2800" dirty="0">
              <a:latin typeface="Aharoni" panose="02010803020104030203" pitchFamily="2" charset="-79"/>
              <a:cs typeface="Aharoni" panose="02010803020104030203" pitchFamily="2" charset="-79"/>
            </a:endParaRPr>
          </a:p>
        </p:txBody>
      </p:sp>
      <p:sp>
        <p:nvSpPr>
          <p:cNvPr id="4" name="Shape 2"/>
          <p:cNvSpPr/>
          <p:nvPr/>
        </p:nvSpPr>
        <p:spPr>
          <a:xfrm>
            <a:off x="244004" y="1484212"/>
            <a:ext cx="11700944" cy="5008028"/>
          </a:xfrm>
          <a:prstGeom prst="rect">
            <a:avLst/>
          </a:prstGeom>
          <a:solidFill>
            <a:srgbClr val="F5F5F5"/>
          </a:solidFill>
          <a:ln w="19050">
            <a:solidFill>
              <a:srgbClr val="FF4200"/>
            </a:solidFill>
            <a:prstDash val="dash"/>
          </a:ln>
        </p:spPr>
        <p:txBody>
          <a:bodyPr/>
          <a:lstStyle/>
          <a:p>
            <a:endParaRPr lang="es-CL"/>
          </a:p>
        </p:txBody>
      </p:sp>
      <p:sp>
        <p:nvSpPr>
          <p:cNvPr id="5" name="Text 3"/>
          <p:cNvSpPr txBox="1"/>
          <p:nvPr/>
        </p:nvSpPr>
        <p:spPr>
          <a:xfrm>
            <a:off x="548640" y="3246120"/>
            <a:ext cx="11091672" cy="365760"/>
          </a:xfrm>
          <a:prstGeom prst="rect">
            <a:avLst/>
          </a:prstGeom>
          <a:noFill/>
          <a:ln/>
        </p:spPr>
        <p:txBody>
          <a:bodyPr wrap="square" lIns="0" tIns="0" rIns="0" bIns="0" rtlCol="0" anchor="ctr"/>
          <a:lstStyle/>
          <a:p>
            <a:pPr marL="0" indent="0" algn="ctr">
              <a:buNone/>
            </a:pPr>
            <a:r>
              <a:rPr lang="en-US" sz="1500" b="1">
                <a:solidFill>
                  <a:srgbClr val="FF4200"/>
                </a:solidFill>
                <a:latin typeface="Calibri" pitchFamily="34" charset="0"/>
                <a:ea typeface="Calibri" pitchFamily="34" charset="-122"/>
                <a:cs typeface="Calibri" pitchFamily="34" charset="-120"/>
              </a:rPr>
              <a:t>[ AQUÍ VA: Diagrama de Clases ]</a:t>
            </a:r>
            <a:endParaRPr lang="en-US" sz="1500"/>
          </a:p>
        </p:txBody>
      </p:sp>
      <p:sp>
        <p:nvSpPr>
          <p:cNvPr id="6" name="Text 4"/>
          <p:cNvSpPr txBox="1"/>
          <p:nvPr/>
        </p:nvSpPr>
        <p:spPr>
          <a:xfrm>
            <a:off x="548640" y="3675888"/>
            <a:ext cx="11091672" cy="365760"/>
          </a:xfrm>
          <a:prstGeom prst="rect">
            <a:avLst/>
          </a:prstGeom>
          <a:noFill/>
          <a:ln/>
        </p:spPr>
        <p:txBody>
          <a:bodyPr wrap="square" lIns="0" tIns="0" rIns="0" bIns="0" rtlCol="0" anchor="ctr"/>
          <a:lstStyle/>
          <a:p>
            <a:pPr marL="0" indent="0" algn="ctr">
              <a:buNone/>
            </a:pPr>
            <a:r>
              <a:rPr lang="en-US" sz="1100">
                <a:solidFill>
                  <a:srgbClr val="6B7280"/>
                </a:solidFill>
                <a:latin typeface="Calibri" pitchFamily="34" charset="0"/>
                <a:ea typeface="Calibri" pitchFamily="34" charset="-122"/>
                <a:cs typeface="Calibri" pitchFamily="34" charset="-120"/>
              </a:rPr>
              <a:t>Clases nuevas del incremento resaltadas</a:t>
            </a:r>
            <a:endParaRPr lang="en-US" sz="1100"/>
          </a:p>
        </p:txBody>
      </p:sp>
      <p:sp>
        <p:nvSpPr>
          <p:cNvPr id="7" name="Text 5"/>
          <p:cNvSpPr txBox="1"/>
          <p:nvPr/>
        </p:nvSpPr>
        <p:spPr>
          <a:xfrm>
            <a:off x="548640" y="6446520"/>
            <a:ext cx="10543032" cy="27432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Sistema de Gestión de Adquisiciones e Inventario  |  Constructora M5 SpA</a:t>
            </a:r>
            <a:endParaRPr lang="en-US" sz="900"/>
          </a:p>
        </p:txBody>
      </p:sp>
      <p:sp>
        <p:nvSpPr>
          <p:cNvPr id="8" name="Text 6"/>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900">
                <a:solidFill>
                  <a:srgbClr val="6B7280"/>
                </a:solidFill>
                <a:latin typeface="Calibri" pitchFamily="34" charset="0"/>
                <a:ea typeface="Calibri" pitchFamily="34" charset="-122"/>
                <a:cs typeface="Calibri" pitchFamily="34" charset="-120"/>
              </a:rPr>
              <a:t>9</a:t>
            </a:r>
            <a:endParaRPr lang="en-US" sz="900"/>
          </a:p>
        </p:txBody>
      </p:sp>
      <p:pic>
        <p:nvPicPr>
          <p:cNvPr id="10" name="Picture 9">
            <a:extLst>
              <a:ext uri="{FF2B5EF4-FFF2-40B4-BE49-F238E27FC236}">
                <a16:creationId xmlns:a16="http://schemas.microsoft.com/office/drawing/2014/main" id="{C0D3256F-7C66-A71C-0725-00C2DAAD8410}"/>
              </a:ext>
            </a:extLst>
          </p:cNvPr>
          <p:cNvPicPr>
            <a:picLocks noChangeAspect="1"/>
          </p:cNvPicPr>
          <p:nvPr/>
        </p:nvPicPr>
        <p:blipFill>
          <a:blip r:embed="rId3"/>
          <a:stretch>
            <a:fillRect/>
          </a:stretch>
        </p:blipFill>
        <p:spPr>
          <a:xfrm>
            <a:off x="10247110" y="518323"/>
            <a:ext cx="1484642" cy="920169"/>
          </a:xfrm>
          <a:prstGeom prst="rect">
            <a:avLst/>
          </a:prstGeom>
        </p:spPr>
      </p:pic>
      <p:pic>
        <p:nvPicPr>
          <p:cNvPr id="9" name="Picture 8">
            <a:extLst>
              <a:ext uri="{FF2B5EF4-FFF2-40B4-BE49-F238E27FC236}">
                <a16:creationId xmlns:a16="http://schemas.microsoft.com/office/drawing/2014/main" id="{4421BF9E-DD31-C756-D3B6-8F90B8EB4B75}"/>
              </a:ext>
            </a:extLst>
          </p:cNvPr>
          <p:cNvPicPr>
            <a:picLocks noChangeAspect="1"/>
          </p:cNvPicPr>
          <p:nvPr/>
        </p:nvPicPr>
        <p:blipFill>
          <a:blip r:embed="rId4"/>
          <a:stretch>
            <a:fillRect/>
          </a:stretch>
        </p:blipFill>
        <p:spPr>
          <a:xfrm>
            <a:off x="265270" y="1495412"/>
            <a:ext cx="11679678" cy="4951108"/>
          </a:xfrm>
          <a:prstGeom prst="rect">
            <a:avLst/>
          </a:prstGeom>
        </p:spPr>
      </p:pic>
      <p:sp>
        <p:nvSpPr>
          <p:cNvPr id="12" name="Flecha: hacia la izquierda 11">
            <a:extLst>
              <a:ext uri="{FF2B5EF4-FFF2-40B4-BE49-F238E27FC236}">
                <a16:creationId xmlns:a16="http://schemas.microsoft.com/office/drawing/2014/main" id="{B8AB498E-A058-56F5-DB1C-F4179CEFF2F0}"/>
              </a:ext>
            </a:extLst>
          </p:cNvPr>
          <p:cNvSpPr/>
          <p:nvPr/>
        </p:nvSpPr>
        <p:spPr>
          <a:xfrm>
            <a:off x="1469012" y="2986063"/>
            <a:ext cx="644042" cy="420027"/>
          </a:xfrm>
          <a:prstGeom prst="leftArrow">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00">
                <a:ea typeface="Calibri"/>
                <a:cs typeface="Calibri"/>
              </a:rPr>
              <a:t>RF-17</a:t>
            </a:r>
          </a:p>
        </p:txBody>
      </p:sp>
      <p:sp>
        <p:nvSpPr>
          <p:cNvPr id="13" name="Flecha: hacia la izquierda 12">
            <a:extLst>
              <a:ext uri="{FF2B5EF4-FFF2-40B4-BE49-F238E27FC236}">
                <a16:creationId xmlns:a16="http://schemas.microsoft.com/office/drawing/2014/main" id="{D5F8055E-4F60-96FC-320F-C4A80EF51087}"/>
              </a:ext>
            </a:extLst>
          </p:cNvPr>
          <p:cNvSpPr/>
          <p:nvPr/>
        </p:nvSpPr>
        <p:spPr>
          <a:xfrm>
            <a:off x="5039486" y="3403596"/>
            <a:ext cx="644042" cy="420027"/>
          </a:xfrm>
          <a:prstGeom prst="leftArrow">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ES" sz="1000">
                <a:ea typeface="Calibri"/>
                <a:cs typeface="Calibri"/>
              </a:rPr>
              <a:t>RF-21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62626"/>
        </a:solidFill>
        <a:effectLst/>
      </p:bgPr>
    </p:bg>
    <p:spTree>
      <p:nvGrpSpPr>
        <p:cNvPr id="1" name=""/>
        <p:cNvGrpSpPr/>
        <p:nvPr/>
      </p:nvGrpSpPr>
      <p:grpSpPr>
        <a:xfrm>
          <a:off x="0" y="0"/>
          <a:ext cx="0" cy="0"/>
          <a:chOff x="0" y="0"/>
          <a:chExt cx="0" cy="0"/>
        </a:xfrm>
      </p:grpSpPr>
      <p:sp>
        <p:nvSpPr>
          <p:cNvPr id="2" name="Text 0"/>
          <p:cNvSpPr txBox="1"/>
          <p:nvPr/>
        </p:nvSpPr>
        <p:spPr>
          <a:xfrm>
            <a:off x="731520" y="2686929"/>
            <a:ext cx="10725912" cy="1097280"/>
          </a:xfrm>
          <a:prstGeom prst="rect">
            <a:avLst/>
          </a:prstGeom>
          <a:noFill/>
          <a:ln/>
        </p:spPr>
        <p:txBody>
          <a:bodyPr wrap="square" lIns="0" tIns="0" rIns="0" bIns="0" rtlCol="0" anchor="ctr"/>
          <a:lstStyle/>
          <a:p>
            <a:pPr marL="0" indent="0" algn="ctr">
              <a:buNone/>
            </a:pPr>
            <a:r>
              <a:rPr lang="en-US" sz="6600" b="1" err="1">
                <a:solidFill>
                  <a:srgbClr val="FFFFFF"/>
                </a:solidFill>
                <a:latin typeface="Aharoni" panose="02010803020104030203" pitchFamily="2" charset="-79"/>
                <a:ea typeface="Calibri" pitchFamily="34" charset="-122"/>
                <a:cs typeface="Aharoni" panose="02010803020104030203" pitchFamily="2" charset="-79"/>
              </a:rPr>
              <a:t>Diagramas</a:t>
            </a:r>
            <a:r>
              <a:rPr lang="en-US" sz="6600" b="1">
                <a:solidFill>
                  <a:srgbClr val="FFFFFF"/>
                </a:solidFill>
                <a:latin typeface="Aharoni" panose="02010803020104030203" pitchFamily="2" charset="-79"/>
                <a:ea typeface="Calibri" pitchFamily="34" charset="-122"/>
                <a:cs typeface="Aharoni" panose="02010803020104030203" pitchFamily="2" charset="-79"/>
              </a:rPr>
              <a:t> de </a:t>
            </a:r>
            <a:r>
              <a:rPr lang="en-US" sz="6600" b="1" err="1">
                <a:solidFill>
                  <a:srgbClr val="FFFFFF"/>
                </a:solidFill>
                <a:latin typeface="Aharoni" panose="02010803020104030203" pitchFamily="2" charset="-79"/>
                <a:ea typeface="Calibri" pitchFamily="34" charset="-122"/>
                <a:cs typeface="Aharoni" panose="02010803020104030203" pitchFamily="2" charset="-79"/>
              </a:rPr>
              <a:t>Secuencia</a:t>
            </a:r>
            <a:endParaRPr lang="en-US" sz="6600">
              <a:latin typeface="Aharoni" panose="02010803020104030203" pitchFamily="2" charset="-79"/>
              <a:cs typeface="Aharoni" panose="02010803020104030203" pitchFamily="2" charset="-79"/>
            </a:endParaRPr>
          </a:p>
        </p:txBody>
      </p:sp>
      <p:sp>
        <p:nvSpPr>
          <p:cNvPr id="3" name="Text 1"/>
          <p:cNvSpPr txBox="1"/>
          <p:nvPr/>
        </p:nvSpPr>
        <p:spPr>
          <a:xfrm>
            <a:off x="731520" y="3749040"/>
            <a:ext cx="10725912" cy="548640"/>
          </a:xfrm>
          <a:prstGeom prst="rect">
            <a:avLst/>
          </a:prstGeom>
          <a:noFill/>
          <a:ln/>
        </p:spPr>
        <p:txBody>
          <a:bodyPr wrap="square" lIns="0" tIns="0" rIns="0" bIns="0" rtlCol="0" anchor="ctr"/>
          <a:lstStyle/>
          <a:p>
            <a:pPr marL="0" indent="0" algn="ctr">
              <a:buNone/>
            </a:pPr>
            <a:r>
              <a:rPr lang="en-US" sz="1600">
                <a:solidFill>
                  <a:srgbClr val="00C8F4"/>
                </a:solidFill>
                <a:latin typeface="Aharoni" panose="02010803020104030203" pitchFamily="2" charset="-79"/>
                <a:ea typeface="Calibri" pitchFamily="34" charset="-122"/>
                <a:cs typeface="Aharoni" panose="02010803020104030203" pitchFamily="2" charset="-79"/>
              </a:rPr>
              <a:t>Vista de </a:t>
            </a:r>
            <a:r>
              <a:rPr lang="en-US" sz="1600" err="1">
                <a:solidFill>
                  <a:srgbClr val="00C8F4"/>
                </a:solidFill>
                <a:latin typeface="Aharoni" panose="02010803020104030203" pitchFamily="2" charset="-79"/>
                <a:ea typeface="Calibri" pitchFamily="34" charset="-122"/>
                <a:cs typeface="Aharoni" panose="02010803020104030203" pitchFamily="2" charset="-79"/>
              </a:rPr>
              <a:t>Proceso</a:t>
            </a:r>
            <a:r>
              <a:rPr lang="en-US" sz="1600">
                <a:solidFill>
                  <a:srgbClr val="00C8F4"/>
                </a:solidFill>
                <a:latin typeface="Aharoni" panose="02010803020104030203" pitchFamily="2" charset="-79"/>
                <a:ea typeface="Calibri" pitchFamily="34" charset="-122"/>
                <a:cs typeface="Aharoni" panose="02010803020104030203" pitchFamily="2" charset="-79"/>
              </a:rPr>
              <a:t> — </a:t>
            </a:r>
            <a:r>
              <a:rPr lang="en-US" sz="1600" err="1">
                <a:solidFill>
                  <a:srgbClr val="00C8F4"/>
                </a:solidFill>
                <a:latin typeface="Aharoni" panose="02010803020104030203" pitchFamily="2" charset="-79"/>
                <a:ea typeface="Calibri" pitchFamily="34" charset="-122"/>
                <a:cs typeface="Aharoni" panose="02010803020104030203" pitchFamily="2" charset="-79"/>
              </a:rPr>
              <a:t>flujo</a:t>
            </a:r>
            <a:r>
              <a:rPr lang="en-US" sz="1600">
                <a:solidFill>
                  <a:srgbClr val="00C8F4"/>
                </a:solidFill>
                <a:latin typeface="Aharoni" panose="02010803020104030203" pitchFamily="2" charset="-79"/>
                <a:ea typeface="Calibri" pitchFamily="34" charset="-122"/>
                <a:cs typeface="Aharoni" panose="02010803020104030203" pitchFamily="2" charset="-79"/>
              </a:rPr>
              <a:t> principal de </a:t>
            </a:r>
            <a:r>
              <a:rPr lang="en-US" sz="1600" err="1">
                <a:solidFill>
                  <a:srgbClr val="00C8F4"/>
                </a:solidFill>
                <a:latin typeface="Aharoni" panose="02010803020104030203" pitchFamily="2" charset="-79"/>
                <a:ea typeface="Calibri" pitchFamily="34" charset="-122"/>
                <a:cs typeface="Aharoni" panose="02010803020104030203" pitchFamily="2" charset="-79"/>
              </a:rPr>
              <a:t>los</a:t>
            </a:r>
            <a:r>
              <a:rPr lang="en-US" sz="1600">
                <a:solidFill>
                  <a:srgbClr val="00C8F4"/>
                </a:solidFill>
                <a:latin typeface="Aharoni" panose="02010803020104030203" pitchFamily="2" charset="-79"/>
                <a:ea typeface="Calibri" pitchFamily="34" charset="-122"/>
                <a:cs typeface="Aharoni" panose="02010803020104030203" pitchFamily="2" charset="-79"/>
              </a:rPr>
              <a:t> </a:t>
            </a:r>
            <a:r>
              <a:rPr lang="en-US" sz="1600" err="1">
                <a:solidFill>
                  <a:srgbClr val="00C8F4"/>
                </a:solidFill>
                <a:latin typeface="Aharoni" panose="02010803020104030203" pitchFamily="2" charset="-79"/>
                <a:ea typeface="Calibri" pitchFamily="34" charset="-122"/>
                <a:cs typeface="Aharoni" panose="02010803020104030203" pitchFamily="2" charset="-79"/>
              </a:rPr>
              <a:t>casos</a:t>
            </a:r>
            <a:r>
              <a:rPr lang="en-US" sz="1600">
                <a:solidFill>
                  <a:srgbClr val="00C8F4"/>
                </a:solidFill>
                <a:latin typeface="Aharoni" panose="02010803020104030203" pitchFamily="2" charset="-79"/>
                <a:ea typeface="Calibri" pitchFamily="34" charset="-122"/>
                <a:cs typeface="Aharoni" panose="02010803020104030203" pitchFamily="2" charset="-79"/>
              </a:rPr>
              <a:t> de </a:t>
            </a:r>
            <a:r>
              <a:rPr lang="en-US" sz="1600" err="1">
                <a:solidFill>
                  <a:srgbClr val="00C8F4"/>
                </a:solidFill>
                <a:latin typeface="Aharoni" panose="02010803020104030203" pitchFamily="2" charset="-79"/>
                <a:ea typeface="Calibri" pitchFamily="34" charset="-122"/>
                <a:cs typeface="Aharoni" panose="02010803020104030203" pitchFamily="2" charset="-79"/>
              </a:rPr>
              <a:t>uso</a:t>
            </a:r>
            <a:r>
              <a:rPr lang="en-US" sz="1600">
                <a:solidFill>
                  <a:srgbClr val="00C8F4"/>
                </a:solidFill>
                <a:latin typeface="Aharoni" panose="02010803020104030203" pitchFamily="2" charset="-79"/>
                <a:ea typeface="Calibri" pitchFamily="34" charset="-122"/>
                <a:cs typeface="Aharoni" panose="02010803020104030203" pitchFamily="2" charset="-79"/>
              </a:rPr>
              <a:t> clave del </a:t>
            </a:r>
            <a:r>
              <a:rPr lang="en-US" sz="1600" err="1">
                <a:solidFill>
                  <a:srgbClr val="00C8F4"/>
                </a:solidFill>
                <a:latin typeface="Aharoni" panose="02010803020104030203" pitchFamily="2" charset="-79"/>
                <a:ea typeface="Calibri" pitchFamily="34" charset="-122"/>
                <a:cs typeface="Aharoni" panose="02010803020104030203" pitchFamily="2" charset="-79"/>
              </a:rPr>
              <a:t>incremento</a:t>
            </a:r>
            <a:endParaRPr lang="en-US" sz="1600">
              <a:latin typeface="Aharoni" panose="02010803020104030203" pitchFamily="2" charset="-79"/>
              <a:cs typeface="Aharoni" panose="02010803020104030203" pitchFamily="2" charset="-79"/>
            </a:endParaRPr>
          </a:p>
        </p:txBody>
      </p:sp>
      <p:pic>
        <p:nvPicPr>
          <p:cNvPr id="5" name="Picture 4">
            <a:extLst>
              <a:ext uri="{FF2B5EF4-FFF2-40B4-BE49-F238E27FC236}">
                <a16:creationId xmlns:a16="http://schemas.microsoft.com/office/drawing/2014/main" id="{18B9BEFA-2B47-E9A9-359E-4B50DC0C4106}"/>
              </a:ext>
            </a:extLst>
          </p:cNvPr>
          <p:cNvPicPr>
            <a:picLocks noChangeAspect="1"/>
          </p:cNvPicPr>
          <p:nvPr/>
        </p:nvPicPr>
        <p:blipFill>
          <a:blip r:embed="rId3"/>
          <a:stretch>
            <a:fillRect/>
          </a:stretch>
        </p:blipFill>
        <p:spPr>
          <a:xfrm>
            <a:off x="10247110" y="518323"/>
            <a:ext cx="1484642" cy="92016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320040"/>
          </a:xfrm>
          <a:prstGeom prst="rect">
            <a:avLst/>
          </a:prstGeom>
          <a:noFill/>
          <a:ln/>
        </p:spPr>
        <p:txBody>
          <a:bodyPr wrap="square" lIns="0" tIns="0" rIns="0" bIns="0" rtlCol="0" anchor="ctr"/>
          <a:lstStyle/>
          <a:p>
            <a:pPr marL="0" indent="0">
              <a:buNone/>
            </a:pPr>
            <a:r>
              <a:rPr lang="en-US" sz="1200" b="1" kern="0" spc="200">
                <a:solidFill>
                  <a:srgbClr val="FF4200"/>
                </a:solidFill>
                <a:latin typeface="Calibri" pitchFamily="34" charset="0"/>
                <a:ea typeface="Calibri" pitchFamily="34" charset="-122"/>
                <a:cs typeface="Calibri" pitchFamily="34" charset="-120"/>
              </a:rPr>
              <a:t>DIAGRAMA DE SECUENCIA — CU-17</a:t>
            </a:r>
            <a:endParaRPr lang="en-US" sz="1200"/>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marL="0" indent="0">
              <a:buNone/>
            </a:pPr>
            <a:r>
              <a:rPr lang="en-US" sz="2800" b="1">
                <a:solidFill>
                  <a:srgbClr val="262626"/>
                </a:solidFill>
                <a:latin typeface="Calibri" pitchFamily="34" charset="0"/>
                <a:ea typeface="Calibri" pitchFamily="34" charset="-122"/>
                <a:cs typeface="Calibri" pitchFamily="34" charset="-120"/>
              </a:rPr>
              <a:t>Registrando cotización para una Solicitud de Materiales</a:t>
            </a:r>
            <a:endParaRPr lang="en-US" sz="2800"/>
          </a:p>
        </p:txBody>
      </p:sp>
      <p:sp>
        <p:nvSpPr>
          <p:cNvPr id="4" name="Shape 2"/>
          <p:cNvSpPr/>
          <p:nvPr/>
        </p:nvSpPr>
        <p:spPr>
          <a:xfrm>
            <a:off x="548640" y="1554480"/>
            <a:ext cx="11091672" cy="4206240"/>
          </a:xfrm>
          <a:prstGeom prst="rect">
            <a:avLst/>
          </a:prstGeom>
          <a:solidFill>
            <a:srgbClr val="F5F5F5"/>
          </a:solidFill>
          <a:ln w="19050">
            <a:solidFill>
              <a:srgbClr val="FF4200"/>
            </a:solidFill>
            <a:prstDash val="dash"/>
          </a:ln>
        </p:spPr>
        <p:txBody>
          <a:bodyPr/>
          <a:lstStyle/>
          <a:p>
            <a:endParaRPr lang="es-CL"/>
          </a:p>
        </p:txBody>
      </p:sp>
      <p:sp>
        <p:nvSpPr>
          <p:cNvPr id="7" name="Text 5"/>
          <p:cNvSpPr txBox="1"/>
          <p:nvPr/>
        </p:nvSpPr>
        <p:spPr>
          <a:xfrm>
            <a:off x="548640" y="6446520"/>
            <a:ext cx="10543032" cy="27432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Sistema de Gestión de Adquisiciones e Inventario  |  Constructora M5 SpA</a:t>
            </a:r>
            <a:endParaRPr lang="en-US" sz="900"/>
          </a:p>
        </p:txBody>
      </p:sp>
      <p:sp>
        <p:nvSpPr>
          <p:cNvPr id="8" name="Text 6"/>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900">
                <a:solidFill>
                  <a:srgbClr val="6B7280"/>
                </a:solidFill>
                <a:latin typeface="Calibri" pitchFamily="34" charset="0"/>
                <a:ea typeface="Calibri" pitchFamily="34" charset="-122"/>
                <a:cs typeface="Calibri" pitchFamily="34" charset="-120"/>
              </a:rPr>
              <a:t>12</a:t>
            </a:r>
            <a:endParaRPr lang="en-US" sz="900"/>
          </a:p>
        </p:txBody>
      </p:sp>
      <p:pic>
        <p:nvPicPr>
          <p:cNvPr id="10" name="Picture 9">
            <a:extLst>
              <a:ext uri="{FF2B5EF4-FFF2-40B4-BE49-F238E27FC236}">
                <a16:creationId xmlns:a16="http://schemas.microsoft.com/office/drawing/2014/main" id="{8E5DF9F5-F310-16A4-6B66-C087198AB9A6}"/>
              </a:ext>
            </a:extLst>
          </p:cNvPr>
          <p:cNvPicPr>
            <a:picLocks noChangeAspect="1"/>
          </p:cNvPicPr>
          <p:nvPr/>
        </p:nvPicPr>
        <p:blipFill>
          <a:blip r:embed="rId3"/>
          <a:stretch>
            <a:fillRect/>
          </a:stretch>
        </p:blipFill>
        <p:spPr>
          <a:xfrm>
            <a:off x="10247110" y="518323"/>
            <a:ext cx="1484642" cy="920169"/>
          </a:xfrm>
          <a:prstGeom prst="rect">
            <a:avLst/>
          </a:prstGeom>
        </p:spPr>
      </p:pic>
      <p:pic>
        <p:nvPicPr>
          <p:cNvPr id="11" name="Picture 10">
            <a:extLst>
              <a:ext uri="{FF2B5EF4-FFF2-40B4-BE49-F238E27FC236}">
                <a16:creationId xmlns:a16="http://schemas.microsoft.com/office/drawing/2014/main" id="{B527A81A-1A7E-2DC8-DA2C-E4BD1F16DF83}"/>
              </a:ext>
            </a:extLst>
          </p:cNvPr>
          <p:cNvPicPr>
            <a:picLocks noChangeAspect="1"/>
          </p:cNvPicPr>
          <p:nvPr/>
        </p:nvPicPr>
        <p:blipFill>
          <a:blip r:embed="rId4"/>
          <a:stretch>
            <a:fillRect/>
          </a:stretch>
        </p:blipFill>
        <p:spPr>
          <a:xfrm>
            <a:off x="743185" y="1562571"/>
            <a:ext cx="10705630" cy="420323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320040"/>
          </a:xfrm>
          <a:prstGeom prst="rect">
            <a:avLst/>
          </a:prstGeom>
          <a:noFill/>
          <a:ln/>
        </p:spPr>
        <p:txBody>
          <a:bodyPr wrap="square" lIns="0" tIns="0" rIns="0" bIns="0" rtlCol="0" anchor="ctr"/>
          <a:lstStyle/>
          <a:p>
            <a:pPr marL="0" indent="0">
              <a:buNone/>
            </a:pPr>
            <a:r>
              <a:rPr lang="en-US" sz="1200" b="1" kern="0" spc="200">
                <a:solidFill>
                  <a:srgbClr val="FF4200"/>
                </a:solidFill>
                <a:latin typeface="Calibri" pitchFamily="34" charset="0"/>
                <a:ea typeface="Calibri" pitchFamily="34" charset="-122"/>
                <a:cs typeface="Calibri" pitchFamily="34" charset="-120"/>
              </a:rPr>
              <a:t>DIAGRAMA DE SECUENCIA — CU-21</a:t>
            </a:r>
            <a:endParaRPr lang="en-US" sz="1200"/>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marL="0" indent="0">
              <a:buNone/>
            </a:pPr>
            <a:r>
              <a:rPr lang="en-US" sz="2800" b="1">
                <a:solidFill>
                  <a:srgbClr val="262626"/>
                </a:solidFill>
                <a:latin typeface="Aharoni" panose="02010803020104030203" pitchFamily="2" charset="-79"/>
                <a:ea typeface="Calibri" pitchFamily="34" charset="-122"/>
                <a:cs typeface="Aharoni" panose="02010803020104030203" pitchFamily="2" charset="-79"/>
              </a:rPr>
              <a:t>Generando Orden de Compra desde una SM</a:t>
            </a:r>
            <a:endParaRPr lang="en-US" sz="2800">
              <a:latin typeface="Aharoni" panose="02010803020104030203" pitchFamily="2" charset="-79"/>
              <a:cs typeface="Aharoni" panose="02010803020104030203" pitchFamily="2" charset="-79"/>
            </a:endParaRPr>
          </a:p>
        </p:txBody>
      </p:sp>
      <p:sp>
        <p:nvSpPr>
          <p:cNvPr id="4" name="Shape 2"/>
          <p:cNvSpPr/>
          <p:nvPr/>
        </p:nvSpPr>
        <p:spPr>
          <a:xfrm>
            <a:off x="548640" y="1554480"/>
            <a:ext cx="11091672" cy="4206240"/>
          </a:xfrm>
          <a:prstGeom prst="rect">
            <a:avLst/>
          </a:prstGeom>
          <a:solidFill>
            <a:srgbClr val="F5F5F5"/>
          </a:solidFill>
          <a:ln w="19050">
            <a:solidFill>
              <a:srgbClr val="FF4200"/>
            </a:solidFill>
            <a:prstDash val="dash"/>
          </a:ln>
        </p:spPr>
        <p:txBody>
          <a:bodyPr/>
          <a:lstStyle/>
          <a:p>
            <a:endParaRPr lang="es-CL"/>
          </a:p>
        </p:txBody>
      </p:sp>
      <p:sp>
        <p:nvSpPr>
          <p:cNvPr id="7" name="Text 5"/>
          <p:cNvSpPr txBox="1"/>
          <p:nvPr/>
        </p:nvSpPr>
        <p:spPr>
          <a:xfrm>
            <a:off x="548640" y="6446520"/>
            <a:ext cx="10543032" cy="27432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Sistema de Gestión de Adquisiciones e Inventario  |  Constructora M5 SpA</a:t>
            </a:r>
            <a:endParaRPr lang="en-US" sz="900"/>
          </a:p>
        </p:txBody>
      </p:sp>
      <p:sp>
        <p:nvSpPr>
          <p:cNvPr id="8" name="Text 6"/>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900">
                <a:solidFill>
                  <a:srgbClr val="6B7280"/>
                </a:solidFill>
                <a:latin typeface="Calibri" pitchFamily="34" charset="0"/>
                <a:ea typeface="Calibri" pitchFamily="34" charset="-122"/>
                <a:cs typeface="Calibri" pitchFamily="34" charset="-120"/>
              </a:rPr>
              <a:t>14</a:t>
            </a:r>
            <a:endParaRPr lang="en-US" sz="900"/>
          </a:p>
        </p:txBody>
      </p:sp>
      <p:pic>
        <p:nvPicPr>
          <p:cNvPr id="10" name="Picture 9">
            <a:extLst>
              <a:ext uri="{FF2B5EF4-FFF2-40B4-BE49-F238E27FC236}">
                <a16:creationId xmlns:a16="http://schemas.microsoft.com/office/drawing/2014/main" id="{F7BD752A-A14B-4AA8-3870-50619AD120E8}"/>
              </a:ext>
            </a:extLst>
          </p:cNvPr>
          <p:cNvPicPr>
            <a:picLocks noChangeAspect="1"/>
          </p:cNvPicPr>
          <p:nvPr/>
        </p:nvPicPr>
        <p:blipFill>
          <a:blip r:embed="rId3"/>
          <a:stretch>
            <a:fillRect/>
          </a:stretch>
        </p:blipFill>
        <p:spPr>
          <a:xfrm>
            <a:off x="10247110" y="518323"/>
            <a:ext cx="1484642" cy="920169"/>
          </a:xfrm>
          <a:prstGeom prst="rect">
            <a:avLst/>
          </a:prstGeom>
        </p:spPr>
      </p:pic>
      <p:pic>
        <p:nvPicPr>
          <p:cNvPr id="9" name="Picture 8">
            <a:extLst>
              <a:ext uri="{FF2B5EF4-FFF2-40B4-BE49-F238E27FC236}">
                <a16:creationId xmlns:a16="http://schemas.microsoft.com/office/drawing/2014/main" id="{D3DE89A1-CE7F-21AA-C85F-AC284D07D025}"/>
              </a:ext>
            </a:extLst>
          </p:cNvPr>
          <p:cNvPicPr>
            <a:picLocks noChangeAspect="1"/>
          </p:cNvPicPr>
          <p:nvPr/>
        </p:nvPicPr>
        <p:blipFill>
          <a:blip r:embed="rId4"/>
          <a:stretch>
            <a:fillRect/>
          </a:stretch>
        </p:blipFill>
        <p:spPr>
          <a:xfrm>
            <a:off x="814916" y="1557455"/>
            <a:ext cx="10025944" cy="422286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320040"/>
          </a:xfrm>
          <a:prstGeom prst="rect">
            <a:avLst/>
          </a:prstGeom>
          <a:noFill/>
          <a:ln/>
        </p:spPr>
        <p:txBody>
          <a:bodyPr wrap="square" lIns="0" tIns="0" rIns="0" bIns="0" rtlCol="0" anchor="ctr"/>
          <a:lstStyle/>
          <a:p>
            <a:pPr marL="0" indent="0">
              <a:buNone/>
            </a:pPr>
            <a:r>
              <a:rPr lang="en-US" sz="1200" b="1" kern="0" spc="200">
                <a:solidFill>
                  <a:srgbClr val="FF4200"/>
                </a:solidFill>
                <a:latin typeface="Aharoni" panose="02010803020104030203" pitchFamily="2" charset="-79"/>
                <a:ea typeface="Calibri" pitchFamily="34" charset="-122"/>
                <a:cs typeface="Aharoni" panose="02010803020104030203" pitchFamily="2" charset="-79"/>
              </a:rPr>
              <a:t>CALIDAD</a:t>
            </a:r>
            <a:endParaRPr lang="en-US" sz="1200">
              <a:latin typeface="Aharoni" panose="02010803020104030203" pitchFamily="2" charset="-79"/>
              <a:cs typeface="Aharoni" panose="02010803020104030203" pitchFamily="2" charset="-79"/>
            </a:endParaRPr>
          </a:p>
        </p:txBody>
      </p:sp>
      <p:sp>
        <p:nvSpPr>
          <p:cNvPr id="3" name="Text 1"/>
          <p:cNvSpPr txBox="1"/>
          <p:nvPr/>
        </p:nvSpPr>
        <p:spPr>
          <a:xfrm>
            <a:off x="548640" y="685800"/>
            <a:ext cx="11091672" cy="640080"/>
          </a:xfrm>
          <a:prstGeom prst="rect">
            <a:avLst/>
          </a:prstGeom>
          <a:noFill/>
          <a:ln/>
        </p:spPr>
        <p:txBody>
          <a:bodyPr wrap="square" lIns="0" tIns="0" rIns="0" bIns="0" rtlCol="0" anchor="ctr"/>
          <a:lstStyle/>
          <a:p>
            <a:pPr marL="0" indent="0">
              <a:buNone/>
            </a:pPr>
            <a:r>
              <a:rPr lang="en-US" sz="2800" b="1">
                <a:solidFill>
                  <a:srgbClr val="262626"/>
                </a:solidFill>
                <a:latin typeface="Aharoni" panose="02010803020104030203" pitchFamily="2" charset="-79"/>
                <a:ea typeface="Calibri" pitchFamily="34" charset="-122"/>
                <a:cs typeface="Aharoni" panose="02010803020104030203" pitchFamily="2" charset="-79"/>
              </a:rPr>
              <a:t>Pruebas realizadas al sistema</a:t>
            </a:r>
            <a:endParaRPr lang="en-US" sz="2800">
              <a:latin typeface="Aharoni" panose="02010803020104030203" pitchFamily="2" charset="-79"/>
              <a:cs typeface="Aharoni" panose="02010803020104030203" pitchFamily="2" charset="-79"/>
            </a:endParaRPr>
          </a:p>
        </p:txBody>
      </p:sp>
      <p:graphicFrame>
        <p:nvGraphicFramePr>
          <p:cNvPr id="18" name="Table 0"/>
          <p:cNvGraphicFramePr>
            <a:graphicFrameLocks noGrp="1"/>
          </p:cNvGraphicFramePr>
          <p:nvPr>
            <p:extLst>
              <p:ext uri="{D42A27DB-BD31-4B8C-83A1-F6EECF244321}">
                <p14:modId xmlns:p14="http://schemas.microsoft.com/office/powerpoint/2010/main" val="660280088"/>
              </p:ext>
            </p:extLst>
          </p:nvPr>
        </p:nvGraphicFramePr>
        <p:xfrm>
          <a:off x="548640" y="1716188"/>
          <a:ext cx="11091672" cy="2926080"/>
        </p:xfrm>
        <a:graphic>
          <a:graphicData uri="http://schemas.openxmlformats.org/drawingml/2006/table">
            <a:tbl>
              <a:tblPr/>
              <a:tblGrid>
                <a:gridCol w="2772918">
                  <a:extLst>
                    <a:ext uri="{9D8B030D-6E8A-4147-A177-3AD203B41FA5}">
                      <a16:colId xmlns:a16="http://schemas.microsoft.com/office/drawing/2014/main" val="20000"/>
                    </a:ext>
                  </a:extLst>
                </a:gridCol>
                <a:gridCol w="2772918">
                  <a:extLst>
                    <a:ext uri="{9D8B030D-6E8A-4147-A177-3AD203B41FA5}">
                      <a16:colId xmlns:a16="http://schemas.microsoft.com/office/drawing/2014/main" val="20001"/>
                    </a:ext>
                  </a:extLst>
                </a:gridCol>
                <a:gridCol w="2772918">
                  <a:extLst>
                    <a:ext uri="{9D8B030D-6E8A-4147-A177-3AD203B41FA5}">
                      <a16:colId xmlns:a16="http://schemas.microsoft.com/office/drawing/2014/main" val="20002"/>
                    </a:ext>
                  </a:extLst>
                </a:gridCol>
                <a:gridCol w="2772918">
                  <a:extLst>
                    <a:ext uri="{9D8B030D-6E8A-4147-A177-3AD203B41FA5}">
                      <a16:colId xmlns:a16="http://schemas.microsoft.com/office/drawing/2014/main" val="20003"/>
                    </a:ext>
                  </a:extLst>
                </a:gridCol>
              </a:tblGrid>
              <a:tr h="585216">
                <a:tc>
                  <a:txBody>
                    <a:bodyPr/>
                    <a:lstStyle/>
                    <a:p>
                      <a:pPr marL="0" lvl="0" indent="0">
                        <a:buNone/>
                      </a:pPr>
                      <a:r>
                        <a:rPr lang="en-US" sz="1800" b="1" dirty="0" err="1">
                          <a:solidFill>
                            <a:srgbClr val="FFFFFF"/>
                          </a:solidFill>
                          <a:latin typeface="Aharoni" panose="02010803020104030203" pitchFamily="2" charset="-79"/>
                          <a:ea typeface="Calibri"/>
                          <a:cs typeface="Aharoni" panose="02010803020104030203" pitchFamily="2" charset="-79"/>
                        </a:rPr>
                        <a:t>Iteración</a:t>
                      </a:r>
                      <a:endParaRPr lang="en-US" sz="1800" dirty="0">
                        <a:latin typeface="Aharoni" panose="02010803020104030203" pitchFamily="2" charset="-79"/>
                        <a:ea typeface="Calibri"/>
                        <a:cs typeface="Aharoni" panose="02010803020104030203" pitchFamily="2" charset="-79"/>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262626"/>
                    </a:solidFill>
                  </a:tcPr>
                </a:tc>
                <a:tc>
                  <a:txBody>
                    <a:bodyPr/>
                    <a:lstStyle/>
                    <a:p>
                      <a:pPr marL="0" lvl="0" indent="0">
                        <a:buNone/>
                      </a:pPr>
                      <a:r>
                        <a:rPr lang="en-US" sz="1800" b="1" dirty="0">
                          <a:solidFill>
                            <a:srgbClr val="FFFFFF"/>
                          </a:solidFill>
                          <a:latin typeface="Aharoni" panose="02010803020104030203" pitchFamily="2" charset="-79"/>
                          <a:ea typeface="Calibri"/>
                          <a:cs typeface="Aharoni" panose="02010803020104030203" pitchFamily="2" charset="-79"/>
                        </a:rPr>
                        <a:t>CU </a:t>
                      </a:r>
                      <a:r>
                        <a:rPr lang="en-US" sz="1800" b="1" dirty="0" err="1">
                          <a:solidFill>
                            <a:srgbClr val="FFFFFF"/>
                          </a:solidFill>
                          <a:latin typeface="Aharoni" panose="02010803020104030203" pitchFamily="2" charset="-79"/>
                          <a:ea typeface="Calibri"/>
                          <a:cs typeface="Aharoni" panose="02010803020104030203" pitchFamily="2" charset="-79"/>
                        </a:rPr>
                        <a:t>probados</a:t>
                      </a:r>
                      <a:endParaRPr lang="en-US" sz="1800" dirty="0">
                        <a:latin typeface="Aharoni" panose="02010803020104030203" pitchFamily="2" charset="-79"/>
                        <a:ea typeface="Calibri"/>
                        <a:cs typeface="Aharoni" panose="02010803020104030203" pitchFamily="2" charset="-79"/>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262626"/>
                    </a:solidFill>
                  </a:tcPr>
                </a:tc>
                <a:tc>
                  <a:txBody>
                    <a:bodyPr/>
                    <a:lstStyle/>
                    <a:p>
                      <a:pPr marL="0" lvl="0" indent="0">
                        <a:buNone/>
                      </a:pPr>
                      <a:r>
                        <a:rPr lang="en-US" sz="1800" b="1" dirty="0" err="1">
                          <a:solidFill>
                            <a:srgbClr val="FFFFFF"/>
                          </a:solidFill>
                          <a:latin typeface="Aharoni" panose="02010803020104030203" pitchFamily="2" charset="-79"/>
                          <a:ea typeface="Calibri"/>
                          <a:cs typeface="Aharoni" panose="02010803020104030203" pitchFamily="2" charset="-79"/>
                        </a:rPr>
                        <a:t>Correctos</a:t>
                      </a:r>
                      <a:endParaRPr lang="en-US" sz="1800" dirty="0">
                        <a:latin typeface="Aharoni" panose="02010803020104030203" pitchFamily="2" charset="-79"/>
                        <a:ea typeface="Calibri"/>
                        <a:cs typeface="Aharoni" panose="02010803020104030203" pitchFamily="2" charset="-79"/>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262626"/>
                    </a:solidFill>
                  </a:tcPr>
                </a:tc>
                <a:tc>
                  <a:txBody>
                    <a:bodyPr/>
                    <a:lstStyle/>
                    <a:p>
                      <a:pPr marL="0" lvl="0" indent="0">
                        <a:buNone/>
                      </a:pPr>
                      <a:r>
                        <a:rPr lang="en-US" sz="1800" b="1" dirty="0" err="1">
                          <a:solidFill>
                            <a:srgbClr val="FFFFFF"/>
                          </a:solidFill>
                          <a:latin typeface="Aharoni" panose="02010803020104030203" pitchFamily="2" charset="-79"/>
                          <a:ea typeface="Calibri"/>
                          <a:cs typeface="Aharoni" panose="02010803020104030203" pitchFamily="2" charset="-79"/>
                        </a:rPr>
                        <a:t>Erróneos</a:t>
                      </a:r>
                      <a:endParaRPr lang="en-US" sz="1800" dirty="0">
                        <a:latin typeface="Aharoni" panose="02010803020104030203" pitchFamily="2" charset="-79"/>
                        <a:ea typeface="Calibri"/>
                        <a:cs typeface="Aharoni" panose="02010803020104030203" pitchFamily="2" charset="-79"/>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262626"/>
                    </a:solidFill>
                  </a:tcPr>
                </a:tc>
                <a:extLst>
                  <a:ext uri="{0D108BD9-81ED-4DB2-BD59-A6C34878D82A}">
                    <a16:rowId xmlns:a16="http://schemas.microsoft.com/office/drawing/2014/main" val="10000"/>
                  </a:ext>
                </a:extLst>
              </a:tr>
              <a:tr h="585216">
                <a:tc>
                  <a:txBody>
                    <a:bodyPr/>
                    <a:lstStyle/>
                    <a:p>
                      <a:pPr marL="0" lvl="0" indent="0">
                        <a:buNone/>
                      </a:pPr>
                      <a:r>
                        <a:rPr lang="en-US" sz="1800" dirty="0" err="1">
                          <a:solidFill>
                            <a:srgbClr val="1A1A1A"/>
                          </a:solidFill>
                          <a:latin typeface="Aharoni" panose="02010803020104030203" pitchFamily="2" charset="-79"/>
                          <a:ea typeface="Calibri"/>
                          <a:cs typeface="Aharoni" panose="02010803020104030203" pitchFamily="2" charset="-79"/>
                        </a:rPr>
                        <a:t>Regresión</a:t>
                      </a:r>
                      <a:r>
                        <a:rPr lang="en-US" sz="1800" dirty="0">
                          <a:solidFill>
                            <a:srgbClr val="1A1A1A"/>
                          </a:solidFill>
                          <a:latin typeface="Aharoni" panose="02010803020104030203" pitchFamily="2" charset="-79"/>
                          <a:ea typeface="Calibri"/>
                          <a:cs typeface="Aharoni" panose="02010803020104030203" pitchFamily="2" charset="-79"/>
                        </a:rPr>
                        <a:t> </a:t>
                      </a:r>
                      <a:r>
                        <a:rPr lang="en-US" sz="1800" dirty="0" err="1">
                          <a:solidFill>
                            <a:srgbClr val="1A1A1A"/>
                          </a:solidFill>
                          <a:latin typeface="Aharoni" panose="02010803020104030203" pitchFamily="2" charset="-79"/>
                          <a:ea typeface="Calibri"/>
                          <a:cs typeface="Aharoni" panose="02010803020104030203" pitchFamily="2" charset="-79"/>
                        </a:rPr>
                        <a:t>Incremento</a:t>
                      </a:r>
                      <a:r>
                        <a:rPr lang="en-US" sz="1800" dirty="0">
                          <a:solidFill>
                            <a:srgbClr val="1A1A1A"/>
                          </a:solidFill>
                          <a:latin typeface="Aharoni" panose="02010803020104030203" pitchFamily="2" charset="-79"/>
                          <a:ea typeface="Calibri"/>
                          <a:cs typeface="Aharoni" panose="02010803020104030203" pitchFamily="2" charset="-79"/>
                        </a:rPr>
                        <a:t> 1</a:t>
                      </a:r>
                      <a:endParaRPr lang="en-US" sz="1800" dirty="0">
                        <a:latin typeface="Aharoni" panose="02010803020104030203" pitchFamily="2" charset="-79"/>
                        <a:ea typeface="Calibri"/>
                        <a:cs typeface="Aharoni" panose="02010803020104030203" pitchFamily="2" charset="-79"/>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tc>
                  <a:txBody>
                    <a:bodyPr/>
                    <a:lstStyle/>
                    <a:p>
                      <a:pPr marL="0" lvl="0" indent="0">
                        <a:buNone/>
                      </a:pPr>
                      <a:r>
                        <a:rPr lang="en-US" sz="2800" dirty="0">
                          <a:solidFill>
                            <a:srgbClr val="1A1A1A"/>
                          </a:solidFill>
                          <a:latin typeface="Aharoni" panose="02010803020104030203" pitchFamily="2" charset="-79"/>
                          <a:ea typeface="Calibri"/>
                          <a:cs typeface="Aharoni" panose="02010803020104030203" pitchFamily="2" charset="-79"/>
                        </a:rPr>
                        <a:t>15</a:t>
                      </a:r>
                      <a:endParaRPr lang="es-ES" sz="4000" dirty="0">
                        <a:latin typeface="Aharoni" panose="02010803020104030203" pitchFamily="2" charset="-79"/>
                        <a:cs typeface="Aharoni" panose="02010803020104030203" pitchFamily="2" charset="-79"/>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tc>
                  <a:txBody>
                    <a:bodyPr/>
                    <a:lstStyle/>
                    <a:p>
                      <a:pPr marL="0" lvl="0" indent="0">
                        <a:buNone/>
                      </a:pPr>
                      <a:r>
                        <a:rPr lang="en-US" sz="2800">
                          <a:solidFill>
                            <a:srgbClr val="1A1A1A"/>
                          </a:solidFill>
                          <a:latin typeface="Aharoni"/>
                          <a:ea typeface="Calibri"/>
                          <a:cs typeface="Aharoni"/>
                        </a:rPr>
                        <a:t>15</a:t>
                      </a:r>
                      <a:endParaRPr lang="es-ES" sz="4000">
                        <a:latin typeface="Aharoni" panose="02010803020104030203" pitchFamily="2" charset="-79"/>
                        <a:cs typeface="Aharoni" panose="02010803020104030203" pitchFamily="2" charset="-79"/>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tc>
                  <a:txBody>
                    <a:bodyPr/>
                    <a:lstStyle/>
                    <a:p>
                      <a:pPr marL="0" lvl="0" indent="0">
                        <a:buNone/>
                      </a:pPr>
                      <a:r>
                        <a:rPr lang="en-US" sz="2800">
                          <a:solidFill>
                            <a:srgbClr val="1A1A1A"/>
                          </a:solidFill>
                          <a:latin typeface="Aharoni"/>
                          <a:ea typeface="Calibri"/>
                          <a:cs typeface="Aharoni"/>
                        </a:rPr>
                        <a:t>0</a:t>
                      </a: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extLst>
                  <a:ext uri="{0D108BD9-81ED-4DB2-BD59-A6C34878D82A}">
                    <a16:rowId xmlns:a16="http://schemas.microsoft.com/office/drawing/2014/main" val="10001"/>
                  </a:ext>
                </a:extLst>
              </a:tr>
              <a:tr h="585216">
                <a:tc>
                  <a:txBody>
                    <a:bodyPr/>
                    <a:lstStyle/>
                    <a:p>
                      <a:pPr marL="0" lvl="0" indent="0">
                        <a:buNone/>
                      </a:pPr>
                      <a:r>
                        <a:rPr lang="en-US" sz="1800">
                          <a:solidFill>
                            <a:srgbClr val="1A1A1A"/>
                          </a:solidFill>
                          <a:latin typeface="Aharoni" panose="02010803020104030203" pitchFamily="2" charset="-79"/>
                          <a:ea typeface="Calibri"/>
                          <a:cs typeface="Aharoni" panose="02010803020104030203" pitchFamily="2" charset="-79"/>
                        </a:rPr>
                        <a:t>Iteración 1</a:t>
                      </a:r>
                      <a:endParaRPr lang="en-US" sz="1800">
                        <a:latin typeface="Aharoni" panose="02010803020104030203" pitchFamily="2" charset="-79"/>
                        <a:ea typeface="Calibri"/>
                        <a:cs typeface="Aharoni" panose="02010803020104030203" pitchFamily="2" charset="-79"/>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tc>
                  <a:txBody>
                    <a:bodyPr/>
                    <a:lstStyle/>
                    <a:p>
                      <a:pPr marL="0" lvl="0" indent="0">
                        <a:buNone/>
                      </a:pPr>
                      <a:r>
                        <a:rPr lang="en-US" sz="2800" dirty="0">
                          <a:solidFill>
                            <a:srgbClr val="1A1A1A"/>
                          </a:solidFill>
                          <a:latin typeface="Aharoni" panose="02010803020104030203" pitchFamily="2" charset="-79"/>
                          <a:ea typeface="Calibri"/>
                          <a:cs typeface="Aharoni" panose="02010803020104030203" pitchFamily="2" charset="-79"/>
                        </a:rPr>
                        <a:t>32</a:t>
                      </a: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tc>
                  <a:txBody>
                    <a:bodyPr/>
                    <a:lstStyle/>
                    <a:p>
                      <a:pPr marL="0" lvl="0" indent="0">
                        <a:buNone/>
                      </a:pPr>
                      <a:r>
                        <a:rPr lang="en-US" sz="2800">
                          <a:solidFill>
                            <a:srgbClr val="1A1A1A"/>
                          </a:solidFill>
                          <a:latin typeface="Aharoni" panose="02010803020104030203" pitchFamily="2" charset="-79"/>
                          <a:ea typeface="Calibri"/>
                          <a:cs typeface="Aharoni" panose="02010803020104030203" pitchFamily="2" charset="-79"/>
                        </a:rPr>
                        <a:t>24</a:t>
                      </a:r>
                      <a:endParaRPr lang="es-ES" sz="4000">
                        <a:latin typeface="Aharoni" panose="02010803020104030203" pitchFamily="2" charset="-79"/>
                        <a:cs typeface="Aharoni" panose="02010803020104030203" pitchFamily="2" charset="-79"/>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tc>
                  <a:txBody>
                    <a:bodyPr/>
                    <a:lstStyle/>
                    <a:p>
                      <a:pPr marL="0" lvl="0" indent="0">
                        <a:buNone/>
                      </a:pPr>
                      <a:r>
                        <a:rPr lang="en-US" sz="2800">
                          <a:solidFill>
                            <a:srgbClr val="1A1A1A"/>
                          </a:solidFill>
                          <a:latin typeface="Aharoni" panose="02010803020104030203" pitchFamily="2" charset="-79"/>
                          <a:ea typeface="Calibri"/>
                          <a:cs typeface="Aharoni" panose="02010803020104030203" pitchFamily="2" charset="-79"/>
                        </a:rPr>
                        <a:t>8</a:t>
                      </a: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extLst>
                  <a:ext uri="{0D108BD9-81ED-4DB2-BD59-A6C34878D82A}">
                    <a16:rowId xmlns:a16="http://schemas.microsoft.com/office/drawing/2014/main" val="10002"/>
                  </a:ext>
                </a:extLst>
              </a:tr>
              <a:tr h="585216">
                <a:tc>
                  <a:txBody>
                    <a:bodyPr/>
                    <a:lstStyle/>
                    <a:p>
                      <a:pPr marL="0" lvl="0" indent="0">
                        <a:buNone/>
                      </a:pPr>
                      <a:r>
                        <a:rPr lang="en-US" sz="1800">
                          <a:solidFill>
                            <a:srgbClr val="1A1A1A"/>
                          </a:solidFill>
                          <a:latin typeface="Aharoni" panose="02010803020104030203" pitchFamily="2" charset="-79"/>
                          <a:ea typeface="Calibri"/>
                          <a:cs typeface="Aharoni" panose="02010803020104030203" pitchFamily="2" charset="-79"/>
                        </a:rPr>
                        <a:t>Iteración 2</a:t>
                      </a:r>
                      <a:endParaRPr lang="en-US" sz="1800">
                        <a:latin typeface="Aharoni" panose="02010803020104030203" pitchFamily="2" charset="-79"/>
                        <a:ea typeface="Calibri"/>
                        <a:cs typeface="Aharoni" panose="02010803020104030203" pitchFamily="2" charset="-79"/>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tc>
                  <a:txBody>
                    <a:bodyPr/>
                    <a:lstStyle/>
                    <a:p>
                      <a:pPr marL="0" lvl="0" indent="0">
                        <a:buNone/>
                      </a:pPr>
                      <a:r>
                        <a:rPr lang="en-US" sz="2800" dirty="0">
                          <a:solidFill>
                            <a:srgbClr val="1A1A1A"/>
                          </a:solidFill>
                          <a:latin typeface="Aharoni" panose="02010803020104030203" pitchFamily="2" charset="-79"/>
                          <a:ea typeface="Calibri"/>
                          <a:cs typeface="Aharoni" panose="02010803020104030203" pitchFamily="2" charset="-79"/>
                        </a:rPr>
                        <a:t>32</a:t>
                      </a:r>
                      <a:endParaRPr lang="es-ES" sz="4000" dirty="0">
                        <a:latin typeface="Aharoni" panose="02010803020104030203" pitchFamily="2" charset="-79"/>
                        <a:cs typeface="Aharoni" panose="02010803020104030203" pitchFamily="2" charset="-79"/>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tc>
                  <a:txBody>
                    <a:bodyPr/>
                    <a:lstStyle/>
                    <a:p>
                      <a:pPr marL="0" lvl="0" indent="0">
                        <a:buNone/>
                      </a:pPr>
                      <a:r>
                        <a:rPr lang="en-US" sz="2800" dirty="0">
                          <a:solidFill>
                            <a:srgbClr val="1A1A1A"/>
                          </a:solidFill>
                          <a:latin typeface="Aharoni" panose="02010803020104030203" pitchFamily="2" charset="-79"/>
                          <a:ea typeface="Calibri"/>
                          <a:cs typeface="Aharoni" panose="02010803020104030203" pitchFamily="2" charset="-79"/>
                        </a:rPr>
                        <a:t>29</a:t>
                      </a:r>
                      <a:endParaRPr lang="es-ES" sz="4000" dirty="0">
                        <a:latin typeface="Aharoni" panose="02010803020104030203" pitchFamily="2" charset="-79"/>
                        <a:cs typeface="Aharoni" panose="02010803020104030203" pitchFamily="2" charset="-79"/>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tc>
                  <a:txBody>
                    <a:bodyPr/>
                    <a:lstStyle/>
                    <a:p>
                      <a:pPr marL="0" lvl="0" indent="0">
                        <a:buNone/>
                      </a:pPr>
                      <a:r>
                        <a:rPr lang="en-US" sz="2800">
                          <a:solidFill>
                            <a:srgbClr val="1A1A1A"/>
                          </a:solidFill>
                          <a:latin typeface="Aharoni" panose="02010803020104030203" pitchFamily="2" charset="-79"/>
                          <a:ea typeface="Calibri"/>
                          <a:cs typeface="Aharoni" panose="02010803020104030203" pitchFamily="2" charset="-79"/>
                        </a:rPr>
                        <a:t>3</a:t>
                      </a:r>
                      <a:endParaRPr lang="es-ES" sz="4000">
                        <a:latin typeface="Aharoni" panose="02010803020104030203" pitchFamily="2" charset="-79"/>
                        <a:cs typeface="Aharoni" panose="02010803020104030203" pitchFamily="2" charset="-79"/>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extLst>
                  <a:ext uri="{0D108BD9-81ED-4DB2-BD59-A6C34878D82A}">
                    <a16:rowId xmlns:a16="http://schemas.microsoft.com/office/drawing/2014/main" val="10003"/>
                  </a:ext>
                </a:extLst>
              </a:tr>
              <a:tr h="585216">
                <a:tc>
                  <a:txBody>
                    <a:bodyPr/>
                    <a:lstStyle/>
                    <a:p>
                      <a:pPr marL="0" lvl="0" indent="0">
                        <a:buNone/>
                      </a:pPr>
                      <a:r>
                        <a:rPr lang="en-US" sz="1800" dirty="0" err="1">
                          <a:solidFill>
                            <a:srgbClr val="1A1A1A"/>
                          </a:solidFill>
                          <a:latin typeface="Aharoni" panose="02010803020104030203" pitchFamily="2" charset="-79"/>
                          <a:ea typeface="Calibri"/>
                          <a:cs typeface="Aharoni" panose="02010803020104030203" pitchFamily="2" charset="-79"/>
                        </a:rPr>
                        <a:t>Iteración</a:t>
                      </a:r>
                      <a:r>
                        <a:rPr lang="en-US" sz="1800" dirty="0">
                          <a:solidFill>
                            <a:srgbClr val="1A1A1A"/>
                          </a:solidFill>
                          <a:latin typeface="Aharoni" panose="02010803020104030203" pitchFamily="2" charset="-79"/>
                          <a:ea typeface="Calibri"/>
                          <a:cs typeface="Aharoni" panose="02010803020104030203" pitchFamily="2" charset="-79"/>
                        </a:rPr>
                        <a:t> 3</a:t>
                      </a:r>
                      <a:endParaRPr lang="en-US" sz="1800" dirty="0">
                        <a:latin typeface="Aharoni" panose="02010803020104030203" pitchFamily="2" charset="-79"/>
                        <a:ea typeface="Calibri"/>
                        <a:cs typeface="Aharoni" panose="02010803020104030203" pitchFamily="2" charset="-79"/>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tc>
                  <a:txBody>
                    <a:bodyPr/>
                    <a:lstStyle/>
                    <a:p>
                      <a:pPr marL="0" lvl="0" indent="0">
                        <a:buNone/>
                      </a:pPr>
                      <a:r>
                        <a:rPr lang="en-US" sz="2800" dirty="0">
                          <a:solidFill>
                            <a:srgbClr val="1A1A1A"/>
                          </a:solidFill>
                          <a:latin typeface="Aharoni" panose="02010803020104030203" pitchFamily="2" charset="-79"/>
                          <a:ea typeface="Calibri"/>
                          <a:cs typeface="Aharoni" panose="02010803020104030203" pitchFamily="2" charset="-79"/>
                        </a:rPr>
                        <a:t>32</a:t>
                      </a:r>
                      <a:endParaRPr lang="es-ES" sz="4000" dirty="0">
                        <a:latin typeface="Aharoni" panose="02010803020104030203" pitchFamily="2" charset="-79"/>
                        <a:cs typeface="Aharoni" panose="02010803020104030203" pitchFamily="2" charset="-79"/>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tc>
                  <a:txBody>
                    <a:bodyPr/>
                    <a:lstStyle/>
                    <a:p>
                      <a:pPr marL="0" lvl="0" indent="0">
                        <a:buNone/>
                      </a:pPr>
                      <a:r>
                        <a:rPr lang="en-US" sz="2800" dirty="0">
                          <a:solidFill>
                            <a:srgbClr val="1A1A1A"/>
                          </a:solidFill>
                          <a:latin typeface="Aharoni" panose="02010803020104030203" pitchFamily="2" charset="-79"/>
                          <a:ea typeface="Calibri"/>
                          <a:cs typeface="Aharoni" panose="02010803020104030203" pitchFamily="2" charset="-79"/>
                        </a:rPr>
                        <a:t>32</a:t>
                      </a:r>
                      <a:endParaRPr lang="es-ES" sz="4000" dirty="0">
                        <a:latin typeface="Aharoni" panose="02010803020104030203" pitchFamily="2" charset="-79"/>
                        <a:cs typeface="Aharoni" panose="02010803020104030203" pitchFamily="2" charset="-79"/>
                      </a:endParaRP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tc>
                  <a:txBody>
                    <a:bodyPr/>
                    <a:lstStyle/>
                    <a:p>
                      <a:pPr marL="0" lvl="0" indent="0">
                        <a:buNone/>
                      </a:pPr>
                      <a:r>
                        <a:rPr lang="en-US" sz="2800" dirty="0">
                          <a:solidFill>
                            <a:srgbClr val="1A1A1A"/>
                          </a:solidFill>
                          <a:latin typeface="Aharoni" panose="02010803020104030203" pitchFamily="2" charset="-79"/>
                          <a:ea typeface="Calibri"/>
                          <a:cs typeface="Aharoni" panose="02010803020104030203" pitchFamily="2" charset="-79"/>
                        </a:rPr>
                        <a:t>0</a:t>
                      </a:r>
                    </a:p>
                  </a:txBody>
                  <a:tcPr>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txBox="1"/>
          <p:nvPr/>
        </p:nvSpPr>
        <p:spPr>
          <a:xfrm>
            <a:off x="548640" y="4754880"/>
            <a:ext cx="11091672" cy="365760"/>
          </a:xfrm>
          <a:prstGeom prst="rect">
            <a:avLst/>
          </a:prstGeom>
          <a:noFill/>
          <a:ln/>
        </p:spPr>
        <p:txBody>
          <a:bodyPr wrap="square" lIns="0" tIns="0" rIns="0" bIns="0" rtlCol="0" anchor="ctr"/>
          <a:lstStyle/>
          <a:p>
            <a:r>
              <a:rPr lang="en-US" sz="1100" err="1">
                <a:solidFill>
                  <a:srgbClr val="6B7280"/>
                </a:solidFill>
                <a:ea typeface="+mn-lt"/>
                <a:cs typeface="+mn-lt"/>
              </a:rPr>
              <a:t>Cobertura</a:t>
            </a:r>
            <a:r>
              <a:rPr lang="en-US" sz="1100">
                <a:solidFill>
                  <a:srgbClr val="6B7280"/>
                </a:solidFill>
                <a:ea typeface="+mn-lt"/>
                <a:cs typeface="+mn-lt"/>
              </a:rPr>
              <a:t> </a:t>
            </a:r>
            <a:r>
              <a:rPr lang="en-US" sz="1100" err="1">
                <a:solidFill>
                  <a:srgbClr val="6B7280"/>
                </a:solidFill>
                <a:ea typeface="+mn-lt"/>
                <a:cs typeface="+mn-lt"/>
              </a:rPr>
              <a:t>respaldada</a:t>
            </a:r>
            <a:r>
              <a:rPr lang="en-US" sz="1100">
                <a:solidFill>
                  <a:srgbClr val="6B7280"/>
                </a:solidFill>
                <a:ea typeface="+mn-lt"/>
                <a:cs typeface="+mn-lt"/>
              </a:rPr>
              <a:t> </a:t>
            </a:r>
            <a:r>
              <a:rPr lang="en-US" sz="1100" err="1">
                <a:solidFill>
                  <a:srgbClr val="6B7280"/>
                </a:solidFill>
                <a:ea typeface="+mn-lt"/>
                <a:cs typeface="+mn-lt"/>
              </a:rPr>
              <a:t>por</a:t>
            </a:r>
            <a:r>
              <a:rPr lang="en-US" sz="1100">
                <a:solidFill>
                  <a:srgbClr val="6B7280"/>
                </a:solidFill>
                <a:ea typeface="+mn-lt"/>
                <a:cs typeface="+mn-lt"/>
              </a:rPr>
              <a:t> 177 </a:t>
            </a:r>
            <a:r>
              <a:rPr lang="en-US" sz="1100" err="1">
                <a:solidFill>
                  <a:srgbClr val="6B7280"/>
                </a:solidFill>
                <a:ea typeface="+mn-lt"/>
                <a:cs typeface="+mn-lt"/>
              </a:rPr>
              <a:t>pruebas</a:t>
            </a:r>
            <a:r>
              <a:rPr lang="en-US" sz="1100">
                <a:solidFill>
                  <a:srgbClr val="6B7280"/>
                </a:solidFill>
                <a:ea typeface="+mn-lt"/>
                <a:cs typeface="+mn-lt"/>
              </a:rPr>
              <a:t> </a:t>
            </a:r>
            <a:r>
              <a:rPr lang="en-US" sz="1100" err="1">
                <a:solidFill>
                  <a:srgbClr val="6B7280"/>
                </a:solidFill>
                <a:ea typeface="+mn-lt"/>
                <a:cs typeface="+mn-lt"/>
              </a:rPr>
              <a:t>unitarias</a:t>
            </a:r>
            <a:r>
              <a:rPr lang="en-US" sz="1100">
                <a:solidFill>
                  <a:srgbClr val="6B7280"/>
                </a:solidFill>
                <a:ea typeface="+mn-lt"/>
                <a:cs typeface="+mn-lt"/>
              </a:rPr>
              <a:t> </a:t>
            </a:r>
            <a:r>
              <a:rPr lang="en-US" sz="1100" err="1">
                <a:solidFill>
                  <a:srgbClr val="6B7280"/>
                </a:solidFill>
                <a:ea typeface="+mn-lt"/>
                <a:cs typeface="+mn-lt"/>
              </a:rPr>
              <a:t>automatizadas</a:t>
            </a:r>
            <a:r>
              <a:rPr lang="en-US" sz="1100">
                <a:solidFill>
                  <a:srgbClr val="6B7280"/>
                </a:solidFill>
                <a:ea typeface="+mn-lt"/>
                <a:cs typeface="+mn-lt"/>
              </a:rPr>
              <a:t> </a:t>
            </a:r>
            <a:r>
              <a:rPr lang="en-US" sz="1100" err="1">
                <a:solidFill>
                  <a:srgbClr val="6B7280"/>
                </a:solidFill>
                <a:ea typeface="+mn-lt"/>
                <a:cs typeface="+mn-lt"/>
              </a:rPr>
              <a:t>sobre</a:t>
            </a:r>
            <a:r>
              <a:rPr lang="en-US" sz="1100">
                <a:solidFill>
                  <a:srgbClr val="6B7280"/>
                </a:solidFill>
                <a:ea typeface="+mn-lt"/>
                <a:cs typeface="+mn-lt"/>
              </a:rPr>
              <a:t> PostgreSQL 16.</a:t>
            </a:r>
            <a:endParaRPr lang="es-ES"/>
          </a:p>
        </p:txBody>
      </p:sp>
      <p:sp>
        <p:nvSpPr>
          <p:cNvPr id="6" name="Text 3"/>
          <p:cNvSpPr txBox="1"/>
          <p:nvPr/>
        </p:nvSpPr>
        <p:spPr>
          <a:xfrm>
            <a:off x="548640" y="6446520"/>
            <a:ext cx="10543032" cy="27432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Sistema de Gestión de Adquisiciones e Inventario  |  Constructora M5 SpA</a:t>
            </a:r>
            <a:endParaRPr lang="en-US" sz="900"/>
          </a:p>
        </p:txBody>
      </p:sp>
      <p:sp>
        <p:nvSpPr>
          <p:cNvPr id="7" name="Text 4"/>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900">
                <a:solidFill>
                  <a:srgbClr val="6B7280"/>
                </a:solidFill>
                <a:latin typeface="Calibri" pitchFamily="34" charset="0"/>
                <a:ea typeface="Calibri" pitchFamily="34" charset="-122"/>
                <a:cs typeface="Calibri" pitchFamily="34" charset="-120"/>
              </a:rPr>
              <a:t>17</a:t>
            </a:r>
            <a:endParaRPr lang="en-US" sz="900"/>
          </a:p>
        </p:txBody>
      </p:sp>
      <p:pic>
        <p:nvPicPr>
          <p:cNvPr id="8" name="Picture 7">
            <a:extLst>
              <a:ext uri="{FF2B5EF4-FFF2-40B4-BE49-F238E27FC236}">
                <a16:creationId xmlns:a16="http://schemas.microsoft.com/office/drawing/2014/main" id="{F90BFC15-55C7-5316-6894-DD3885BAA030}"/>
              </a:ext>
            </a:extLst>
          </p:cNvPr>
          <p:cNvPicPr>
            <a:picLocks noChangeAspect="1"/>
          </p:cNvPicPr>
          <p:nvPr/>
        </p:nvPicPr>
        <p:blipFill>
          <a:blip r:embed="rId3"/>
          <a:stretch>
            <a:fillRect/>
          </a:stretch>
        </p:blipFill>
        <p:spPr>
          <a:xfrm>
            <a:off x="10247110" y="518323"/>
            <a:ext cx="1484642" cy="92016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320040"/>
          </a:xfrm>
          <a:prstGeom prst="rect">
            <a:avLst/>
          </a:prstGeom>
          <a:noFill/>
          <a:ln/>
        </p:spPr>
        <p:txBody>
          <a:bodyPr wrap="square" lIns="0" tIns="0" rIns="0" bIns="0" rtlCol="0" anchor="ctr"/>
          <a:lstStyle/>
          <a:p>
            <a:pPr marL="0" indent="0">
              <a:buNone/>
            </a:pPr>
            <a:r>
              <a:rPr lang="en-US" sz="1200" b="1" kern="0" spc="200">
                <a:solidFill>
                  <a:srgbClr val="FF4200"/>
                </a:solidFill>
                <a:latin typeface="Aharoni" panose="02010803020104030203" pitchFamily="2" charset="-79"/>
                <a:ea typeface="Calibri" pitchFamily="34" charset="-122"/>
                <a:cs typeface="Aharoni" panose="02010803020104030203" pitchFamily="2" charset="-79"/>
              </a:rPr>
              <a:t>RETROSPECTIVA</a:t>
            </a:r>
            <a:endParaRPr lang="en-US" sz="1200">
              <a:latin typeface="Aharoni" panose="02010803020104030203" pitchFamily="2" charset="-79"/>
              <a:cs typeface="Aharoni" panose="02010803020104030203" pitchFamily="2" charset="-79"/>
            </a:endParaRPr>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marL="0" indent="0">
              <a:buNone/>
            </a:pPr>
            <a:r>
              <a:rPr lang="en-US" sz="2800" b="1">
                <a:solidFill>
                  <a:srgbClr val="262626"/>
                </a:solidFill>
                <a:latin typeface="Aharoni" panose="02010803020104030203" pitchFamily="2" charset="-79"/>
                <a:ea typeface="Calibri" pitchFamily="34" charset="-122"/>
                <a:cs typeface="Aharoni" panose="02010803020104030203" pitchFamily="2" charset="-79"/>
              </a:rPr>
              <a:t>Métricas del incremento</a:t>
            </a:r>
            <a:endParaRPr lang="en-US" sz="2800">
              <a:latin typeface="Aharoni" panose="02010803020104030203" pitchFamily="2" charset="-79"/>
              <a:cs typeface="Aharoni" panose="02010803020104030203" pitchFamily="2" charset="-79"/>
            </a:endParaRPr>
          </a:p>
        </p:txBody>
      </p:sp>
      <p:sp>
        <p:nvSpPr>
          <p:cNvPr id="4" name="Shape 2"/>
          <p:cNvSpPr/>
          <p:nvPr/>
        </p:nvSpPr>
        <p:spPr>
          <a:xfrm>
            <a:off x="548640" y="1554480"/>
            <a:ext cx="5394960" cy="1920240"/>
          </a:xfrm>
          <a:prstGeom prst="rect">
            <a:avLst/>
          </a:prstGeom>
          <a:solidFill>
            <a:srgbClr val="F5F5F5"/>
          </a:solidFill>
          <a:ln w="19050">
            <a:solidFill>
              <a:srgbClr val="FF4200"/>
            </a:solidFill>
            <a:prstDash val="dash"/>
          </a:ln>
        </p:spPr>
        <p:txBody>
          <a:bodyPr/>
          <a:lstStyle/>
          <a:p>
            <a:endParaRPr lang="es-CL"/>
          </a:p>
        </p:txBody>
      </p:sp>
      <p:sp>
        <p:nvSpPr>
          <p:cNvPr id="5" name="Text 3"/>
          <p:cNvSpPr txBox="1"/>
          <p:nvPr/>
        </p:nvSpPr>
        <p:spPr>
          <a:xfrm>
            <a:off x="548640" y="2103120"/>
            <a:ext cx="5394960" cy="365760"/>
          </a:xfrm>
          <a:prstGeom prst="rect">
            <a:avLst/>
          </a:prstGeom>
          <a:noFill/>
          <a:ln/>
        </p:spPr>
        <p:txBody>
          <a:bodyPr wrap="square" lIns="0" tIns="0" rIns="0" bIns="0" rtlCol="0" anchor="ctr"/>
          <a:lstStyle/>
          <a:p>
            <a:pPr marL="0" indent="0" algn="ctr">
              <a:buNone/>
            </a:pPr>
            <a:r>
              <a:rPr lang="en-US" sz="1500" b="1">
                <a:solidFill>
                  <a:srgbClr val="FF4200"/>
                </a:solidFill>
                <a:latin typeface="Calibri" pitchFamily="34" charset="0"/>
                <a:ea typeface="Calibri" pitchFamily="34" charset="-122"/>
                <a:cs typeface="Calibri" pitchFamily="34" charset="-120"/>
              </a:rPr>
              <a:t>[ Burn-Down</a:t>
            </a:r>
            <a:endParaRPr lang="en-US" sz="1500"/>
          </a:p>
          <a:p>
            <a:pPr marL="0" indent="0" algn="ctr">
              <a:buNone/>
            </a:pPr>
            <a:r>
              <a:rPr lang="en-US" sz="1500" b="1">
                <a:solidFill>
                  <a:srgbClr val="FF4200"/>
                </a:solidFill>
                <a:latin typeface="Calibri" pitchFamily="34" charset="0"/>
                <a:ea typeface="Calibri" pitchFamily="34" charset="-122"/>
                <a:cs typeface="Calibri" pitchFamily="34" charset="-120"/>
              </a:rPr>
              <a:t>Incremento 2 ]</a:t>
            </a:r>
            <a:endParaRPr lang="en-US" sz="1500"/>
          </a:p>
        </p:txBody>
      </p:sp>
      <p:sp>
        <p:nvSpPr>
          <p:cNvPr id="6" name="Text 4"/>
          <p:cNvSpPr txBox="1"/>
          <p:nvPr/>
        </p:nvSpPr>
        <p:spPr>
          <a:xfrm>
            <a:off x="548640" y="2532888"/>
            <a:ext cx="5394960" cy="365760"/>
          </a:xfrm>
          <a:prstGeom prst="rect">
            <a:avLst/>
          </a:prstGeom>
          <a:noFill/>
          <a:ln/>
        </p:spPr>
        <p:txBody>
          <a:bodyPr wrap="square" lIns="0" tIns="0" rIns="0" bIns="0" rtlCol="0" anchor="ctr"/>
          <a:lstStyle/>
          <a:p>
            <a:pPr marL="0" indent="0" algn="ctr">
              <a:buNone/>
            </a:pPr>
            <a:r>
              <a:rPr lang="en-US" sz="1100">
                <a:solidFill>
                  <a:srgbClr val="6B7280"/>
                </a:solidFill>
                <a:latin typeface="Calibri" pitchFamily="34" charset="0"/>
                <a:ea typeface="Calibri" pitchFamily="34" charset="-122"/>
                <a:cs typeface="Calibri" pitchFamily="34" charset="-120"/>
              </a:rPr>
              <a:t>solo este sprint</a:t>
            </a:r>
            <a:endParaRPr lang="en-US" sz="1100"/>
          </a:p>
        </p:txBody>
      </p:sp>
      <p:sp>
        <p:nvSpPr>
          <p:cNvPr id="7" name="Shape 5"/>
          <p:cNvSpPr/>
          <p:nvPr/>
        </p:nvSpPr>
        <p:spPr>
          <a:xfrm>
            <a:off x="6172200" y="1554480"/>
            <a:ext cx="5394960" cy="1920240"/>
          </a:xfrm>
          <a:prstGeom prst="rect">
            <a:avLst/>
          </a:prstGeom>
          <a:solidFill>
            <a:srgbClr val="F5F5F5"/>
          </a:solidFill>
          <a:ln w="19050">
            <a:solidFill>
              <a:srgbClr val="FF4200"/>
            </a:solidFill>
            <a:prstDash val="dash"/>
          </a:ln>
        </p:spPr>
        <p:txBody>
          <a:bodyPr/>
          <a:lstStyle/>
          <a:p>
            <a:endParaRPr lang="es-CL"/>
          </a:p>
        </p:txBody>
      </p:sp>
      <p:sp>
        <p:nvSpPr>
          <p:cNvPr id="8" name="Text 6"/>
          <p:cNvSpPr txBox="1"/>
          <p:nvPr/>
        </p:nvSpPr>
        <p:spPr>
          <a:xfrm>
            <a:off x="6172200" y="2103120"/>
            <a:ext cx="5394960" cy="365760"/>
          </a:xfrm>
          <a:prstGeom prst="rect">
            <a:avLst/>
          </a:prstGeom>
          <a:noFill/>
          <a:ln/>
        </p:spPr>
        <p:txBody>
          <a:bodyPr wrap="square" lIns="0" tIns="0" rIns="0" bIns="0" rtlCol="0" anchor="ctr"/>
          <a:lstStyle/>
          <a:p>
            <a:pPr marL="0" indent="0" algn="ctr">
              <a:buNone/>
            </a:pPr>
            <a:r>
              <a:rPr lang="en-US" sz="1500" b="1">
                <a:solidFill>
                  <a:srgbClr val="FF4200"/>
                </a:solidFill>
                <a:latin typeface="Calibri" pitchFamily="34" charset="0"/>
                <a:ea typeface="Calibri" pitchFamily="34" charset="-122"/>
                <a:cs typeface="Calibri" pitchFamily="34" charset="-120"/>
              </a:rPr>
              <a:t>[ Burn-Up</a:t>
            </a:r>
            <a:endParaRPr lang="en-US" sz="1500"/>
          </a:p>
          <a:p>
            <a:pPr marL="0" indent="0" algn="ctr">
              <a:buNone/>
            </a:pPr>
            <a:r>
              <a:rPr lang="en-US" sz="1500" b="1">
                <a:solidFill>
                  <a:srgbClr val="FF4200"/>
                </a:solidFill>
                <a:latin typeface="Calibri" pitchFamily="34" charset="0"/>
                <a:ea typeface="Calibri" pitchFamily="34" charset="-122"/>
                <a:cs typeface="Calibri" pitchFamily="34" charset="-120"/>
              </a:rPr>
              <a:t>Incremento 2 ]</a:t>
            </a:r>
            <a:endParaRPr lang="en-US" sz="1500"/>
          </a:p>
        </p:txBody>
      </p:sp>
      <p:sp>
        <p:nvSpPr>
          <p:cNvPr id="9" name="Text 7"/>
          <p:cNvSpPr txBox="1"/>
          <p:nvPr/>
        </p:nvSpPr>
        <p:spPr>
          <a:xfrm>
            <a:off x="6172200" y="2532888"/>
            <a:ext cx="5394960" cy="365760"/>
          </a:xfrm>
          <a:prstGeom prst="rect">
            <a:avLst/>
          </a:prstGeom>
          <a:noFill/>
          <a:ln/>
        </p:spPr>
        <p:txBody>
          <a:bodyPr wrap="square" lIns="0" tIns="0" rIns="0" bIns="0" rtlCol="0" anchor="ctr"/>
          <a:lstStyle/>
          <a:p>
            <a:pPr marL="0" indent="0" algn="ctr">
              <a:buNone/>
            </a:pPr>
            <a:r>
              <a:rPr lang="en-US" sz="1100">
                <a:solidFill>
                  <a:srgbClr val="6B7280"/>
                </a:solidFill>
                <a:latin typeface="Calibri" pitchFamily="34" charset="0"/>
                <a:ea typeface="Calibri" pitchFamily="34" charset="-122"/>
                <a:cs typeface="Calibri" pitchFamily="34" charset="-120"/>
              </a:rPr>
              <a:t>solo este sprint</a:t>
            </a:r>
            <a:endParaRPr lang="en-US" sz="1100"/>
          </a:p>
        </p:txBody>
      </p:sp>
      <p:sp>
        <p:nvSpPr>
          <p:cNvPr id="10" name="Shape 8"/>
          <p:cNvSpPr/>
          <p:nvPr/>
        </p:nvSpPr>
        <p:spPr>
          <a:xfrm>
            <a:off x="548640" y="3703320"/>
            <a:ext cx="5394960" cy="1920240"/>
          </a:xfrm>
          <a:prstGeom prst="rect">
            <a:avLst/>
          </a:prstGeom>
          <a:solidFill>
            <a:srgbClr val="F5F5F5"/>
          </a:solidFill>
          <a:ln w="19050">
            <a:solidFill>
              <a:srgbClr val="FF4200"/>
            </a:solidFill>
            <a:prstDash val="dash"/>
          </a:ln>
        </p:spPr>
        <p:txBody>
          <a:bodyPr/>
          <a:lstStyle/>
          <a:p>
            <a:endParaRPr lang="es-CL"/>
          </a:p>
        </p:txBody>
      </p:sp>
      <p:sp>
        <p:nvSpPr>
          <p:cNvPr id="11" name="Text 9"/>
          <p:cNvSpPr txBox="1"/>
          <p:nvPr/>
        </p:nvSpPr>
        <p:spPr>
          <a:xfrm>
            <a:off x="548640" y="4251960"/>
            <a:ext cx="5394960" cy="365760"/>
          </a:xfrm>
          <a:prstGeom prst="rect">
            <a:avLst/>
          </a:prstGeom>
          <a:noFill/>
          <a:ln/>
        </p:spPr>
        <p:txBody>
          <a:bodyPr wrap="square" lIns="0" tIns="0" rIns="0" bIns="0" rtlCol="0" anchor="ctr"/>
          <a:lstStyle/>
          <a:p>
            <a:pPr marL="0" indent="0" algn="ctr">
              <a:buNone/>
            </a:pPr>
            <a:r>
              <a:rPr lang="en-US" sz="1500" b="1">
                <a:solidFill>
                  <a:srgbClr val="FF4200"/>
                </a:solidFill>
                <a:latin typeface="Calibri" pitchFamily="34" charset="0"/>
                <a:ea typeface="Calibri" pitchFamily="34" charset="-122"/>
                <a:cs typeface="Calibri" pitchFamily="34" charset="-120"/>
              </a:rPr>
              <a:t>[ Burn-Down</a:t>
            </a:r>
            <a:endParaRPr lang="en-US" sz="1500"/>
          </a:p>
          <a:p>
            <a:pPr marL="0" indent="0" algn="ctr">
              <a:buNone/>
            </a:pPr>
            <a:r>
              <a:rPr lang="en-US" sz="1500" b="1">
                <a:solidFill>
                  <a:srgbClr val="FF4200"/>
                </a:solidFill>
                <a:latin typeface="Calibri" pitchFamily="34" charset="0"/>
                <a:ea typeface="Calibri" pitchFamily="34" charset="-122"/>
                <a:cs typeface="Calibri" pitchFamily="34" charset="-120"/>
              </a:rPr>
              <a:t>Acumulado ]</a:t>
            </a:r>
            <a:endParaRPr lang="en-US" sz="1500"/>
          </a:p>
        </p:txBody>
      </p:sp>
      <p:sp>
        <p:nvSpPr>
          <p:cNvPr id="12" name="Text 10"/>
          <p:cNvSpPr txBox="1"/>
          <p:nvPr/>
        </p:nvSpPr>
        <p:spPr>
          <a:xfrm>
            <a:off x="548640" y="4681728"/>
            <a:ext cx="5394960" cy="365760"/>
          </a:xfrm>
          <a:prstGeom prst="rect">
            <a:avLst/>
          </a:prstGeom>
          <a:noFill/>
          <a:ln/>
        </p:spPr>
        <p:txBody>
          <a:bodyPr wrap="square" lIns="0" tIns="0" rIns="0" bIns="0" rtlCol="0" anchor="ctr"/>
          <a:lstStyle/>
          <a:p>
            <a:pPr marL="0" indent="0" algn="ctr">
              <a:buNone/>
            </a:pPr>
            <a:r>
              <a:rPr lang="en-US" sz="1100">
                <a:solidFill>
                  <a:srgbClr val="6B7280"/>
                </a:solidFill>
                <a:latin typeface="Calibri" pitchFamily="34" charset="0"/>
                <a:ea typeface="Calibri" pitchFamily="34" charset="-122"/>
                <a:cs typeface="Calibri" pitchFamily="34" charset="-120"/>
              </a:rPr>
              <a:t>Incremento 1 + 2</a:t>
            </a:r>
            <a:endParaRPr lang="en-US" sz="1100"/>
          </a:p>
        </p:txBody>
      </p:sp>
      <p:sp>
        <p:nvSpPr>
          <p:cNvPr id="13" name="Shape 11"/>
          <p:cNvSpPr/>
          <p:nvPr/>
        </p:nvSpPr>
        <p:spPr>
          <a:xfrm>
            <a:off x="6172200" y="3703320"/>
            <a:ext cx="5394960" cy="1920240"/>
          </a:xfrm>
          <a:prstGeom prst="rect">
            <a:avLst/>
          </a:prstGeom>
          <a:solidFill>
            <a:srgbClr val="F5F5F5"/>
          </a:solidFill>
          <a:ln w="19050">
            <a:solidFill>
              <a:srgbClr val="FF4200"/>
            </a:solidFill>
            <a:prstDash val="dash"/>
          </a:ln>
        </p:spPr>
        <p:txBody>
          <a:bodyPr/>
          <a:lstStyle/>
          <a:p>
            <a:endParaRPr lang="es-CL"/>
          </a:p>
        </p:txBody>
      </p:sp>
      <p:sp>
        <p:nvSpPr>
          <p:cNvPr id="14" name="Text 12"/>
          <p:cNvSpPr txBox="1"/>
          <p:nvPr/>
        </p:nvSpPr>
        <p:spPr>
          <a:xfrm>
            <a:off x="6172200" y="4251960"/>
            <a:ext cx="5394960" cy="365760"/>
          </a:xfrm>
          <a:prstGeom prst="rect">
            <a:avLst/>
          </a:prstGeom>
          <a:noFill/>
          <a:ln/>
        </p:spPr>
        <p:txBody>
          <a:bodyPr wrap="square" lIns="0" tIns="0" rIns="0" bIns="0" rtlCol="0" anchor="ctr"/>
          <a:lstStyle/>
          <a:p>
            <a:pPr marL="0" indent="0" algn="ctr">
              <a:buNone/>
            </a:pPr>
            <a:r>
              <a:rPr lang="en-US" sz="1500" b="1">
                <a:solidFill>
                  <a:srgbClr val="FF4200"/>
                </a:solidFill>
                <a:latin typeface="Calibri" pitchFamily="34" charset="0"/>
                <a:ea typeface="Calibri" pitchFamily="34" charset="-122"/>
                <a:cs typeface="Calibri" pitchFamily="34" charset="-120"/>
              </a:rPr>
              <a:t>[ Burn-Up</a:t>
            </a:r>
            <a:endParaRPr lang="en-US" sz="1500"/>
          </a:p>
          <a:p>
            <a:pPr marL="0" indent="0" algn="ctr">
              <a:buNone/>
            </a:pPr>
            <a:r>
              <a:rPr lang="en-US" sz="1500" b="1">
                <a:solidFill>
                  <a:srgbClr val="FF4200"/>
                </a:solidFill>
                <a:latin typeface="Calibri" pitchFamily="34" charset="0"/>
                <a:ea typeface="Calibri" pitchFamily="34" charset="-122"/>
                <a:cs typeface="Calibri" pitchFamily="34" charset="-120"/>
              </a:rPr>
              <a:t>Acumulado ]</a:t>
            </a:r>
            <a:endParaRPr lang="en-US" sz="1500"/>
          </a:p>
        </p:txBody>
      </p:sp>
      <p:sp>
        <p:nvSpPr>
          <p:cNvPr id="15" name="Text 13"/>
          <p:cNvSpPr txBox="1"/>
          <p:nvPr/>
        </p:nvSpPr>
        <p:spPr>
          <a:xfrm>
            <a:off x="6172200" y="4681728"/>
            <a:ext cx="5394960" cy="365760"/>
          </a:xfrm>
          <a:prstGeom prst="rect">
            <a:avLst/>
          </a:prstGeom>
          <a:noFill/>
          <a:ln/>
        </p:spPr>
        <p:txBody>
          <a:bodyPr wrap="square" lIns="0" tIns="0" rIns="0" bIns="0" rtlCol="0" anchor="ctr"/>
          <a:lstStyle/>
          <a:p>
            <a:pPr marL="0" indent="0" algn="ctr">
              <a:buNone/>
            </a:pPr>
            <a:r>
              <a:rPr lang="en-US" sz="1100">
                <a:solidFill>
                  <a:srgbClr val="6B7280"/>
                </a:solidFill>
                <a:latin typeface="Calibri" pitchFamily="34" charset="0"/>
                <a:ea typeface="Calibri" pitchFamily="34" charset="-122"/>
                <a:cs typeface="Calibri" pitchFamily="34" charset="-120"/>
              </a:rPr>
              <a:t>Incremento 1 + 2</a:t>
            </a:r>
            <a:endParaRPr lang="en-US" sz="1100"/>
          </a:p>
        </p:txBody>
      </p:sp>
      <p:sp>
        <p:nvSpPr>
          <p:cNvPr id="16" name="Text 14"/>
          <p:cNvSpPr txBox="1"/>
          <p:nvPr/>
        </p:nvSpPr>
        <p:spPr>
          <a:xfrm>
            <a:off x="548640" y="6446520"/>
            <a:ext cx="10543032" cy="27432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Sistema de Gestión de Adquisiciones e Inventario  |  Constructora M5 SpA</a:t>
            </a:r>
            <a:endParaRPr lang="en-US" sz="900"/>
          </a:p>
        </p:txBody>
      </p:sp>
      <p:sp>
        <p:nvSpPr>
          <p:cNvPr id="17" name="Text 15"/>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900">
                <a:solidFill>
                  <a:srgbClr val="6B7280"/>
                </a:solidFill>
                <a:latin typeface="Calibri" pitchFamily="34" charset="0"/>
                <a:ea typeface="Calibri" pitchFamily="34" charset="-122"/>
                <a:cs typeface="Calibri" pitchFamily="34" charset="-120"/>
              </a:rPr>
              <a:t>18</a:t>
            </a:r>
            <a:endParaRPr lang="en-US" sz="900"/>
          </a:p>
        </p:txBody>
      </p:sp>
      <p:pic>
        <p:nvPicPr>
          <p:cNvPr id="19" name="Picture 18">
            <a:extLst>
              <a:ext uri="{FF2B5EF4-FFF2-40B4-BE49-F238E27FC236}">
                <a16:creationId xmlns:a16="http://schemas.microsoft.com/office/drawing/2014/main" id="{4A1A4248-CA68-D917-820F-E41A0FDCFA6E}"/>
              </a:ext>
            </a:extLst>
          </p:cNvPr>
          <p:cNvPicPr>
            <a:picLocks noChangeAspect="1"/>
          </p:cNvPicPr>
          <p:nvPr/>
        </p:nvPicPr>
        <p:blipFill>
          <a:blip r:embed="rId3"/>
          <a:stretch>
            <a:fillRect/>
          </a:stretch>
        </p:blipFill>
        <p:spPr>
          <a:xfrm>
            <a:off x="10247110" y="518323"/>
            <a:ext cx="1484642" cy="920169"/>
          </a:xfrm>
          <a:prstGeom prst="rect">
            <a:avLst/>
          </a:prstGeom>
        </p:spPr>
      </p:pic>
      <p:pic>
        <p:nvPicPr>
          <p:cNvPr id="18" name="Picture 17">
            <a:extLst>
              <a:ext uri="{FF2B5EF4-FFF2-40B4-BE49-F238E27FC236}">
                <a16:creationId xmlns:a16="http://schemas.microsoft.com/office/drawing/2014/main" id="{745CD0C1-919D-5938-5499-1CF646808E03}"/>
              </a:ext>
            </a:extLst>
          </p:cNvPr>
          <p:cNvPicPr>
            <a:picLocks noChangeAspect="1"/>
          </p:cNvPicPr>
          <p:nvPr/>
        </p:nvPicPr>
        <p:blipFill>
          <a:blip r:embed="rId4"/>
          <a:stretch>
            <a:fillRect/>
          </a:stretch>
        </p:blipFill>
        <p:spPr>
          <a:xfrm>
            <a:off x="548639" y="1590582"/>
            <a:ext cx="5394959" cy="1838418"/>
          </a:xfrm>
          <a:prstGeom prst="rect">
            <a:avLst/>
          </a:prstGeom>
        </p:spPr>
      </p:pic>
      <p:pic>
        <p:nvPicPr>
          <p:cNvPr id="20" name="Picture 19">
            <a:extLst>
              <a:ext uri="{FF2B5EF4-FFF2-40B4-BE49-F238E27FC236}">
                <a16:creationId xmlns:a16="http://schemas.microsoft.com/office/drawing/2014/main" id="{E9DA20ED-C745-6A8B-D1FD-CB2A6D164533}"/>
              </a:ext>
            </a:extLst>
          </p:cNvPr>
          <p:cNvPicPr>
            <a:picLocks noChangeAspect="1"/>
          </p:cNvPicPr>
          <p:nvPr/>
        </p:nvPicPr>
        <p:blipFill>
          <a:blip r:embed="rId5"/>
          <a:stretch>
            <a:fillRect/>
          </a:stretch>
        </p:blipFill>
        <p:spPr>
          <a:xfrm>
            <a:off x="548638" y="3721134"/>
            <a:ext cx="5394959" cy="1902426"/>
          </a:xfrm>
          <a:prstGeom prst="rect">
            <a:avLst/>
          </a:prstGeom>
        </p:spPr>
      </p:pic>
      <p:pic>
        <p:nvPicPr>
          <p:cNvPr id="21" name="Picture 20">
            <a:extLst>
              <a:ext uri="{FF2B5EF4-FFF2-40B4-BE49-F238E27FC236}">
                <a16:creationId xmlns:a16="http://schemas.microsoft.com/office/drawing/2014/main" id="{80400D66-E117-B5DA-4F76-9517A80E3C72}"/>
              </a:ext>
            </a:extLst>
          </p:cNvPr>
          <p:cNvPicPr>
            <a:picLocks noChangeAspect="1"/>
          </p:cNvPicPr>
          <p:nvPr/>
        </p:nvPicPr>
        <p:blipFill>
          <a:blip r:embed="rId6"/>
          <a:stretch>
            <a:fillRect/>
          </a:stretch>
        </p:blipFill>
        <p:spPr>
          <a:xfrm>
            <a:off x="6172197" y="1561543"/>
            <a:ext cx="5394960" cy="1913177"/>
          </a:xfrm>
          <a:prstGeom prst="rect">
            <a:avLst/>
          </a:prstGeom>
        </p:spPr>
      </p:pic>
      <p:pic>
        <p:nvPicPr>
          <p:cNvPr id="22" name="Picture 21">
            <a:extLst>
              <a:ext uri="{FF2B5EF4-FFF2-40B4-BE49-F238E27FC236}">
                <a16:creationId xmlns:a16="http://schemas.microsoft.com/office/drawing/2014/main" id="{8C157109-98A5-45BC-6445-AADBB4F698A2}"/>
              </a:ext>
            </a:extLst>
          </p:cNvPr>
          <p:cNvPicPr>
            <a:picLocks noChangeAspect="1"/>
          </p:cNvPicPr>
          <p:nvPr/>
        </p:nvPicPr>
        <p:blipFill>
          <a:blip r:embed="rId7"/>
          <a:stretch>
            <a:fillRect/>
          </a:stretch>
        </p:blipFill>
        <p:spPr>
          <a:xfrm>
            <a:off x="6230679" y="3737815"/>
            <a:ext cx="5280837" cy="187868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320040"/>
          </a:xfrm>
          <a:prstGeom prst="rect">
            <a:avLst/>
          </a:prstGeom>
          <a:noFill/>
          <a:ln/>
        </p:spPr>
        <p:txBody>
          <a:bodyPr wrap="square" lIns="0" tIns="0" rIns="0" bIns="0" rtlCol="0" anchor="ctr"/>
          <a:lstStyle/>
          <a:p>
            <a:pPr marL="0" indent="0">
              <a:buNone/>
            </a:pPr>
            <a:r>
              <a:rPr lang="en-US" sz="1200" b="1" kern="0" spc="200">
                <a:solidFill>
                  <a:srgbClr val="FF4200"/>
                </a:solidFill>
                <a:latin typeface="Aharoni" panose="02010803020104030203" pitchFamily="2" charset="-79"/>
                <a:ea typeface="Calibri" pitchFamily="34" charset="-122"/>
                <a:cs typeface="Aharoni" panose="02010803020104030203" pitchFamily="2" charset="-79"/>
              </a:rPr>
              <a:t>CIERRE</a:t>
            </a:r>
            <a:endParaRPr lang="en-US" sz="1200">
              <a:latin typeface="Aharoni" panose="02010803020104030203" pitchFamily="2" charset="-79"/>
              <a:cs typeface="Aharoni" panose="02010803020104030203" pitchFamily="2" charset="-79"/>
            </a:endParaRPr>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marL="0" indent="0">
              <a:buNone/>
            </a:pPr>
            <a:r>
              <a:rPr lang="en-US" sz="2800" b="1">
                <a:solidFill>
                  <a:srgbClr val="262626"/>
                </a:solidFill>
                <a:latin typeface="Aharoni" panose="02010803020104030203" pitchFamily="2" charset="-79"/>
                <a:ea typeface="Calibri" pitchFamily="34" charset="-122"/>
                <a:cs typeface="Aharoni" panose="02010803020104030203" pitchFamily="2" charset="-79"/>
              </a:rPr>
              <a:t>Conclusiones y próximos pasos</a:t>
            </a:r>
            <a:endParaRPr lang="en-US" sz="2800">
              <a:latin typeface="Aharoni" panose="02010803020104030203" pitchFamily="2" charset="-79"/>
              <a:cs typeface="Aharoni" panose="02010803020104030203" pitchFamily="2" charset="-79"/>
            </a:endParaRPr>
          </a:p>
        </p:txBody>
      </p:sp>
      <p:sp>
        <p:nvSpPr>
          <p:cNvPr id="9" name="Shape 4">
            <a:extLst>
              <a:ext uri="{FF2B5EF4-FFF2-40B4-BE49-F238E27FC236}">
                <a16:creationId xmlns:a16="http://schemas.microsoft.com/office/drawing/2014/main" id="{29D1BFA3-AB95-7E7C-5ECC-A96556C807B5}"/>
              </a:ext>
            </a:extLst>
          </p:cNvPr>
          <p:cNvSpPr/>
          <p:nvPr/>
        </p:nvSpPr>
        <p:spPr>
          <a:xfrm>
            <a:off x="548640" y="1795294"/>
            <a:ext cx="11183112" cy="3566160"/>
          </a:xfrm>
          <a:prstGeom prst="rect">
            <a:avLst/>
          </a:prstGeom>
          <a:solidFill>
            <a:srgbClr val="F5F5F5"/>
          </a:solidFill>
          <a:ln/>
        </p:spPr>
        <p:txBody>
          <a:bodyPr/>
          <a:lstStyle/>
          <a:p>
            <a:endParaRPr lang="es-CL"/>
          </a:p>
        </p:txBody>
      </p:sp>
      <p:sp>
        <p:nvSpPr>
          <p:cNvPr id="4" name="Text 2"/>
          <p:cNvSpPr txBox="1"/>
          <p:nvPr/>
        </p:nvSpPr>
        <p:spPr>
          <a:xfrm>
            <a:off x="640080" y="1795294"/>
            <a:ext cx="11091672" cy="3566160"/>
          </a:xfrm>
          <a:prstGeom prst="rect">
            <a:avLst/>
          </a:prstGeom>
          <a:noFill/>
          <a:ln/>
        </p:spPr>
        <p:txBody>
          <a:bodyPr wrap="square" lIns="0" tIns="0" rIns="0" bIns="0" rtlCol="0" anchor="ctr"/>
          <a:lstStyle/>
          <a:p>
            <a:pPr marL="342900" indent="-342900">
              <a:lnSpc>
                <a:spcPct val="150000"/>
              </a:lnSpc>
              <a:spcAft>
                <a:spcPts val="1000"/>
              </a:spcAft>
              <a:buSzPct val="100000"/>
              <a:buChar char="•"/>
            </a:pPr>
            <a:r>
              <a:rPr lang="en-US" sz="2000" dirty="0" err="1">
                <a:solidFill>
                  <a:srgbClr val="00CAF8"/>
                </a:solidFill>
                <a:latin typeface="Aharoni" panose="02010803020104030203" pitchFamily="2" charset="-79"/>
                <a:cs typeface="Aharoni" panose="02010803020104030203" pitchFamily="2" charset="-79"/>
              </a:rPr>
              <a:t>Incremento</a:t>
            </a:r>
            <a:r>
              <a:rPr lang="en-US" sz="2000" dirty="0">
                <a:solidFill>
                  <a:srgbClr val="00CAF8"/>
                </a:solidFill>
                <a:latin typeface="Aharoni" panose="02010803020104030203" pitchFamily="2" charset="-79"/>
                <a:cs typeface="Aharoni" panose="02010803020104030203" pitchFamily="2" charset="-79"/>
              </a:rPr>
              <a:t> 2 </a:t>
            </a:r>
            <a:r>
              <a:rPr lang="en-US" sz="2000" dirty="0" err="1">
                <a:solidFill>
                  <a:srgbClr val="00CAF8"/>
                </a:solidFill>
                <a:latin typeface="Aharoni" panose="02010803020104030203" pitchFamily="2" charset="-79"/>
                <a:cs typeface="Aharoni" panose="02010803020104030203" pitchFamily="2" charset="-79"/>
              </a:rPr>
              <a:t>completado</a:t>
            </a:r>
            <a:r>
              <a:rPr lang="en-US" sz="2000" dirty="0">
                <a:solidFill>
                  <a:srgbClr val="00CAF8"/>
                </a:solidFill>
                <a:latin typeface="Aharoni" panose="02010803020104030203" pitchFamily="2" charset="-79"/>
                <a:cs typeface="Aharoni" panose="02010803020104030203" pitchFamily="2" charset="-79"/>
              </a:rPr>
              <a:t>: </a:t>
            </a:r>
            <a:r>
              <a:rPr lang="en-US" sz="2000" dirty="0">
                <a:solidFill>
                  <a:srgbClr val="1A1A1A"/>
                </a:solidFill>
                <a:latin typeface="Aharoni" panose="02010803020104030203" pitchFamily="2" charset="-79"/>
                <a:cs typeface="Aharoni" panose="02010803020104030203" pitchFamily="2" charset="-79"/>
              </a:rPr>
              <a:t>73,3 % de </a:t>
            </a:r>
            <a:r>
              <a:rPr lang="en-US" sz="2000" dirty="0" err="1">
                <a:solidFill>
                  <a:srgbClr val="1A1A1A"/>
                </a:solidFill>
                <a:latin typeface="Aharoni" panose="02010803020104030203" pitchFamily="2" charset="-79"/>
                <a:cs typeface="Aharoni" panose="02010803020104030203" pitchFamily="2" charset="-79"/>
              </a:rPr>
              <a:t>avance</a:t>
            </a:r>
            <a:r>
              <a:rPr lang="en-US" sz="2000" dirty="0">
                <a:solidFill>
                  <a:srgbClr val="1A1A1A"/>
                </a:solidFill>
                <a:latin typeface="Aharoni" panose="02010803020104030203" pitchFamily="2" charset="-79"/>
                <a:cs typeface="Aharoni" panose="02010803020104030203" pitchFamily="2" charset="-79"/>
              </a:rPr>
              <a:t> </a:t>
            </a:r>
            <a:r>
              <a:rPr lang="en-US" sz="2000" dirty="0" err="1">
                <a:solidFill>
                  <a:srgbClr val="1A1A1A"/>
                </a:solidFill>
                <a:latin typeface="Aharoni" panose="02010803020104030203" pitchFamily="2" charset="-79"/>
                <a:cs typeface="Aharoni" panose="02010803020104030203" pitchFamily="2" charset="-79"/>
              </a:rPr>
              <a:t>acumulado</a:t>
            </a:r>
            <a:r>
              <a:rPr lang="en-US" sz="2000" dirty="0">
                <a:solidFill>
                  <a:srgbClr val="1A1A1A"/>
                </a:solidFill>
                <a:latin typeface="Aharoni" panose="02010803020104030203" pitchFamily="2" charset="-79"/>
                <a:cs typeface="Aharoni" panose="02010803020104030203" pitchFamily="2" charset="-79"/>
              </a:rPr>
              <a:t> del </a:t>
            </a:r>
            <a:r>
              <a:rPr lang="en-US" sz="2000" dirty="0" err="1">
                <a:solidFill>
                  <a:srgbClr val="1A1A1A"/>
                </a:solidFill>
                <a:latin typeface="Aharoni" panose="02010803020104030203" pitchFamily="2" charset="-79"/>
                <a:cs typeface="Aharoni" panose="02010803020104030203" pitchFamily="2" charset="-79"/>
              </a:rPr>
              <a:t>proyecto</a:t>
            </a:r>
            <a:r>
              <a:rPr lang="en-US" sz="2000" dirty="0">
                <a:solidFill>
                  <a:srgbClr val="1A1A1A"/>
                </a:solidFill>
                <a:latin typeface="Aharoni" panose="02010803020104030203" pitchFamily="2" charset="-79"/>
                <a:cs typeface="Aharoni" panose="02010803020104030203" pitchFamily="2" charset="-79"/>
              </a:rPr>
              <a:t>.</a:t>
            </a:r>
            <a:endParaRPr lang="en-US" sz="2000" dirty="0">
              <a:latin typeface="Aharoni" panose="02010803020104030203" pitchFamily="2" charset="-79"/>
              <a:cs typeface="Aharoni" panose="02010803020104030203" pitchFamily="2" charset="-79"/>
            </a:endParaRPr>
          </a:p>
          <a:p>
            <a:pPr marL="342900" indent="-342900">
              <a:lnSpc>
                <a:spcPct val="150000"/>
              </a:lnSpc>
              <a:spcAft>
                <a:spcPts val="1000"/>
              </a:spcAft>
              <a:buSzPct val="100000"/>
              <a:buChar char="•"/>
            </a:pPr>
            <a:r>
              <a:rPr lang="en-US" sz="2000" dirty="0">
                <a:solidFill>
                  <a:srgbClr val="00CAF8"/>
                </a:solidFill>
                <a:latin typeface="Aharoni" panose="02010803020104030203" pitchFamily="2" charset="-79"/>
                <a:cs typeface="Aharoni" panose="02010803020104030203" pitchFamily="2" charset="-79"/>
              </a:rPr>
              <a:t>7 </a:t>
            </a:r>
            <a:r>
              <a:rPr lang="en-US" sz="2000" dirty="0" err="1">
                <a:solidFill>
                  <a:srgbClr val="00CAF8"/>
                </a:solidFill>
                <a:latin typeface="Aharoni" panose="02010803020104030203" pitchFamily="2" charset="-79"/>
                <a:cs typeface="Aharoni" panose="02010803020104030203" pitchFamily="2" charset="-79"/>
              </a:rPr>
              <a:t>módulos</a:t>
            </a:r>
            <a:r>
              <a:rPr lang="en-US" sz="2000" dirty="0">
                <a:solidFill>
                  <a:srgbClr val="00CAF8"/>
                </a:solidFill>
                <a:latin typeface="Aharoni" panose="02010803020104030203" pitchFamily="2" charset="-79"/>
                <a:cs typeface="Aharoni" panose="02010803020104030203" pitchFamily="2" charset="-79"/>
              </a:rPr>
              <a:t> </a:t>
            </a:r>
            <a:r>
              <a:rPr lang="en-US" sz="2000" dirty="0" err="1">
                <a:solidFill>
                  <a:srgbClr val="00CAF8"/>
                </a:solidFill>
                <a:latin typeface="Aharoni" panose="02010803020104030203" pitchFamily="2" charset="-79"/>
                <a:cs typeface="Aharoni" panose="02010803020104030203" pitchFamily="2" charset="-79"/>
              </a:rPr>
              <a:t>impactados</a:t>
            </a:r>
            <a:r>
              <a:rPr lang="en-US" sz="2000" dirty="0">
                <a:solidFill>
                  <a:srgbClr val="1A1A1A"/>
                </a:solidFill>
                <a:latin typeface="Aharoni" panose="02010803020104030203" pitchFamily="2" charset="-79"/>
                <a:cs typeface="Aharoni" panose="02010803020104030203" pitchFamily="2" charset="-79"/>
              </a:rPr>
              <a:t>, </a:t>
            </a:r>
            <a:r>
              <a:rPr lang="en-US" sz="2000" dirty="0" err="1">
                <a:solidFill>
                  <a:srgbClr val="1A1A1A"/>
                </a:solidFill>
                <a:latin typeface="Aharoni" panose="02010803020104030203" pitchFamily="2" charset="-79"/>
                <a:cs typeface="Aharoni" panose="02010803020104030203" pitchFamily="2" charset="-79"/>
              </a:rPr>
              <a:t>ciclo</a:t>
            </a:r>
            <a:r>
              <a:rPr lang="en-US" sz="2000" dirty="0">
                <a:solidFill>
                  <a:srgbClr val="1A1A1A"/>
                </a:solidFill>
                <a:latin typeface="Aharoni" panose="02010803020104030203" pitchFamily="2" charset="-79"/>
                <a:cs typeface="Aharoni" panose="02010803020104030203" pitchFamily="2" charset="-79"/>
              </a:rPr>
              <a:t> </a:t>
            </a:r>
            <a:r>
              <a:rPr lang="en-US" sz="2000" dirty="0" err="1">
                <a:solidFill>
                  <a:srgbClr val="1A1A1A"/>
                </a:solidFill>
                <a:latin typeface="Aharoni" panose="02010803020104030203" pitchFamily="2" charset="-79"/>
                <a:cs typeface="Aharoni" panose="02010803020104030203" pitchFamily="2" charset="-79"/>
              </a:rPr>
              <a:t>completo</a:t>
            </a:r>
            <a:r>
              <a:rPr lang="en-US" sz="2000" dirty="0">
                <a:solidFill>
                  <a:srgbClr val="1A1A1A"/>
                </a:solidFill>
                <a:latin typeface="Aharoni" panose="02010803020104030203" pitchFamily="2" charset="-79"/>
                <a:cs typeface="Aharoni" panose="02010803020104030203" pitchFamily="2" charset="-79"/>
              </a:rPr>
              <a:t> de </a:t>
            </a:r>
            <a:r>
              <a:rPr lang="en-US" sz="2000" dirty="0" err="1">
                <a:solidFill>
                  <a:srgbClr val="1A1A1A"/>
                </a:solidFill>
                <a:latin typeface="Aharoni" panose="02010803020104030203" pitchFamily="2" charset="-79"/>
                <a:cs typeface="Aharoni" panose="02010803020104030203" pitchFamily="2" charset="-79"/>
              </a:rPr>
              <a:t>adquisiciones</a:t>
            </a:r>
            <a:r>
              <a:rPr lang="en-US" sz="2000" dirty="0">
                <a:solidFill>
                  <a:srgbClr val="1A1A1A"/>
                </a:solidFill>
                <a:latin typeface="Aharoni" panose="02010803020104030203" pitchFamily="2" charset="-79"/>
                <a:cs typeface="Aharoni" panose="02010803020104030203" pitchFamily="2" charset="-79"/>
              </a:rPr>
              <a:t> </a:t>
            </a:r>
            <a:r>
              <a:rPr lang="en-US" sz="2000" dirty="0" err="1">
                <a:solidFill>
                  <a:srgbClr val="1A1A1A"/>
                </a:solidFill>
                <a:latin typeface="Aharoni" panose="02010803020104030203" pitchFamily="2" charset="-79"/>
                <a:cs typeface="Aharoni" panose="02010803020104030203" pitchFamily="2" charset="-79"/>
              </a:rPr>
              <a:t>cerrado</a:t>
            </a:r>
            <a:r>
              <a:rPr lang="en-US" sz="2000" dirty="0">
                <a:solidFill>
                  <a:srgbClr val="1A1A1A"/>
                </a:solidFill>
                <a:latin typeface="Aharoni" panose="02010803020104030203" pitchFamily="2" charset="-79"/>
                <a:cs typeface="Aharoni" panose="02010803020104030203" pitchFamily="2" charset="-79"/>
              </a:rPr>
              <a:t>.</a:t>
            </a:r>
            <a:endParaRPr lang="en-US" sz="2000" dirty="0">
              <a:latin typeface="Aharoni" panose="02010803020104030203" pitchFamily="2" charset="-79"/>
              <a:cs typeface="Aharoni" panose="02010803020104030203" pitchFamily="2" charset="-79"/>
            </a:endParaRPr>
          </a:p>
          <a:p>
            <a:pPr marL="342900" indent="-342900">
              <a:lnSpc>
                <a:spcPct val="150000"/>
              </a:lnSpc>
              <a:spcAft>
                <a:spcPts val="1000"/>
              </a:spcAft>
              <a:buSzPct val="100000"/>
              <a:buChar char="•"/>
            </a:pPr>
            <a:r>
              <a:rPr lang="en-US" sz="2000" dirty="0" err="1">
                <a:solidFill>
                  <a:srgbClr val="00CAF8"/>
                </a:solidFill>
                <a:latin typeface="Aharoni" panose="02010803020104030203" pitchFamily="2" charset="-79"/>
                <a:cs typeface="Aharoni" panose="02010803020104030203" pitchFamily="2" charset="-79"/>
              </a:rPr>
              <a:t>Próximo</a:t>
            </a:r>
            <a:r>
              <a:rPr lang="en-US" sz="2000" dirty="0">
                <a:solidFill>
                  <a:srgbClr val="00CAF8"/>
                </a:solidFill>
                <a:latin typeface="Aharoni" panose="02010803020104030203" pitchFamily="2" charset="-79"/>
                <a:cs typeface="Aharoni" panose="02010803020104030203" pitchFamily="2" charset="-79"/>
              </a:rPr>
              <a:t>: </a:t>
            </a:r>
            <a:r>
              <a:rPr lang="en-US" sz="2000" dirty="0" err="1">
                <a:solidFill>
                  <a:srgbClr val="00CAF8"/>
                </a:solidFill>
                <a:latin typeface="Aharoni" panose="02010803020104030203" pitchFamily="2" charset="-79"/>
                <a:cs typeface="Aharoni" panose="02010803020104030203" pitchFamily="2" charset="-79"/>
              </a:rPr>
              <a:t>Incremento</a:t>
            </a:r>
            <a:r>
              <a:rPr lang="en-US" sz="2000" dirty="0">
                <a:solidFill>
                  <a:srgbClr val="00CAF8"/>
                </a:solidFill>
                <a:latin typeface="Aharoni" panose="02010803020104030203" pitchFamily="2" charset="-79"/>
                <a:cs typeface="Aharoni" panose="02010803020104030203" pitchFamily="2" charset="-79"/>
              </a:rPr>
              <a:t> 3 </a:t>
            </a:r>
            <a:r>
              <a:rPr lang="en-US" sz="2000" dirty="0">
                <a:solidFill>
                  <a:srgbClr val="1A1A1A"/>
                </a:solidFill>
                <a:latin typeface="Aharoni" panose="02010803020104030203" pitchFamily="2" charset="-79"/>
                <a:cs typeface="Aharoni" panose="02010803020104030203" pitchFamily="2" charset="-79"/>
              </a:rPr>
              <a:t>— </a:t>
            </a:r>
            <a:r>
              <a:rPr lang="en-US" sz="2000" dirty="0" err="1">
                <a:solidFill>
                  <a:srgbClr val="1A1A1A"/>
                </a:solidFill>
                <a:latin typeface="Aharoni" panose="02010803020104030203" pitchFamily="2" charset="-79"/>
                <a:cs typeface="Aharoni" panose="02010803020104030203" pitchFamily="2" charset="-79"/>
              </a:rPr>
              <a:t>Módulo</a:t>
            </a:r>
            <a:r>
              <a:rPr lang="en-US" sz="2000" dirty="0">
                <a:solidFill>
                  <a:srgbClr val="1A1A1A"/>
                </a:solidFill>
                <a:latin typeface="Aharoni" panose="02010803020104030203" pitchFamily="2" charset="-79"/>
                <a:cs typeface="Aharoni" panose="02010803020104030203" pitchFamily="2" charset="-79"/>
              </a:rPr>
              <a:t> de </a:t>
            </a:r>
            <a:r>
              <a:rPr lang="en-US" sz="2000" dirty="0" err="1">
                <a:solidFill>
                  <a:srgbClr val="1A1A1A"/>
                </a:solidFill>
                <a:latin typeface="Aharoni" panose="02010803020104030203" pitchFamily="2" charset="-79"/>
                <a:cs typeface="Aharoni" panose="02010803020104030203" pitchFamily="2" charset="-79"/>
              </a:rPr>
              <a:t>Reportes</a:t>
            </a:r>
            <a:r>
              <a:rPr lang="en-US" sz="2000" dirty="0">
                <a:solidFill>
                  <a:srgbClr val="1A1A1A"/>
                </a:solidFill>
                <a:latin typeface="Aharoni" panose="02010803020104030203" pitchFamily="2" charset="-79"/>
                <a:cs typeface="Aharoni" panose="02010803020104030203" pitchFamily="2" charset="-79"/>
              </a:rPr>
              <a:t> y </a:t>
            </a:r>
            <a:r>
              <a:rPr lang="en-US" sz="2000" dirty="0" err="1">
                <a:solidFill>
                  <a:srgbClr val="1A1A1A"/>
                </a:solidFill>
                <a:latin typeface="Aharoni" panose="02010803020104030203" pitchFamily="2" charset="-79"/>
                <a:cs typeface="Aharoni" panose="02010803020104030203" pitchFamily="2" charset="-79"/>
              </a:rPr>
              <a:t>cierre</a:t>
            </a:r>
            <a:r>
              <a:rPr lang="en-US" sz="2000" dirty="0">
                <a:solidFill>
                  <a:srgbClr val="1A1A1A"/>
                </a:solidFill>
                <a:latin typeface="Aharoni" panose="02010803020104030203" pitchFamily="2" charset="-79"/>
                <a:cs typeface="Aharoni" panose="02010803020104030203" pitchFamily="2" charset="-79"/>
              </a:rPr>
              <a:t> del </a:t>
            </a:r>
            <a:r>
              <a:rPr lang="en-US" sz="2000" dirty="0" err="1">
                <a:solidFill>
                  <a:srgbClr val="1A1A1A"/>
                </a:solidFill>
                <a:latin typeface="Aharoni" panose="02010803020104030203" pitchFamily="2" charset="-79"/>
                <a:cs typeface="Aharoni" panose="02010803020104030203" pitchFamily="2" charset="-79"/>
              </a:rPr>
              <a:t>Módulo</a:t>
            </a:r>
            <a:r>
              <a:rPr lang="en-US" sz="2000" dirty="0">
                <a:solidFill>
                  <a:srgbClr val="1A1A1A"/>
                </a:solidFill>
                <a:latin typeface="Aharoni" panose="02010803020104030203" pitchFamily="2" charset="-79"/>
                <a:cs typeface="Aharoni" panose="02010803020104030203" pitchFamily="2" charset="-79"/>
              </a:rPr>
              <a:t> 9 (21,7 %, </a:t>
            </a:r>
            <a:r>
              <a:rPr lang="en-US" sz="2000" dirty="0" err="1">
                <a:solidFill>
                  <a:srgbClr val="1A1A1A"/>
                </a:solidFill>
                <a:latin typeface="Aharoni" panose="02010803020104030203" pitchFamily="2" charset="-79"/>
                <a:cs typeface="Aharoni" panose="02010803020104030203" pitchFamily="2" charset="-79"/>
              </a:rPr>
              <a:t>acumulado</a:t>
            </a:r>
            <a:r>
              <a:rPr lang="en-US" sz="2000" dirty="0">
                <a:solidFill>
                  <a:srgbClr val="1A1A1A"/>
                </a:solidFill>
                <a:latin typeface="Aharoni" panose="02010803020104030203" pitchFamily="2" charset="-79"/>
                <a:cs typeface="Aharoni" panose="02010803020104030203" pitchFamily="2" charset="-79"/>
              </a:rPr>
              <a:t> 95 %).</a:t>
            </a:r>
            <a:endParaRPr lang="en-US" sz="2000" dirty="0">
              <a:latin typeface="Aharoni" panose="02010803020104030203" pitchFamily="2" charset="-79"/>
              <a:cs typeface="Aharoni" panose="02010803020104030203" pitchFamily="2" charset="-79"/>
            </a:endParaRPr>
          </a:p>
          <a:p>
            <a:pPr marL="342900" indent="-342900">
              <a:lnSpc>
                <a:spcPct val="150000"/>
              </a:lnSpc>
              <a:buSzPct val="100000"/>
              <a:buChar char="•"/>
            </a:pPr>
            <a:r>
              <a:rPr lang="en-US" sz="2000" dirty="0" err="1">
                <a:solidFill>
                  <a:srgbClr val="00CAF8"/>
                </a:solidFill>
                <a:latin typeface="Aharoni" panose="02010803020104030203" pitchFamily="2" charset="-79"/>
                <a:cs typeface="Aharoni" panose="02010803020104030203" pitchFamily="2" charset="-79"/>
              </a:rPr>
              <a:t>Incremento</a:t>
            </a:r>
            <a:r>
              <a:rPr lang="en-US" sz="2000" dirty="0">
                <a:solidFill>
                  <a:srgbClr val="00CAF8"/>
                </a:solidFill>
                <a:latin typeface="Aharoni" panose="02010803020104030203" pitchFamily="2" charset="-79"/>
                <a:cs typeface="Aharoni" panose="02010803020104030203" pitchFamily="2" charset="-79"/>
              </a:rPr>
              <a:t> 4 </a:t>
            </a:r>
            <a:r>
              <a:rPr lang="en-US" sz="2000" dirty="0">
                <a:solidFill>
                  <a:srgbClr val="1A1A1A"/>
                </a:solidFill>
                <a:latin typeface="Aharoni" panose="02010803020104030203" pitchFamily="2" charset="-79"/>
                <a:cs typeface="Aharoni" panose="02010803020104030203" pitchFamily="2" charset="-79"/>
              </a:rPr>
              <a:t>— </a:t>
            </a:r>
            <a:r>
              <a:rPr lang="en-US" sz="2000" dirty="0" err="1">
                <a:solidFill>
                  <a:srgbClr val="1A1A1A"/>
                </a:solidFill>
                <a:latin typeface="Aharoni" panose="02010803020104030203" pitchFamily="2" charset="-79"/>
                <a:cs typeface="Aharoni" panose="02010803020104030203" pitchFamily="2" charset="-79"/>
              </a:rPr>
              <a:t>Catálogo</a:t>
            </a:r>
            <a:r>
              <a:rPr lang="en-US" sz="2000" dirty="0">
                <a:solidFill>
                  <a:srgbClr val="1A1A1A"/>
                </a:solidFill>
                <a:latin typeface="Aharoni" panose="02010803020104030203" pitchFamily="2" charset="-79"/>
                <a:cs typeface="Aharoni" panose="02010803020104030203" pitchFamily="2" charset="-79"/>
              </a:rPr>
              <a:t> Maestro de </a:t>
            </a:r>
            <a:r>
              <a:rPr lang="en-US" sz="2000" dirty="0" err="1">
                <a:solidFill>
                  <a:srgbClr val="1A1A1A"/>
                </a:solidFill>
                <a:latin typeface="Aharoni" panose="02010803020104030203" pitchFamily="2" charset="-79"/>
                <a:cs typeface="Aharoni" panose="02010803020104030203" pitchFamily="2" charset="-79"/>
              </a:rPr>
              <a:t>Materiales</a:t>
            </a:r>
            <a:r>
              <a:rPr lang="en-US" sz="2000" dirty="0">
                <a:solidFill>
                  <a:srgbClr val="1A1A1A"/>
                </a:solidFill>
                <a:latin typeface="Aharoni" panose="02010803020104030203" pitchFamily="2" charset="-79"/>
                <a:cs typeface="Aharoni" panose="02010803020104030203" pitchFamily="2" charset="-79"/>
              </a:rPr>
              <a:t> (5 %, </a:t>
            </a:r>
            <a:r>
              <a:rPr lang="en-US" sz="2000" dirty="0" err="1">
                <a:solidFill>
                  <a:srgbClr val="1A1A1A"/>
                </a:solidFill>
                <a:latin typeface="Aharoni" panose="02010803020104030203" pitchFamily="2" charset="-79"/>
                <a:cs typeface="Aharoni" panose="02010803020104030203" pitchFamily="2" charset="-79"/>
              </a:rPr>
              <a:t>acumulado</a:t>
            </a:r>
            <a:r>
              <a:rPr lang="en-US" sz="2000" dirty="0">
                <a:solidFill>
                  <a:srgbClr val="1A1A1A"/>
                </a:solidFill>
                <a:latin typeface="Aharoni" panose="02010803020104030203" pitchFamily="2" charset="-79"/>
                <a:cs typeface="Aharoni" panose="02010803020104030203" pitchFamily="2" charset="-79"/>
              </a:rPr>
              <a:t> 100 %).</a:t>
            </a:r>
            <a:endParaRPr lang="en-US" sz="2000" dirty="0">
              <a:latin typeface="Aharoni" panose="02010803020104030203" pitchFamily="2" charset="-79"/>
              <a:cs typeface="Aharoni" panose="02010803020104030203" pitchFamily="2" charset="-79"/>
            </a:endParaRPr>
          </a:p>
        </p:txBody>
      </p:sp>
      <p:sp>
        <p:nvSpPr>
          <p:cNvPr id="5" name="Text 3"/>
          <p:cNvSpPr txBox="1"/>
          <p:nvPr/>
        </p:nvSpPr>
        <p:spPr>
          <a:xfrm>
            <a:off x="548640" y="6446520"/>
            <a:ext cx="10543032" cy="274320"/>
          </a:xfrm>
          <a:prstGeom prst="rect">
            <a:avLst/>
          </a:prstGeom>
          <a:noFill/>
          <a:ln/>
        </p:spPr>
        <p:txBody>
          <a:bodyPr wrap="square" lIns="0" tIns="0" rIns="0" bIns="0" rtlCol="0" anchor="ctr"/>
          <a:lstStyle/>
          <a:p>
            <a:pPr marL="0" indent="0">
              <a:buNone/>
            </a:pPr>
            <a:r>
              <a:rPr lang="en-US" sz="900">
                <a:solidFill>
                  <a:srgbClr val="6B7280"/>
                </a:solidFill>
                <a:latin typeface="Calibri" pitchFamily="34" charset="0"/>
                <a:ea typeface="Calibri" pitchFamily="34" charset="-122"/>
                <a:cs typeface="Calibri" pitchFamily="34" charset="-120"/>
              </a:rPr>
              <a:t>Sistema de Gestión de Adquisiciones e Inventario  |  Constructora M5 SpA</a:t>
            </a:r>
            <a:endParaRPr lang="en-US" sz="900"/>
          </a:p>
        </p:txBody>
      </p:sp>
      <p:sp>
        <p:nvSpPr>
          <p:cNvPr id="6" name="Text 4"/>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900">
                <a:solidFill>
                  <a:srgbClr val="6B7280"/>
                </a:solidFill>
                <a:latin typeface="Calibri" pitchFamily="34" charset="0"/>
                <a:ea typeface="Calibri" pitchFamily="34" charset="-122"/>
                <a:cs typeface="Calibri" pitchFamily="34" charset="-120"/>
              </a:rPr>
              <a:t>19</a:t>
            </a:r>
            <a:endParaRPr lang="en-US" sz="900"/>
          </a:p>
        </p:txBody>
      </p:sp>
      <p:pic>
        <p:nvPicPr>
          <p:cNvPr id="8" name="Picture 7">
            <a:extLst>
              <a:ext uri="{FF2B5EF4-FFF2-40B4-BE49-F238E27FC236}">
                <a16:creationId xmlns:a16="http://schemas.microsoft.com/office/drawing/2014/main" id="{62C72934-08DA-B361-A32E-5413B5B73944}"/>
              </a:ext>
            </a:extLst>
          </p:cNvPr>
          <p:cNvPicPr>
            <a:picLocks noChangeAspect="1"/>
          </p:cNvPicPr>
          <p:nvPr/>
        </p:nvPicPr>
        <p:blipFill>
          <a:blip r:embed="rId3"/>
          <a:stretch>
            <a:fillRect/>
          </a:stretch>
        </p:blipFill>
        <p:spPr>
          <a:xfrm>
            <a:off x="10247110" y="518323"/>
            <a:ext cx="1484642" cy="92016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B72693-8C12-58FE-3060-1D9C22D1933C}"/>
              </a:ext>
            </a:extLst>
          </p:cNvPr>
          <p:cNvPicPr>
            <a:picLocks noChangeAspect="1"/>
          </p:cNvPicPr>
          <p:nvPr/>
        </p:nvPicPr>
        <p:blipFill>
          <a:blip r:embed="rId2"/>
          <a:stretch>
            <a:fillRect/>
          </a:stretch>
        </p:blipFill>
        <p:spPr>
          <a:xfrm>
            <a:off x="3904232" y="2944119"/>
            <a:ext cx="4196414" cy="2600903"/>
          </a:xfrm>
          <a:prstGeom prst="rect">
            <a:avLst/>
          </a:prstGeom>
          <a:scene3d>
            <a:camera prst="perspectiveContrastingLeftFacing"/>
            <a:lightRig rig="threePt" dir="t"/>
          </a:scene3d>
        </p:spPr>
      </p:pic>
      <p:sp>
        <p:nvSpPr>
          <p:cNvPr id="7" name="TextBox 6">
            <a:extLst>
              <a:ext uri="{FF2B5EF4-FFF2-40B4-BE49-F238E27FC236}">
                <a16:creationId xmlns:a16="http://schemas.microsoft.com/office/drawing/2014/main" id="{29D40355-F648-7663-E18E-DAF15FCD9136}"/>
              </a:ext>
            </a:extLst>
          </p:cNvPr>
          <p:cNvSpPr txBox="1"/>
          <p:nvPr/>
        </p:nvSpPr>
        <p:spPr>
          <a:xfrm>
            <a:off x="3493478" y="1060932"/>
            <a:ext cx="6096000" cy="1569660"/>
          </a:xfrm>
          <a:prstGeom prst="rect">
            <a:avLst/>
          </a:prstGeom>
          <a:noFill/>
        </p:spPr>
        <p:txBody>
          <a:bodyPr wrap="square">
            <a:spAutoFit/>
          </a:bodyPr>
          <a:lstStyle/>
          <a:p>
            <a:pPr marL="0" indent="0">
              <a:buNone/>
            </a:pPr>
            <a:r>
              <a:rPr lang="en-US" sz="9600" i="1">
                <a:solidFill>
                  <a:schemeClr val="bg1"/>
                </a:solidFill>
                <a:latin typeface="Aharoni" panose="020F0502020204030204" pitchFamily="2" charset="-79"/>
                <a:ea typeface="ADLaM Display" panose="020F0502020204030204" pitchFamily="2" charset="0"/>
                <a:cs typeface="Aharoni" panose="020F0502020204030204" pitchFamily="2" charset="-79"/>
              </a:rPr>
              <a:t>¡Gracias!</a:t>
            </a:r>
          </a:p>
        </p:txBody>
      </p:sp>
    </p:spTree>
    <p:extLst>
      <p:ext uri="{BB962C8B-B14F-4D97-AF65-F5344CB8AC3E}">
        <p14:creationId xmlns:p14="http://schemas.microsoft.com/office/powerpoint/2010/main" val="27917738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1402</Words>
  <Application>Microsoft Office PowerPoint</Application>
  <PresentationFormat>Widescreen</PresentationFormat>
  <Paragraphs>240</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Aharoni</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Catalina Lino</cp:lastModifiedBy>
  <cp:revision>2</cp:revision>
  <dcterms:created xsi:type="dcterms:W3CDTF">2026-09-12T23:09:00Z</dcterms:created>
  <dcterms:modified xsi:type="dcterms:W3CDTF">2026-09-13T22:26:32Z</dcterms:modified>
</cp:coreProperties>
</file>