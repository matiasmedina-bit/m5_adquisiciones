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8" r:id="rId5"/>
    <p:sldId id="269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474" y="72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Cobertura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B2423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8A55-4206-B855-7E83A39B8804}"/>
              </c:ext>
            </c:extLst>
          </c:dPt>
          <c:dPt>
            <c:idx val="1"/>
            <c:bubble3D val="0"/>
            <c:spPr>
              <a:solidFill>
                <a:srgbClr val="D9D2CC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8A55-4206-B855-7E83A39B8804}"/>
              </c:ext>
            </c:extLst>
          </c:dPt>
          <c:cat>
            <c:strRef>
              <c:f>Sheet1!$A$2:$A$3</c:f>
              <c:strCache>
                <c:ptCount val="2"/>
                <c:pt idx="0">
                  <c:v>Incremento 1 (18 RF)</c:v>
                </c:pt>
                <c:pt idx="1">
                  <c:v>Por desarrollar (39 RF)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</c:v>
                </c:pt>
                <c:pt idx="1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A55-4206-B855-7E83A39B88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7558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B2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unab_building_crop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2331720"/>
            <a:ext cx="9144000" cy="21945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2359152"/>
          </a:xfrm>
          <a:prstGeom prst="rect">
            <a:avLst/>
          </a:prstGeom>
          <a:solidFill>
            <a:srgbClr val="9B242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0" y="4498848"/>
            <a:ext cx="9144000" cy="2359152"/>
          </a:xfrm>
          <a:prstGeom prst="rect">
            <a:avLst/>
          </a:prstGeom>
          <a:solidFill>
            <a:srgbClr val="9B242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1" descr="assets/unab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11480"/>
            <a:ext cx="1051560" cy="10058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91640" y="502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Universidad Andrés Bello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691640" y="914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· Ingeniería de Software I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48640" y="47091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PROYECTO INGENIERÍA DE SOFTWARE I: INCREMENTO 1</a:t>
            </a:r>
            <a:endParaRPr lang="en-US" sz="2700" dirty="0"/>
          </a:p>
        </p:txBody>
      </p:sp>
      <p:sp>
        <p:nvSpPr>
          <p:cNvPr id="9" name="Text 5"/>
          <p:cNvSpPr/>
          <p:nvPr/>
        </p:nvSpPr>
        <p:spPr>
          <a:xfrm>
            <a:off x="566928" y="5486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F4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Adquisiciones e Inventario — Constructora M5 SpA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66928" y="58704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Emiliano Fernández · Cristóbal López · Matías Medina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566928" y="61996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0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23 ·  </a:t>
            </a:r>
            <a:r>
              <a:rPr lang="en-US" sz="1100" dirty="0" err="1">
                <a:solidFill>
                  <a:srgbClr val="F0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</a:t>
            </a:r>
            <a:r>
              <a:rPr lang="en-US" sz="1100" dirty="0">
                <a:solidFill>
                  <a:srgbClr val="F0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9B242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</a:t>
            </a:r>
            <a:endParaRPr lang="en-US" sz="2200" dirty="0"/>
          </a:p>
        </p:txBody>
      </p:sp>
      <p:pic>
        <p:nvPicPr>
          <p:cNvPr id="4" name="Image 0" descr="assets/una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09728"/>
            <a:ext cx="566928" cy="5486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114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23 · M5 SpA Adquisiciones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3210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>
                <a:solidFill>
                  <a:srgbClr val="6B6B6B"/>
                </a:solidFill>
                <a:latin typeface="Calibri"/>
              </a:rPr>
              <a:t>2</a:t>
            </a:r>
            <a:endParaRPr lang="en-US" sz="900" dirty="0"/>
          </a:p>
        </p:txBody>
      </p:sp>
      <p:sp>
        <p:nvSpPr>
          <p:cNvPr id="25" name="TextBox 24"/>
          <p:cNvSpPr txBox="1"/>
          <p:nvPr/>
        </p:nvSpPr>
        <p:spPr>
          <a:xfrm>
            <a:off x="640080" y="1234440"/>
            <a:ext cx="640080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3000" b="1">
                <a:solidFill>
                  <a:srgbClr val="9B2423"/>
                </a:solidFill>
                <a:latin typeface="Cambria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1234440"/>
            <a:ext cx="3246120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Incremento 1 — cobertura y métricas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1993392"/>
            <a:ext cx="640080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3000" b="1">
                <a:solidFill>
                  <a:srgbClr val="9B2423"/>
                </a:solidFill>
                <a:latin typeface="Cambria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1993392"/>
            <a:ext cx="3246120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Product Backlog — requerimientos Terminados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2752344"/>
            <a:ext cx="640080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3000" b="1">
                <a:solidFill>
                  <a:srgbClr val="9B2423"/>
                </a:solidFill>
                <a:latin typeface="Cambria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8448" y="2752344"/>
            <a:ext cx="3246120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Diagrama de Componentes (MVC++ Web)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511296"/>
            <a:ext cx="640080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3000" b="1">
                <a:solidFill>
                  <a:srgbClr val="9B2423"/>
                </a:solidFill>
                <a:latin typeface="Cambria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3511296"/>
            <a:ext cx="3246120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RF-50 — descripción y actores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270248"/>
            <a:ext cx="640080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3000" b="1">
                <a:solidFill>
                  <a:srgbClr val="9B2423"/>
                </a:solidFill>
                <a:latin typeface="Cambria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8448" y="4270248"/>
            <a:ext cx="3246120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Diagrama de secuencia RF-50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029200"/>
            <a:ext cx="640080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3000" b="1">
                <a:solidFill>
                  <a:srgbClr val="9B2423"/>
                </a:solidFill>
                <a:latin typeface="Cambria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98448" y="5029200"/>
            <a:ext cx="3246120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Vista en el sistema RF-50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1234440"/>
            <a:ext cx="640080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3000" b="1">
                <a:solidFill>
                  <a:srgbClr val="9B2423"/>
                </a:solidFill>
                <a:latin typeface="Cambria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13248" y="1234440"/>
            <a:ext cx="3246120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RF-11 — descripción y actores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1993392"/>
            <a:ext cx="640080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3000" b="1">
                <a:solidFill>
                  <a:srgbClr val="9B2423"/>
                </a:solidFill>
                <a:latin typeface="Cambria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13248" y="1993392"/>
            <a:ext cx="3246120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Diagrama de secuencia RF-11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2752344"/>
            <a:ext cx="640080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3000" b="1">
                <a:solidFill>
                  <a:srgbClr val="9B2423"/>
                </a:solidFill>
                <a:latin typeface="Cambria"/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13248" y="2752344"/>
            <a:ext cx="3246120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Vista en el sistema RF-11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3511296"/>
            <a:ext cx="640080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3000" b="1">
                <a:solidFill>
                  <a:srgbClr val="9B2423"/>
                </a:solidFill>
                <a:latin typeface="Cambria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13248" y="3511296"/>
            <a:ext cx="3246120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Anexos y repositorio documental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0" y="4270248"/>
            <a:ext cx="640080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3000" b="1">
                <a:solidFill>
                  <a:srgbClr val="9B2423"/>
                </a:solidFill>
                <a:latin typeface="Cambria"/>
              </a:rPr>
              <a:t>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13248" y="4270248"/>
            <a:ext cx="3246120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Validación del Incremento por el cliente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9B242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Incremento 1 — cobertura y métricas</a:t>
            </a:r>
            <a:endParaRPr lang="en-US" sz="2200" dirty="0"/>
          </a:p>
        </p:txBody>
      </p:sp>
      <p:pic>
        <p:nvPicPr>
          <p:cNvPr id="4" name="Image 0" descr="assets/una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09728"/>
            <a:ext cx="566928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14300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F4F2F0"/>
          </a:solidFill>
          <a:ln/>
          <a:effectLst>
            <a:outerShdw blurRad="63500" dist="25400" dir="5400000" algn="bl" rotWithShape="0">
              <a:srgbClr val="999999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640080" y="12801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9B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20848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300" b="0">
                <a:solidFill>
                  <a:srgbClr val="6B6B6B"/>
                </a:solidFill>
                <a:latin typeface="Calibri"/>
              </a:rPr>
              <a:t>Requerimientos</a:t>
            </a:r>
            <a:endParaRPr lang="en-US" sz="1200" dirty="0"/>
          </a:p>
          <a:p>
            <a:pPr algn="ctr"/>
            <a:r>
              <a:rPr sz="1300" b="0">
                <a:solidFill>
                  <a:srgbClr val="6B6B6B"/>
                </a:solidFill>
                <a:latin typeface="Calibri"/>
              </a:rPr>
              <a:t>funcionales (RF)</a:t>
            </a:r>
          </a:p>
        </p:txBody>
      </p:sp>
      <p:sp>
        <p:nvSpPr>
          <p:cNvPr id="8" name="Shape 5"/>
          <p:cNvSpPr/>
          <p:nvPr/>
        </p:nvSpPr>
        <p:spPr>
          <a:xfrm>
            <a:off x="3337560" y="114300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F4F2F0"/>
          </a:solidFill>
          <a:ln/>
          <a:effectLst>
            <a:outerShdw blurRad="63500" dist="25400" dir="5400000" algn="bl" rotWithShape="0">
              <a:srgbClr val="999999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3337560" y="12801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9B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31,6%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3337560" y="20848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(18 / 57 RF)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35040" y="114300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F4F2F0"/>
          </a:solidFill>
          <a:ln/>
          <a:effectLst>
            <a:outerShdw blurRad="63500" dist="25400" dir="5400000" algn="bl" rotWithShape="0">
              <a:srgbClr val="999999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6035040" y="12801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9B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/ 30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6035040" y="20848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verde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3063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del proyecto</a:t>
            </a:r>
            <a:endParaRPr lang="en-US" sz="16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457200" y="3383280"/>
          <a:ext cx="42062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 12"/>
          <p:cNvSpPr/>
          <p:nvPr/>
        </p:nvSpPr>
        <p:spPr>
          <a:xfrm>
            <a:off x="4937760" y="3063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del corte vertical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937760" y="347472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Seguridad: autenticación, gestión de cuentas y control de acceso por </a:t>
            </a:r>
            <a:r>
              <a:rPr lang="en-US" sz="125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(CU-50, 51, 52).</a:t>
            </a:r>
            <a:endParaRPr lang="en-US" sz="1250" dirty="0"/>
          </a:p>
          <a:p>
            <a:pPr marL="342900" indent="-3429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Proveedores: registro con validación de RUT y baja </a:t>
            </a:r>
            <a:r>
              <a:rPr lang="en-US" sz="125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(CU-01 a 05).</a:t>
            </a:r>
            <a:endParaRPr lang="en-US" sz="1250" dirty="0"/>
          </a:p>
          <a:p>
            <a:pPr marL="342900" indent="-3429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Proyectos: creación, itemizado, jefe y </a:t>
            </a:r>
            <a:r>
              <a:rPr lang="en-US" sz="125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(CU-06 a 10).</a:t>
            </a:r>
            <a:endParaRPr lang="en-US" sz="1250" dirty="0"/>
          </a:p>
          <a:p>
            <a:pPr marL="342900" indent="-342900" algn="l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Solicitudes: flujo central proveedor → proyecto → </a:t>
            </a:r>
            <a:r>
              <a:rPr lang="en-US" sz="125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(CU-11 a 17).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114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23 · M5 SpA Adquisiciones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83210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>
                <a:solidFill>
                  <a:srgbClr val="6B6B6B"/>
                </a:solidFill>
                <a:latin typeface="Calibri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9B2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40664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mbria"/>
              </a:rPr>
              <a:t>Product Backlog — requerimientos Terminados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566928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473952"/>
            <a:ext cx="5486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Grupo 23 · M5 SpA Adquisiciones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473952"/>
            <a:ext cx="45720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60120"/>
            <a:ext cx="8321040" cy="502920"/>
          </a:xfrm>
          <a:prstGeom prst="roundRect">
            <a:avLst/>
          </a:prstGeom>
          <a:solidFill>
            <a:srgbClr val="C6E0B4"/>
          </a:solidFill>
          <a:ln w="12700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960120"/>
            <a:ext cx="7955279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300" b="1">
                <a:solidFill>
                  <a:srgbClr val="2E5B22"/>
                </a:solidFill>
                <a:latin typeface="Calibri"/>
              </a:rPr>
              <a:t>✔  18 / 18 requerimientos en estado Terminado</a:t>
            </a:r>
            <a:r>
              <a:rPr sz="1200" b="0">
                <a:solidFill>
                  <a:srgbClr val="222222"/>
                </a:solidFill>
                <a:latin typeface="Calibri"/>
              </a:rPr>
              <a:t>   ·   Sprint cerrado — Definición de Terminado cumplida (82 HH reales)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45920"/>
            <a:ext cx="4069080" cy="310896"/>
          </a:xfrm>
          <a:prstGeom prst="rect">
            <a:avLst/>
          </a:prstGeom>
          <a:solidFill>
            <a:srgbClr val="9B2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1645920"/>
            <a:ext cx="3886200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mbria"/>
              </a:rPr>
              <a:t>Seguridad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200" b="1">
                <a:solidFill>
                  <a:srgbClr val="3E7D32"/>
                </a:solidFill>
                <a:latin typeface="Calibri"/>
              </a:rPr>
              <a:t>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011680"/>
            <a:ext cx="36850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50" b="1">
                <a:solidFill>
                  <a:srgbClr val="9B2423"/>
                </a:solidFill>
                <a:latin typeface="Calibri"/>
              </a:rPr>
              <a:t>RF-50  </a:t>
            </a:r>
            <a:r>
              <a:rPr sz="1150" b="0">
                <a:solidFill>
                  <a:srgbClr val="222222"/>
                </a:solidFill>
                <a:latin typeface="Calibri"/>
              </a:rPr>
              <a:t>Autenticación de usuario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99716"/>
            <a:ext cx="27432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200" b="1">
                <a:solidFill>
                  <a:srgbClr val="3E7D32"/>
                </a:solidFill>
                <a:latin typeface="Calibri"/>
              </a:rPr>
              <a:t>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299716"/>
            <a:ext cx="36850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50" b="1">
                <a:solidFill>
                  <a:srgbClr val="9B2423"/>
                </a:solidFill>
                <a:latin typeface="Calibri"/>
              </a:rPr>
              <a:t>RF-52  </a:t>
            </a:r>
            <a:r>
              <a:rPr sz="1150" b="0">
                <a:solidFill>
                  <a:srgbClr val="222222"/>
                </a:solidFill>
                <a:latin typeface="Calibri"/>
              </a:rPr>
              <a:t>Control de acceso por 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87752"/>
            <a:ext cx="27432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200" b="1">
                <a:solidFill>
                  <a:srgbClr val="3E7D32"/>
                </a:solidFill>
                <a:latin typeface="Calibri"/>
              </a:rPr>
              <a:t>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2587752"/>
            <a:ext cx="36850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50" b="1">
                <a:solidFill>
                  <a:srgbClr val="9B2423"/>
                </a:solidFill>
                <a:latin typeface="Calibri"/>
              </a:rPr>
              <a:t>RF-51  </a:t>
            </a:r>
            <a:r>
              <a:rPr sz="1150" b="0">
                <a:solidFill>
                  <a:srgbClr val="222222"/>
                </a:solidFill>
                <a:latin typeface="Calibri"/>
              </a:rPr>
              <a:t>Gestión de cuentas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040380"/>
            <a:ext cx="4069080" cy="310896"/>
          </a:xfrm>
          <a:prstGeom prst="rect">
            <a:avLst/>
          </a:prstGeom>
          <a:solidFill>
            <a:srgbClr val="9B2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1208" y="3040380"/>
            <a:ext cx="3886200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mbria"/>
              </a:rPr>
              <a:t>Proveedores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06140"/>
            <a:ext cx="27432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200" b="1">
                <a:solidFill>
                  <a:srgbClr val="3E7D32"/>
                </a:solidFill>
                <a:latin typeface="Calibri"/>
              </a:rP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3406140"/>
            <a:ext cx="36850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50" b="1">
                <a:solidFill>
                  <a:srgbClr val="9B2423"/>
                </a:solidFill>
                <a:latin typeface="Calibri"/>
              </a:rPr>
              <a:t>RF-01  </a:t>
            </a:r>
            <a:r>
              <a:rPr sz="1150" b="0">
                <a:solidFill>
                  <a:srgbClr val="222222"/>
                </a:solidFill>
                <a:latin typeface="Calibri"/>
              </a:rPr>
              <a:t>Registrar proveedor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694176"/>
            <a:ext cx="27432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200" b="1">
                <a:solidFill>
                  <a:srgbClr val="3E7D32"/>
                </a:solidFill>
                <a:latin typeface="Calibri"/>
              </a:rPr>
              <a:t>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3694176"/>
            <a:ext cx="36850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50" b="1">
                <a:solidFill>
                  <a:srgbClr val="9B2423"/>
                </a:solidFill>
                <a:latin typeface="Calibri"/>
              </a:rPr>
              <a:t>RF-02  </a:t>
            </a:r>
            <a:r>
              <a:rPr sz="1150" b="0">
                <a:solidFill>
                  <a:srgbClr val="222222"/>
                </a:solidFill>
                <a:latin typeface="Calibri"/>
              </a:rPr>
              <a:t>Validar RUT chileno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982212"/>
            <a:ext cx="27432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200" b="1">
                <a:solidFill>
                  <a:srgbClr val="3E7D32"/>
                </a:solidFill>
                <a:latin typeface="Calibri"/>
              </a:rPr>
              <a:t>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3982212"/>
            <a:ext cx="36850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50" b="1">
                <a:solidFill>
                  <a:srgbClr val="9B2423"/>
                </a:solidFill>
                <a:latin typeface="Calibri"/>
              </a:rPr>
              <a:t>RF-03  </a:t>
            </a:r>
            <a:r>
              <a:rPr sz="1150" b="0">
                <a:solidFill>
                  <a:srgbClr val="222222"/>
                </a:solidFill>
                <a:latin typeface="Calibri"/>
              </a:rPr>
              <a:t>Impedir duplicados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270248"/>
            <a:ext cx="27432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200" b="1">
                <a:solidFill>
                  <a:srgbClr val="3E7D32"/>
                </a:solidFill>
                <a:latin typeface="Calibri"/>
              </a:rPr>
              <a:t>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4270248"/>
            <a:ext cx="36850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50" b="1">
                <a:solidFill>
                  <a:srgbClr val="9B2423"/>
                </a:solidFill>
                <a:latin typeface="Calibri"/>
              </a:rPr>
              <a:t>RF-04  </a:t>
            </a:r>
            <a:r>
              <a:rPr sz="1150" b="0">
                <a:solidFill>
                  <a:srgbClr val="222222"/>
                </a:solidFill>
                <a:latin typeface="Calibri"/>
              </a:rPr>
              <a:t>Editar proveedor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58284"/>
            <a:ext cx="27432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200" b="1">
                <a:solidFill>
                  <a:srgbClr val="3E7D32"/>
                </a:solidFill>
                <a:latin typeface="Calibri"/>
              </a:rPr>
              <a:t>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4558284"/>
            <a:ext cx="36850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50" b="1">
                <a:solidFill>
                  <a:srgbClr val="9B2423"/>
                </a:solidFill>
                <a:latin typeface="Calibri"/>
              </a:rPr>
              <a:t>RF-05  </a:t>
            </a:r>
            <a:r>
              <a:rPr sz="1150" b="0">
                <a:solidFill>
                  <a:srgbClr val="222222"/>
                </a:solidFill>
                <a:latin typeface="Calibri"/>
              </a:rPr>
              <a:t>Inactivar proveedor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1645920"/>
            <a:ext cx="4069080" cy="310896"/>
          </a:xfrm>
          <a:prstGeom prst="rect">
            <a:avLst/>
          </a:prstGeom>
          <a:solidFill>
            <a:srgbClr val="9B2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73168" y="1645920"/>
            <a:ext cx="3886200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mbria"/>
              </a:rPr>
              <a:t>Proyectos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59" y="2011680"/>
            <a:ext cx="27432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200" b="1">
                <a:solidFill>
                  <a:srgbClr val="3E7D32"/>
                </a:solidFill>
                <a:latin typeface="Calibri"/>
              </a:rPr>
              <a:t>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10912" y="2011680"/>
            <a:ext cx="36850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50" b="1">
                <a:solidFill>
                  <a:srgbClr val="9B2423"/>
                </a:solidFill>
                <a:latin typeface="Calibri"/>
              </a:rPr>
              <a:t>RF-06  </a:t>
            </a:r>
            <a:r>
              <a:rPr sz="1150" b="0">
                <a:solidFill>
                  <a:srgbClr val="222222"/>
                </a:solidFill>
                <a:latin typeface="Calibri"/>
              </a:rPr>
              <a:t>Registrar proyecto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59" y="2299716"/>
            <a:ext cx="27432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200" b="1">
                <a:solidFill>
                  <a:srgbClr val="3E7D32"/>
                </a:solidFill>
                <a:latin typeface="Calibri"/>
              </a:rPr>
              <a:t>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10912" y="2299716"/>
            <a:ext cx="36850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50" b="1">
                <a:solidFill>
                  <a:srgbClr val="9B2423"/>
                </a:solidFill>
                <a:latin typeface="Calibri"/>
              </a:rPr>
              <a:t>RF-07  </a:t>
            </a:r>
            <a:r>
              <a:rPr sz="1150" b="0">
                <a:solidFill>
                  <a:srgbClr val="222222"/>
                </a:solidFill>
                <a:latin typeface="Calibri"/>
              </a:rPr>
              <a:t>Cargar itemizado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59" y="2587752"/>
            <a:ext cx="27432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200" b="1">
                <a:solidFill>
                  <a:srgbClr val="3E7D32"/>
                </a:solidFill>
                <a:latin typeface="Calibri"/>
              </a:rPr>
              <a:t>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10912" y="2587752"/>
            <a:ext cx="36850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50" b="1">
                <a:solidFill>
                  <a:srgbClr val="9B2423"/>
                </a:solidFill>
                <a:latin typeface="Calibri"/>
              </a:rPr>
              <a:t>RF-08  </a:t>
            </a:r>
            <a:r>
              <a:rPr sz="1150" b="0">
                <a:solidFill>
                  <a:srgbClr val="222222"/>
                </a:solidFill>
                <a:latin typeface="Calibri"/>
              </a:rPr>
              <a:t>Asignar jefe de proyecto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59" y="2875788"/>
            <a:ext cx="27432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200" b="1">
                <a:solidFill>
                  <a:srgbClr val="3E7D32"/>
                </a:solidFill>
                <a:latin typeface="Calibri"/>
              </a:rPr>
              <a:t>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10912" y="2875788"/>
            <a:ext cx="36850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50" b="1">
                <a:solidFill>
                  <a:srgbClr val="9B2423"/>
                </a:solidFill>
                <a:latin typeface="Calibri"/>
              </a:rPr>
              <a:t>RF-09  </a:t>
            </a:r>
            <a:r>
              <a:rPr sz="1150" b="0">
                <a:solidFill>
                  <a:srgbClr val="222222"/>
                </a:solidFill>
                <a:latin typeface="Calibri"/>
              </a:rPr>
              <a:t>Modificar estado del proyecto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9159" y="3163824"/>
            <a:ext cx="27432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200" b="1">
                <a:solidFill>
                  <a:srgbClr val="3E7D32"/>
                </a:solidFill>
                <a:latin typeface="Calibri"/>
              </a:rPr>
              <a:t>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10912" y="3163824"/>
            <a:ext cx="36850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50" b="1">
                <a:solidFill>
                  <a:srgbClr val="9B2423"/>
                </a:solidFill>
                <a:latin typeface="Calibri"/>
              </a:rPr>
              <a:t>RF-10  </a:t>
            </a:r>
            <a:r>
              <a:rPr sz="1150" b="0">
                <a:solidFill>
                  <a:srgbClr val="222222"/>
                </a:solidFill>
                <a:latin typeface="Calibri"/>
              </a:rPr>
              <a:t>Bloquear solicitudes (proyecto finalizado)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63440" y="3616452"/>
            <a:ext cx="4069080" cy="310896"/>
          </a:xfrm>
          <a:prstGeom prst="rect">
            <a:avLst/>
          </a:prstGeom>
          <a:solidFill>
            <a:srgbClr val="9B2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773168" y="3616452"/>
            <a:ext cx="3886200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mbria"/>
              </a:rPr>
              <a:t>Solicitudes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09159" y="3982212"/>
            <a:ext cx="27432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200" b="1">
                <a:solidFill>
                  <a:srgbClr val="3E7D32"/>
                </a:solidFill>
                <a:latin typeface="Calibri"/>
              </a:rPr>
              <a:t>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10912" y="3982212"/>
            <a:ext cx="36850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50" b="1">
                <a:solidFill>
                  <a:srgbClr val="9B2423"/>
                </a:solidFill>
                <a:latin typeface="Calibri"/>
              </a:rPr>
              <a:t>RF-11  </a:t>
            </a:r>
            <a:r>
              <a:rPr sz="1150" b="0">
                <a:solidFill>
                  <a:srgbClr val="222222"/>
                </a:solidFill>
                <a:latin typeface="Calibri"/>
              </a:rPr>
              <a:t>Generar solicitud de materiales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09159" y="4270248"/>
            <a:ext cx="27432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200" b="1">
                <a:solidFill>
                  <a:srgbClr val="3E7D32"/>
                </a:solidFill>
                <a:latin typeface="Calibri"/>
              </a:rPr>
              <a:t>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10912" y="4270248"/>
            <a:ext cx="36850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50" b="1">
                <a:solidFill>
                  <a:srgbClr val="9B2423"/>
                </a:solidFill>
                <a:latin typeface="Calibri"/>
              </a:rPr>
              <a:t>RF-12  </a:t>
            </a:r>
            <a:r>
              <a:rPr sz="1150" b="0">
                <a:solidFill>
                  <a:srgbClr val="222222"/>
                </a:solidFill>
                <a:latin typeface="Calibri"/>
              </a:rPr>
              <a:t>Agregar líneas de detalle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09159" y="4558284"/>
            <a:ext cx="27432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200" b="1">
                <a:solidFill>
                  <a:srgbClr val="3E7D32"/>
                </a:solidFill>
                <a:latin typeface="Calibri"/>
              </a:rPr>
              <a:t>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10912" y="4558284"/>
            <a:ext cx="36850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50" b="1">
                <a:solidFill>
                  <a:srgbClr val="9B2423"/>
                </a:solidFill>
                <a:latin typeface="Calibri"/>
              </a:rPr>
              <a:t>RF-14  </a:t>
            </a:r>
            <a:r>
              <a:rPr sz="1150" b="0">
                <a:solidFill>
                  <a:srgbClr val="222222"/>
                </a:solidFill>
                <a:latin typeface="Calibri"/>
              </a:rPr>
              <a:t>Asignar correlativo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09159" y="4846320"/>
            <a:ext cx="27432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200" b="1">
                <a:solidFill>
                  <a:srgbClr val="3E7D32"/>
                </a:solidFill>
                <a:latin typeface="Calibri"/>
              </a:rPr>
              <a:t>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10912" y="4846320"/>
            <a:ext cx="36850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50" b="1">
                <a:solidFill>
                  <a:srgbClr val="9B2423"/>
                </a:solidFill>
                <a:latin typeface="Calibri"/>
              </a:rPr>
              <a:t>RF-16  </a:t>
            </a:r>
            <a:r>
              <a:rPr sz="1150" b="0">
                <a:solidFill>
                  <a:srgbClr val="222222"/>
                </a:solidFill>
                <a:latin typeface="Calibri"/>
              </a:rPr>
              <a:t>Registrar emisor y fecha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09159" y="5134356"/>
            <a:ext cx="27432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200" b="1">
                <a:solidFill>
                  <a:srgbClr val="3E7D32"/>
                </a:solidFill>
                <a:latin typeface="Calibri"/>
              </a:rPr>
              <a:t>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10912" y="5134356"/>
            <a:ext cx="36850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50" b="1">
                <a:solidFill>
                  <a:srgbClr val="9B2423"/>
                </a:solidFill>
                <a:latin typeface="Calibri"/>
              </a:rPr>
              <a:t>RF-17  </a:t>
            </a:r>
            <a:r>
              <a:rPr sz="1150" b="0">
                <a:solidFill>
                  <a:srgbClr val="222222"/>
                </a:solidFill>
                <a:latin typeface="Calibri"/>
              </a:rPr>
              <a:t>Visualizar estado de la solicitud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9B2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740664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mbria"/>
              </a:rPr>
              <a:t>Diagrama de Componentes (MVC++ Web)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566928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473952"/>
            <a:ext cx="54864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Grupo 23 · M5 SpA Adquisiciones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473952"/>
            <a:ext cx="45720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886968"/>
            <a:ext cx="201168" cy="201168"/>
          </a:xfrm>
          <a:prstGeom prst="rect">
            <a:avLst/>
          </a:prstGeom>
          <a:solidFill>
            <a:srgbClr val="3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850392"/>
            <a:ext cx="274320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Propio de Django (framework)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886968"/>
            <a:ext cx="201168" cy="201168"/>
          </a:xfrm>
          <a:prstGeom prst="rect">
            <a:avLst/>
          </a:prstGeom>
          <a:solidFill>
            <a:srgbClr val="C2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13632" y="850392"/>
            <a:ext cx="292608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Desarrollado por el equipo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280160"/>
            <a:ext cx="832104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200" b="1">
                <a:solidFill>
                  <a:srgbClr val="9B2423"/>
                </a:solidFill>
                <a:latin typeface="Cambria"/>
              </a:rPr>
              <a:t>Capa de Vistas  ·  Frontend (Plantillas Django + Bootstrap 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572768"/>
            <a:ext cx="1532534" cy="566928"/>
          </a:xfrm>
          <a:prstGeom prst="roundRect">
            <a:avLst/>
          </a:prstGeom>
          <a:solidFill>
            <a:srgbClr val="FFE699"/>
          </a:solidFill>
          <a:ln w="1587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sz="1050" b="1">
                <a:solidFill>
                  <a:srgbClr val="7F6000"/>
                </a:solidFill>
                <a:latin typeface="Calibri"/>
              </a:rPr>
              <a:t>V_Login</a:t>
            </a:r>
          </a:p>
          <a:p>
            <a:pPr algn="ctr"/>
            <a:r>
              <a:rPr sz="850" b="0">
                <a:solidFill>
                  <a:srgbClr val="222222"/>
                </a:solidFill>
                <a:latin typeface="Calibri"/>
              </a:rPr>
              <a:t>V_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8606" y="1572768"/>
            <a:ext cx="1532534" cy="566928"/>
          </a:xfrm>
          <a:prstGeom prst="roundRect">
            <a:avLst/>
          </a:prstGeom>
          <a:solidFill>
            <a:srgbClr val="FFE699"/>
          </a:solidFill>
          <a:ln w="1587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sz="1050" b="1">
                <a:solidFill>
                  <a:srgbClr val="7F6000"/>
                </a:solidFill>
                <a:latin typeface="Calibri"/>
              </a:rPr>
              <a:t>V_Proveedores</a:t>
            </a:r>
          </a:p>
          <a:p>
            <a:pPr algn="ctr"/>
            <a:r>
              <a:rPr sz="850" b="0">
                <a:solidFill>
                  <a:srgbClr val="222222"/>
                </a:solidFill>
                <a:latin typeface="Calibri"/>
              </a:rPr>
              <a:t>V_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05732" y="1572768"/>
            <a:ext cx="1532534" cy="566928"/>
          </a:xfrm>
          <a:prstGeom prst="roundRect">
            <a:avLst/>
          </a:prstGeom>
          <a:solidFill>
            <a:srgbClr val="FFE699"/>
          </a:solidFill>
          <a:ln w="1587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sz="1050" b="1">
                <a:solidFill>
                  <a:srgbClr val="7F6000"/>
                </a:solidFill>
                <a:latin typeface="Calibri"/>
              </a:rPr>
              <a:t>V_Proyectos</a:t>
            </a:r>
          </a:p>
          <a:p>
            <a:pPr algn="ctr"/>
            <a:r>
              <a:rPr sz="850" b="0">
                <a:solidFill>
                  <a:srgbClr val="222222"/>
                </a:solidFill>
                <a:latin typeface="Calibri"/>
              </a:rPr>
              <a:t>V_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02859" y="1572768"/>
            <a:ext cx="1532534" cy="566928"/>
          </a:xfrm>
          <a:prstGeom prst="roundRect">
            <a:avLst/>
          </a:prstGeom>
          <a:solidFill>
            <a:srgbClr val="FFE699"/>
          </a:solidFill>
          <a:ln w="1587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sz="1050" b="1">
                <a:solidFill>
                  <a:srgbClr val="7F6000"/>
                </a:solidFill>
                <a:latin typeface="Calibri"/>
              </a:rPr>
              <a:t>V_Solicitudes</a:t>
            </a:r>
          </a:p>
          <a:p>
            <a:pPr algn="ctr"/>
            <a:r>
              <a:rPr sz="850" b="0">
                <a:solidFill>
                  <a:srgbClr val="222222"/>
                </a:solidFill>
                <a:latin typeface="Calibri"/>
              </a:rPr>
              <a:t>V_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99985" y="1572768"/>
            <a:ext cx="1532534" cy="566928"/>
          </a:xfrm>
          <a:prstGeom prst="roundRect">
            <a:avLst/>
          </a:prstGeom>
          <a:solidFill>
            <a:srgbClr val="FFE699"/>
          </a:solidFill>
          <a:ln w="1587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sz="1050" b="1">
                <a:solidFill>
                  <a:srgbClr val="7F6000"/>
                </a:solidFill>
                <a:latin typeface="Calibri"/>
              </a:rPr>
              <a:t>V_Home</a:t>
            </a:r>
          </a:p>
          <a:p>
            <a:pPr algn="ctr"/>
            <a:r>
              <a:rPr sz="850" b="0">
                <a:solidFill>
                  <a:srgbClr val="222222"/>
                </a:solidFill>
                <a:latin typeface="Calibri"/>
              </a:rPr>
              <a:t>V_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395728"/>
            <a:ext cx="832104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200" b="1">
                <a:solidFill>
                  <a:srgbClr val="9B2423"/>
                </a:solidFill>
                <a:latin typeface="Cambria"/>
              </a:rPr>
              <a:t>Capa de Controladores  ·  Backend (vistas y formularios Python/Django)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688336"/>
            <a:ext cx="1249679" cy="676656"/>
          </a:xfrm>
          <a:prstGeom prst="roundRect">
            <a:avLst/>
          </a:prstGeom>
          <a:solidFill>
            <a:srgbClr val="FFE699"/>
          </a:solidFill>
          <a:ln w="1587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sz="900" b="1">
                <a:solidFill>
                  <a:srgbClr val="7F6000"/>
                </a:solidFill>
                <a:latin typeface="Calibri"/>
              </a:rPr>
              <a:t>C_RolRequeridoMixin</a:t>
            </a:r>
          </a:p>
          <a:p>
            <a:pPr algn="ctr"/>
            <a:r>
              <a:rPr sz="850" b="0">
                <a:solidFill>
                  <a:srgbClr val="222222"/>
                </a:solidFill>
                <a:latin typeface="Calibri"/>
              </a:rPr>
              <a:t>control de acceso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5751" y="2688336"/>
            <a:ext cx="1249679" cy="676656"/>
          </a:xfrm>
          <a:prstGeom prst="roundRect">
            <a:avLst/>
          </a:prstGeom>
          <a:solidFill>
            <a:srgbClr val="FFE699"/>
          </a:solidFill>
          <a:ln w="1587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sz="900" b="1">
                <a:solidFill>
                  <a:srgbClr val="7F6000"/>
                </a:solidFill>
                <a:latin typeface="Calibri"/>
              </a:rPr>
              <a:t>C_ProveedorViews</a:t>
            </a:r>
          </a:p>
          <a:p>
            <a:pPr algn="ctr"/>
            <a:r>
              <a:rPr sz="850" b="0">
                <a:solidFill>
                  <a:srgbClr val="222222"/>
                </a:solidFill>
                <a:latin typeface="Calibri"/>
              </a:rPr>
              <a:t>CRUD proveedores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0023" y="2688336"/>
            <a:ext cx="1249679" cy="676656"/>
          </a:xfrm>
          <a:prstGeom prst="roundRect">
            <a:avLst/>
          </a:prstGeom>
          <a:solidFill>
            <a:srgbClr val="FFE699"/>
          </a:solidFill>
          <a:ln w="1587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sz="900" b="1">
                <a:solidFill>
                  <a:srgbClr val="7F6000"/>
                </a:solidFill>
                <a:latin typeface="Calibri"/>
              </a:rPr>
              <a:t>C_ProyectoViews</a:t>
            </a:r>
          </a:p>
          <a:p>
            <a:pPr algn="ctr"/>
            <a:r>
              <a:rPr sz="850" b="0">
                <a:solidFill>
                  <a:srgbClr val="222222"/>
                </a:solidFill>
                <a:latin typeface="Calibri"/>
              </a:rPr>
              <a:t>CRUD proyectos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54295" y="2688336"/>
            <a:ext cx="1249679" cy="676656"/>
          </a:xfrm>
          <a:prstGeom prst="roundRect">
            <a:avLst/>
          </a:prstGeom>
          <a:solidFill>
            <a:srgbClr val="FFE699"/>
          </a:solidFill>
          <a:ln w="1587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sz="900" b="1">
                <a:solidFill>
                  <a:srgbClr val="7F6000"/>
                </a:solidFill>
                <a:latin typeface="Calibri"/>
              </a:rPr>
              <a:t>C_SolicitudViews</a:t>
            </a:r>
          </a:p>
          <a:p>
            <a:pPr algn="ctr"/>
            <a:r>
              <a:rPr sz="850" b="0">
                <a:solidFill>
                  <a:srgbClr val="222222"/>
                </a:solidFill>
                <a:latin typeface="Calibri"/>
              </a:rPr>
              <a:t>flujo de solicitudes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68567" y="2688336"/>
            <a:ext cx="1249679" cy="676656"/>
          </a:xfrm>
          <a:prstGeom prst="roundRect">
            <a:avLst/>
          </a:prstGeom>
          <a:solidFill>
            <a:srgbClr val="C6E0B4"/>
          </a:solidFill>
          <a:ln w="15875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sz="900" b="1">
                <a:solidFill>
                  <a:srgbClr val="2E5B22"/>
                </a:solidFill>
                <a:latin typeface="Calibri"/>
              </a:rPr>
              <a:t>C_Auth (LoginView)</a:t>
            </a:r>
          </a:p>
          <a:p>
            <a:pPr algn="ctr"/>
            <a:r>
              <a:rPr sz="850" b="0">
                <a:solidFill>
                  <a:srgbClr val="222222"/>
                </a:solidFill>
                <a:latin typeface="Calibri"/>
              </a:rPr>
              <a:t>autenticación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82839" y="2688336"/>
            <a:ext cx="1249679" cy="676656"/>
          </a:xfrm>
          <a:prstGeom prst="roundRect">
            <a:avLst/>
          </a:prstGeom>
          <a:solidFill>
            <a:srgbClr val="C6E0B4"/>
          </a:solidFill>
          <a:ln w="15875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sz="900" b="1">
                <a:solidFill>
                  <a:srgbClr val="2E5B22"/>
                </a:solidFill>
                <a:latin typeface="Calibri"/>
              </a:rPr>
              <a:t>C_ORM Django</a:t>
            </a:r>
          </a:p>
          <a:p>
            <a:pPr algn="ctr"/>
            <a:r>
              <a:rPr sz="850" b="0">
                <a:solidFill>
                  <a:srgbClr val="222222"/>
                </a:solidFill>
                <a:latin typeface="Calibri"/>
              </a:rPr>
              <a:t>acceso a datos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639312"/>
            <a:ext cx="832104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200" b="1">
                <a:solidFill>
                  <a:srgbClr val="9B2423"/>
                </a:solidFill>
                <a:latin typeface="Cambria"/>
              </a:rPr>
              <a:t>Capa de Modelo  ·  Base de Datos PostgreSQL (tablas)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3931920"/>
            <a:ext cx="1532534" cy="603504"/>
          </a:xfrm>
          <a:prstGeom prst="roundRect">
            <a:avLst/>
          </a:prstGeom>
          <a:solidFill>
            <a:srgbClr val="FFE699"/>
          </a:solidFill>
          <a:ln w="1587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sz="950" b="1">
                <a:solidFill>
                  <a:srgbClr val="7F6000"/>
                </a:solidFill>
                <a:latin typeface="Calibri"/>
              </a:rPr>
              <a:t>usuarios_usuario</a:t>
            </a:r>
          </a:p>
          <a:p>
            <a:pPr algn="ctr"/>
            <a:r>
              <a:rPr sz="850" b="0">
                <a:solidFill>
                  <a:srgbClr val="222222"/>
                </a:solidFill>
                <a:latin typeface="Calibri"/>
              </a:rPr>
              <a:t>tabla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08606" y="3931920"/>
            <a:ext cx="1532534" cy="603504"/>
          </a:xfrm>
          <a:prstGeom prst="roundRect">
            <a:avLst/>
          </a:prstGeom>
          <a:solidFill>
            <a:srgbClr val="FFE699"/>
          </a:solidFill>
          <a:ln w="1587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sz="950" b="1">
                <a:solidFill>
                  <a:srgbClr val="7F6000"/>
                </a:solidFill>
                <a:latin typeface="Calibri"/>
              </a:rPr>
              <a:t>proveedores_proveedor</a:t>
            </a:r>
          </a:p>
          <a:p>
            <a:pPr algn="ctr"/>
            <a:r>
              <a:rPr sz="850" b="0">
                <a:solidFill>
                  <a:srgbClr val="222222"/>
                </a:solidFill>
                <a:latin typeface="Calibri"/>
              </a:rPr>
              <a:t>tabla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05732" y="3931920"/>
            <a:ext cx="1532534" cy="603504"/>
          </a:xfrm>
          <a:prstGeom prst="roundRect">
            <a:avLst/>
          </a:prstGeom>
          <a:solidFill>
            <a:srgbClr val="FFE699"/>
          </a:solidFill>
          <a:ln w="1587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sz="950" b="1">
                <a:solidFill>
                  <a:srgbClr val="7F6000"/>
                </a:solidFill>
                <a:latin typeface="Calibri"/>
              </a:rPr>
              <a:t>proyectos_proyecto</a:t>
            </a:r>
          </a:p>
          <a:p>
            <a:pPr algn="ctr"/>
            <a:r>
              <a:rPr sz="850" b="0">
                <a:solidFill>
                  <a:srgbClr val="222222"/>
                </a:solidFill>
                <a:latin typeface="Calibri"/>
              </a:rPr>
              <a:t>tabla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02859" y="3931920"/>
            <a:ext cx="1532534" cy="603504"/>
          </a:xfrm>
          <a:prstGeom prst="roundRect">
            <a:avLst/>
          </a:prstGeom>
          <a:solidFill>
            <a:srgbClr val="FFE699"/>
          </a:solidFill>
          <a:ln w="1587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sz="950" b="1">
                <a:solidFill>
                  <a:srgbClr val="7F6000"/>
                </a:solidFill>
                <a:latin typeface="Calibri"/>
              </a:rPr>
              <a:t>solicitudes_solicitudmaterial</a:t>
            </a:r>
          </a:p>
          <a:p>
            <a:pPr algn="ctr"/>
            <a:r>
              <a:rPr sz="850" b="0">
                <a:solidFill>
                  <a:srgbClr val="222222"/>
                </a:solidFill>
                <a:latin typeface="Calibri"/>
              </a:rPr>
              <a:t>tabla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99985" y="3931920"/>
            <a:ext cx="1532534" cy="603504"/>
          </a:xfrm>
          <a:prstGeom prst="roundRect">
            <a:avLst/>
          </a:prstGeom>
          <a:solidFill>
            <a:srgbClr val="C6E0B4"/>
          </a:solidFill>
          <a:ln w="15875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/>
          <a:lstStyle/>
          <a:p>
            <a:pPr algn="ctr"/>
            <a:r>
              <a:rPr sz="950" b="1">
                <a:solidFill>
                  <a:srgbClr val="2E5B22"/>
                </a:solidFill>
                <a:latin typeface="Calibri"/>
              </a:rPr>
              <a:t>django_session</a:t>
            </a:r>
          </a:p>
          <a:p>
            <a:pPr algn="ctr"/>
            <a:r>
              <a:rPr sz="850" b="0">
                <a:solidFill>
                  <a:srgbClr val="222222"/>
                </a:solidFill>
                <a:latin typeface="Calibri"/>
              </a:rPr>
              <a:t>tabla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709160"/>
            <a:ext cx="832104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La vista solo se comunica con el modelo a través de su controlador. En </a:t>
            </a:r>
            <a:r>
              <a:rPr sz="1100" b="1">
                <a:solidFill>
                  <a:srgbClr val="2E5B22"/>
                </a:solidFill>
                <a:latin typeface="Calibri"/>
              </a:rPr>
              <a:t>verde</a:t>
            </a:r>
            <a:r>
              <a:rPr sz="1100" b="0">
                <a:solidFill>
                  <a:srgbClr val="6B6B6B"/>
                </a:solidFill>
                <a:latin typeface="Calibri"/>
              </a:rPr>
              <a:t> los componentes que provee Django (autenticación, ORM y sesión); en </a:t>
            </a:r>
            <a:r>
              <a:rPr sz="1100" b="1">
                <a:solidFill>
                  <a:srgbClr val="7F6000"/>
                </a:solidFill>
                <a:latin typeface="Calibri"/>
              </a:rPr>
              <a:t>ámbar</a:t>
            </a:r>
            <a:r>
              <a:rPr sz="1100" b="0">
                <a:solidFill>
                  <a:srgbClr val="6B6B6B"/>
                </a:solidFill>
                <a:latin typeface="Calibri"/>
              </a:rPr>
              <a:t> los desarrollados por el equipo (plantillas, controladores y tablas del dominio).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9B242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CU-50 — Autenticación de usuario</a:t>
            </a:r>
            <a:endParaRPr lang="en-US" sz="2200" dirty="0"/>
          </a:p>
        </p:txBody>
      </p:sp>
      <p:pic>
        <p:nvPicPr>
          <p:cNvPr id="4" name="Image 0" descr="assets/una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09728"/>
            <a:ext cx="566928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143000"/>
            <a:ext cx="2468880" cy="2286000"/>
          </a:xfrm>
          <a:prstGeom prst="roundRect">
            <a:avLst>
              <a:gd name="adj" fmla="val 3200"/>
            </a:avLst>
          </a:prstGeom>
          <a:solidFill>
            <a:srgbClr val="9B242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1371600"/>
            <a:ext cx="640080" cy="6400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2057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Actores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594360" y="239572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4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usuarios del sistema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02920" y="3611880"/>
            <a:ext cx="2468880" cy="2514600"/>
          </a:xfrm>
          <a:prstGeom prst="roundRect">
            <a:avLst>
              <a:gd name="adj" fmla="val 2963"/>
            </a:avLst>
          </a:prstGeom>
          <a:solidFill>
            <a:srgbClr val="F4F2F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6"/>
          <p:cNvSpPr/>
          <p:nvPr/>
        </p:nvSpPr>
        <p:spPr>
          <a:xfrm>
            <a:off x="640080" y="37307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B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Frecuencia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0080" y="4023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— cada vez que un usuario ingresa al sistema.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640080" y="4800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B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Poscondición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40080" y="509320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queda autenticado con una sesión activa.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54680" y="1143000"/>
          <a:ext cx="5577840" cy="434340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24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Permitir el ingreso seguro al sistema validando las credenciales del usuario.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24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usuario ingresa usuario y contraseña; el sistema valida las credenciales (hash) [Exc. 1] y que la cuenta esté activa [Exc. 2], inicia la sesión y redirige al panel según el rol.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Excepciones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24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 Credenciales inválidas → rechaza y muestra error.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 Cuenta inactiva → impide el acceso e informa.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Dependencias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24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RF-51 (la cuenta debe existir). Habilita RF-52 y el resto del sistema.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4114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23 · M5 SpA Adquisiciones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83210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>
                <a:solidFill>
                  <a:srgbClr val="6B6B6B"/>
                </a:solidFill>
                <a:latin typeface="Calibri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9B242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secuencia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CU-50</a:t>
            </a:r>
            <a:endParaRPr lang="en-US" sz="2200" dirty="0"/>
          </a:p>
        </p:txBody>
      </p:sp>
      <p:pic>
        <p:nvPicPr>
          <p:cNvPr id="4" name="Image 0" descr="assets/una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09728"/>
            <a:ext cx="566928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6126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Cooperación V_ → C_ → tablas PostgreSQL, con la excepción (credenciales inválidas / cuenta inactiva) separada por renglón en rojo.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4114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23 · M5 SpA Adquisiciones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3210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>
                <a:solidFill>
                  <a:srgbClr val="6B6B6B"/>
                </a:solidFill>
                <a:latin typeface="Calibri"/>
              </a:rPr>
              <a:t>7</a:t>
            </a:r>
            <a:endParaRPr lang="en-US" sz="900" dirty="0"/>
          </a:p>
        </p:txBody>
      </p:sp>
      <p:sp>
        <p:nvSpPr>
          <p:cNvPr id="9" name="Rectangle 8"/>
          <p:cNvSpPr/>
          <p:nvPr/>
        </p:nvSpPr>
        <p:spPr>
          <a:xfrm>
            <a:off x="640080" y="886968"/>
            <a:ext cx="201168" cy="201168"/>
          </a:xfrm>
          <a:prstGeom prst="rect">
            <a:avLst/>
          </a:prstGeom>
          <a:solidFill>
            <a:srgbClr val="3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850392"/>
            <a:ext cx="274320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Propio de Django (framework)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886968"/>
            <a:ext cx="201168" cy="201168"/>
          </a:xfrm>
          <a:prstGeom prst="rect">
            <a:avLst/>
          </a:prstGeom>
          <a:solidFill>
            <a:srgbClr val="C2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13632" y="850392"/>
            <a:ext cx="292608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Desarrollado por el equipo</a:t>
            </a:r>
          </a:p>
        </p:txBody>
      </p:sp>
      <p:pic>
        <p:nvPicPr>
          <p:cNvPr id="13" name="Picture 12" descr="sec_cu50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1566" y="1280160"/>
            <a:ext cx="6460867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9B242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Vista en el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CU-50</a:t>
            </a:r>
            <a:endParaRPr lang="en-US" sz="2200" dirty="0"/>
          </a:p>
        </p:txBody>
      </p:sp>
      <p:pic>
        <p:nvPicPr>
          <p:cNvPr id="4" name="Image 0" descr="assets/una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09728"/>
            <a:ext cx="566928" cy="548640"/>
          </a:xfrm>
          <a:prstGeom prst="rect">
            <a:avLst/>
          </a:prstGeom>
        </p:spPr>
      </p:pic>
      <p:pic>
        <p:nvPicPr>
          <p:cNvPr id="5" name="Image 1" descr="assets/view_log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234440"/>
            <a:ext cx="5852160" cy="2778175"/>
          </a:xfrm>
          <a:prstGeom prst="rect">
            <a:avLst/>
          </a:prstGeom>
          <a:effectLst>
            <a:outerShdw blurRad="76200" dist="38100" dir="5400000" algn="bl" rotWithShape="0">
              <a:srgbClr val="888888">
                <a:alpha val="25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6537960" y="1371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B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Pantalla de inicio de sesión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537960" y="1874520"/>
            <a:ext cx="2240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usuario y contraseña con validación contra la base de datos.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correcto → redirige al panel según el rol (RBAC, RF-52).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inválidas → mensaje de error y reintento.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 almacenada con hash (seguridad).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114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23 · M5 SpA Adquisiciones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83210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>
                <a:solidFill>
                  <a:srgbClr val="6B6B6B"/>
                </a:solidFill>
                <a:latin typeface="Calibri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9B242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CU-11 — Generación de solicitud de materiales</a:t>
            </a:r>
            <a:endParaRPr lang="en-US" sz="2200" dirty="0"/>
          </a:p>
        </p:txBody>
      </p:sp>
      <p:pic>
        <p:nvPicPr>
          <p:cNvPr id="4" name="Image 0" descr="assets/una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09728"/>
            <a:ext cx="566928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143000"/>
            <a:ext cx="2468880" cy="2286000"/>
          </a:xfrm>
          <a:prstGeom prst="roundRect">
            <a:avLst>
              <a:gd name="adj" fmla="val 3200"/>
            </a:avLst>
          </a:prstGeom>
          <a:solidFill>
            <a:srgbClr val="9B242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1371600"/>
            <a:ext cx="640080" cy="6400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2057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Actor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594360" y="239572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4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Encargado de Adquisiciones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02920" y="3611880"/>
            <a:ext cx="2468880" cy="2514600"/>
          </a:xfrm>
          <a:prstGeom prst="roundRect">
            <a:avLst>
              <a:gd name="adj" fmla="val 2963"/>
            </a:avLst>
          </a:prstGeom>
          <a:solidFill>
            <a:srgbClr val="F4F2F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6"/>
          <p:cNvSpPr/>
          <p:nvPr/>
        </p:nvSpPr>
        <p:spPr>
          <a:xfrm>
            <a:off x="640080" y="37307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B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Frecuencia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0080" y="4023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— operación central del negocio de adquisiciones.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640080" y="4800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B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Poscondición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40080" y="509320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creada en borrador, lista para detallar.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54680" y="1143000"/>
          <a:ext cx="5577840" cy="452628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24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 la cabecera de una solicitud de materiales para un proyecto.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3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24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encargado selecciona un proyecto activo y agrega observaciones [Exc. 1]; el sistema crea la solicitud en borrador, asigna el correlativo (RF-14), registra emisor y fecha (RF-16) y redirige al detalle (RF-12).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Excepciones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24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 El proyecto está finalizado → el sistema impide la creación (RF-10) y se elige un proyecto vigente.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Dependencias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24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RF-06 y RF-10 (proyecto vigente). Incluye RF-14 y RF-16; continúa en RF-12.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4114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23 · M5 SpA Adquisiciones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83210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>
                <a:solidFill>
                  <a:srgbClr val="6B6B6B"/>
                </a:solidFill>
                <a:latin typeface="Calibri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9B242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secuencia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CU-11</a:t>
            </a:r>
            <a:endParaRPr lang="en-US" sz="2200" dirty="0"/>
          </a:p>
        </p:txBody>
      </p:sp>
      <p:pic>
        <p:nvPicPr>
          <p:cNvPr id="4" name="Image 0" descr="assets/una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09728"/>
            <a:ext cx="566928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6126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controlador valida el estado del proyecto antes de crear la solicitud; la excepción (proyecto finalizado, RF-10) se separa por renglón en rojo.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4114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23 · M5 SpA Adquisiciones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3210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>
                <a:solidFill>
                  <a:srgbClr val="6B6B6B"/>
                </a:solidFill>
                <a:latin typeface="Calibri"/>
              </a:rPr>
              <a:t>10</a:t>
            </a:r>
            <a:endParaRPr lang="en-US" sz="900" dirty="0"/>
          </a:p>
        </p:txBody>
      </p:sp>
      <p:sp>
        <p:nvSpPr>
          <p:cNvPr id="9" name="Rectangle 8"/>
          <p:cNvSpPr/>
          <p:nvPr/>
        </p:nvSpPr>
        <p:spPr>
          <a:xfrm>
            <a:off x="640080" y="886968"/>
            <a:ext cx="201168" cy="201168"/>
          </a:xfrm>
          <a:prstGeom prst="rect">
            <a:avLst/>
          </a:prstGeom>
          <a:solidFill>
            <a:srgbClr val="3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850392"/>
            <a:ext cx="274320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Propio de Django (framework)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886968"/>
            <a:ext cx="201168" cy="201168"/>
          </a:xfrm>
          <a:prstGeom prst="rect">
            <a:avLst/>
          </a:prstGeom>
          <a:solidFill>
            <a:srgbClr val="C2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13632" y="850392"/>
            <a:ext cx="2926080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Desarrollado por el equipo</a:t>
            </a:r>
          </a:p>
        </p:txBody>
      </p:sp>
      <p:pic>
        <p:nvPicPr>
          <p:cNvPr id="13" name="Picture 12" descr="sec_cu11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1566" y="1280160"/>
            <a:ext cx="6460867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9B242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Vista en el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CU-11</a:t>
            </a:r>
            <a:endParaRPr lang="en-US" sz="2200" dirty="0"/>
          </a:p>
        </p:txBody>
      </p:sp>
      <p:pic>
        <p:nvPicPr>
          <p:cNvPr id="4" name="Image 0" descr="assets/una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09728"/>
            <a:ext cx="566928" cy="548640"/>
          </a:xfrm>
          <a:prstGeom prst="rect">
            <a:avLst/>
          </a:prstGeom>
        </p:spPr>
      </p:pic>
      <p:pic>
        <p:nvPicPr>
          <p:cNvPr id="5" name="Image 1" descr="assets/view_solicit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234440"/>
            <a:ext cx="5852160" cy="2769026"/>
          </a:xfrm>
          <a:prstGeom prst="rect">
            <a:avLst/>
          </a:prstGeom>
          <a:effectLst>
            <a:outerShdw blurRad="76200" dist="38100" dir="5400000" algn="bl" rotWithShape="0">
              <a:srgbClr val="888888">
                <a:alpha val="25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6537960" y="1371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B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Nueva solicitud de material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537960" y="1874520"/>
            <a:ext cx="2240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del proyecto: solo aparecen los proyectos vigentes (RF-10).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de materiales: del catálogo o por nombre, con cantidad y unidad (RF-12).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guardar se asigna el correlativo SM-NNNNNN (RF-14).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 emisor y fecha automáticamente (RF-16).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114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23 · M5 SpA Adquisiciones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83210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>
                <a:solidFill>
                  <a:srgbClr val="6B6B6B"/>
                </a:solidFill>
                <a:latin typeface="Calibri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9B242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Anexos y repositorio documental</a:t>
            </a:r>
            <a:endParaRPr lang="en-US" sz="2200" dirty="0"/>
          </a:p>
        </p:txBody>
      </p:sp>
      <p:pic>
        <p:nvPicPr>
          <p:cNvPr id="4" name="Image 0" descr="assets/una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09728"/>
            <a:ext cx="566928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097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 Incremento 1 — Grupo 23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F4F2F0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9164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158191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Incremento 1 (informe completo)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F4F2F0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33172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222199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datos: MERE, MR, modelo físico y scripts SQL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F4F2F0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97180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3000" y="286207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componentes y despliegue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F4F2F0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61188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43000" y="350215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</a:t>
            </a:r>
            <a:r>
              <a:rPr lang="en-US" sz="125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</a:t>
            </a:r>
            <a:endParaRPr lang="en-US" sz="1250" dirty="0"/>
          </a:p>
        </p:txBody>
      </p:sp>
      <p:sp>
        <p:nvSpPr>
          <p:cNvPr id="18" name="Shape 11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F4F2F0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4251960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143000" y="414223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navegación</a:t>
            </a:r>
            <a:endParaRPr lang="en-US" sz="1250" dirty="0"/>
          </a:p>
        </p:txBody>
      </p:sp>
      <p:sp>
        <p:nvSpPr>
          <p:cNvPr id="21" name="Shape 13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F4F2F0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4892040"/>
            <a:ext cx="274320" cy="27432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143000" y="478231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Sprint (backlog y métricas)</a:t>
            </a:r>
            <a:endParaRPr lang="en-US" sz="1250" dirty="0"/>
          </a:p>
        </p:txBody>
      </p:sp>
      <p:sp>
        <p:nvSpPr>
          <p:cNvPr id="24" name="Shape 15"/>
          <p:cNvSpPr/>
          <p:nvPr/>
        </p:nvSpPr>
        <p:spPr>
          <a:xfrm>
            <a:off x="548640" y="5440680"/>
            <a:ext cx="457200" cy="457200"/>
          </a:xfrm>
          <a:prstGeom prst="ellipse">
            <a:avLst/>
          </a:prstGeom>
          <a:solidFill>
            <a:srgbClr val="F4F2F0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5532120"/>
            <a:ext cx="274320" cy="27432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143000" y="542239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del sistema (Django + PostgreSQL)</a:t>
            </a:r>
            <a:endParaRPr lang="en-US" sz="1250" dirty="0"/>
          </a:p>
        </p:txBody>
      </p:sp>
      <p:sp>
        <p:nvSpPr>
          <p:cNvPr id="27" name="Shape 17"/>
          <p:cNvSpPr/>
          <p:nvPr/>
        </p:nvSpPr>
        <p:spPr>
          <a:xfrm>
            <a:off x="6126480" y="1417320"/>
            <a:ext cx="2606040" cy="4297680"/>
          </a:xfrm>
          <a:prstGeom prst="roundRect">
            <a:avLst>
              <a:gd name="adj" fmla="val 3509"/>
            </a:avLst>
          </a:prstGeom>
          <a:solidFill>
            <a:srgbClr val="9B242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23760" y="1737360"/>
            <a:ext cx="411480" cy="41148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6217920" y="2240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Repositorio GitHub</a:t>
            </a:r>
            <a:endParaRPr lang="en-US" sz="1500" dirty="0"/>
          </a:p>
        </p:txBody>
      </p:sp>
      <p:sp>
        <p:nvSpPr>
          <p:cNvPr id="30" name="Text 19"/>
          <p:cNvSpPr/>
          <p:nvPr/>
        </p:nvSpPr>
        <p:spPr>
          <a:xfrm>
            <a:off x="6355080" y="269748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4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documentación extendida y el código fuente están estructurados y disponibles en nuestro entorno de GitHub para una revisión profunda.</a:t>
            </a:r>
            <a:endParaRPr lang="en-US" sz="1250" dirty="0"/>
          </a:p>
        </p:txBody>
      </p:sp>
      <p:sp>
        <p:nvSpPr>
          <p:cNvPr id="31" name="Text 20"/>
          <p:cNvSpPr/>
          <p:nvPr/>
        </p:nvSpPr>
        <p:spPr>
          <a:xfrm>
            <a:off x="6355080" y="50749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5 + PostgreSQL · 30/30 pruebas OK</a:t>
            </a:r>
            <a:endParaRPr lang="en-US" sz="1100" dirty="0"/>
          </a:p>
        </p:txBody>
      </p:sp>
      <p:sp>
        <p:nvSpPr>
          <p:cNvPr id="32" name="Text 21"/>
          <p:cNvSpPr/>
          <p:nvPr/>
        </p:nvSpPr>
        <p:spPr>
          <a:xfrm>
            <a:off x="4114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23 · M5 SpA Adquisiciones</a:t>
            </a:r>
            <a:endParaRPr lang="en-US" sz="900" dirty="0"/>
          </a:p>
        </p:txBody>
      </p:sp>
      <p:sp>
        <p:nvSpPr>
          <p:cNvPr id="33" name="Text 22"/>
          <p:cNvSpPr/>
          <p:nvPr/>
        </p:nvSpPr>
        <p:spPr>
          <a:xfrm>
            <a:off x="83210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>
                <a:solidFill>
                  <a:srgbClr val="6B6B6B"/>
                </a:solidFill>
                <a:latin typeface="Calibri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9B242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 del Incremento por el cliente</a:t>
            </a:r>
            <a:endParaRPr lang="en-US" sz="2200" dirty="0"/>
          </a:p>
        </p:txBody>
      </p:sp>
      <p:pic>
        <p:nvPicPr>
          <p:cNvPr id="4" name="Image 0" descr="assets/una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09728"/>
            <a:ext cx="566928" cy="5486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828800"/>
            <a:ext cx="822960" cy="8229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45920" y="27432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Correo de validación del cliente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920240" y="324612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reservado para la captura del correo en el que el cliente (Constructora M5 SpA) confirma y acepta el progreso del primer incremento.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920240" y="48920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este recuadro por la imagen del correo antes de presentar (Anexo B).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114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23 · M5 SpA Adquisiciones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3210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>
                <a:solidFill>
                  <a:srgbClr val="6B6B6B"/>
                </a:solidFill>
                <a:latin typeface="Calibri"/>
              </a:rPr>
              <a:t>13</a:t>
            </a:r>
            <a:endParaRPr lang="en-US" sz="9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CAF0BA16-4888-196D-A326-214A99900E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0240" y="1017445"/>
            <a:ext cx="5303520" cy="493987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9B2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una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554480"/>
            <a:ext cx="128016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017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 por su atención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4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23 · Sistema de Gestión de Adquisiciones e Inventario — M5 SpA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1440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Emiliano Fernández · Cristóbal López · Matías Medina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1226</Words>
  <Application>Microsoft Office PowerPoint</Application>
  <PresentationFormat>Presentación en pantalla (4:3)</PresentationFormat>
  <Paragraphs>232</Paragraphs>
  <Slides>14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Incremento 1 - Sistema M5 SpA Adquisiciones</dc:title>
  <dc:subject>PptxGenJS Presentation</dc:subject>
  <dc:creator>Grupo 23 - UNAB</dc:creator>
  <cp:lastModifiedBy>LÓPEZ VIDAL CRISTÓBAL J</cp:lastModifiedBy>
  <cp:revision>6</cp:revision>
  <dcterms:created xsi:type="dcterms:W3CDTF">2026-06-15T01:45:51Z</dcterms:created>
  <dcterms:modified xsi:type="dcterms:W3CDTF">2026-06-18T01:14:12Z</dcterms:modified>
</cp:coreProperties>
</file>